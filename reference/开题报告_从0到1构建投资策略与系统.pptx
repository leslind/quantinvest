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将向大家分享一套从0到1构建投资策略与系统的完整方案。我们的核心目标，是摆脱“追风者”的角色，成为能够提前预测并捕捉市场热点的“造风者”。这套系统将通过严谨的理论、量化的工具和严格的纪律，帮助我们在复杂的市场中找到确定性的超额收益。接下来，让我们一起深入探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分享将分为四个部分。首先，我们将探讨策略背后的三大理论基石，理解我们为何能提前布局。接着，我们会详细拆解如何从0到1搭建一个完整的“热点捕手”系统。然后，我们将学习如何通过历史回测来验证策略的有效性。最后，我们将讨论如何进行风险控制和策略迭代，让系统能够持续进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现在，我们进入第一部分：理论基石。任何有效的投资系统都必须建立在坚实的理论基础之上。我们将探讨行为金融学、预期差理论和事件驱动策略这三大支柱，它们将解释我们策略的底层逻辑：为什么市场会存在可以被利用的机会，以及我们如何从中获利。</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rPr>
              <a:t>首先是行为金融学。市场并非总是理性的，投资者的决策常常受到心理因素的影响。比如“羊群效应”，当一个热点形成时，大家会盲目跟风，而我们要做的就是提前于羊群行动。还有“注意力偏差”，大众的注意力是有限的，那些确定但尚未被广泛关注的事件，就是我们的机会。我们的策略，就是要利用这些市场的非理性行为，在大多数人反应不足的时候提前布局。</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个理论基石是预期差理论。简单来说，利润来源于“预期”和“现实”之间的差距。股票价格反映的是大众当前的预期，而我们的目标，就是找到那些未来实际结果会远超当前预期的机会。以世界杯为例，市场初期可能只看到体育营销，但随着赛事临近，赞助商订单、品牌价值提升等实际利好会远超预期，从而推动股价上涨。我们的任务，就是精准地捕捉这个“预期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个理论是事件驱动策略。如果说预期差是利润的源泉，那么“事件”就是开启这一源泉的催化剂。我们关注的事件多种多样，包括宏观政策、大型国际赛事、颠覆性技术突破以及公司的重大行为。我们的核心工作，就是识别出这些高确定性、强影响力的事件，并在市场充分消化其影响之前进行布局。这与普通投资者在事件发生后“追热点”有着本质区别。</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了解了理论基础后，我们进入第二部分：系统设计。在这一章，我们将详细介绍如何从0到1搭建一个名为“热点捕手”的投资系统。这个系统包含三个核心步骤：事件识别、热度量化和标的筛选，它将帮助我们系统化地发现并捕捉投资机会。</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系统设计的第一步是事件识别。我们需要像雷达一样，持续扫描市场，寻找那些可能引爆板块的催化剂事件。我们将事件分为三个等级，一级事件是确定性最高、影响力最大的，比如大型国际赛事。以2026年世界杯为例，在2025年底，它就是一个典型的一级事件，时间、地点早已确定，影响力巨大，值得我们重点跟踪。</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步是量化市场热度，这是为了找到最佳的入场时机。我们不猜市场，而是用量化数据说话。我们构建一个舆情热度指数，综合百度指数、社交媒体声量和新闻报道等多个维度。当这个指数从低位开始陡峭拉升，也就是市场关注度开始升温但还没到狂热的时候，就是我们的黄金布局点。而当指数达到顶峰，人人都在讨论时，就是我们获利了结的信号。</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步，也是最后一步，是筛选具体的投资标的。找到热点板块后，我们需要用一个量化模型来锁定龙头股。这个模型从三个维度打分：首先是相关性，业务关联度越高越好，比如官方赞助商就比蹭概念的公司好；其次是弹性，事件能带来多大的业绩增长；最后是估值，我们希望买入那些预期还没被透支的公司。通过这个模型，我们可以科学地选出最有潜力的股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一个未经检验的策略只是纸上谈兵。接下来，我们进入第三部分：回测分析。在这一章，我们将学习如何利用历史数据来验证我们的策略是否真的有效，以及它的风险收益特征如何。这是确保我们策略不是空想，而是具有实战价值的关键一步。</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回测方法采用学术界和业界通用的“事件研究法”。简单来说，就是选取过去类似的事件，比如往届世界杯，来观察相关股票在事件发生前后的表现。我们会设定一个“事件窗口”，比如从开幕前6个月到开幕后1个月，然后计算出股票在这段时间内超出正常水平的“异常收益率”。通过分析累计异常收益率，我们就能清晰地看到事件对股价的真实影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回测中，我们需要明确的买入和卖出信号。买入信号就是我们之前提到的热度指数突破阈值。卖出信号则包括事件兑现、热度见顶和技术破位等。同时，我们会用几个关键指标来评估策略表现，比如年化收益率，以及更重要的夏普比率和最大回撤。夏普比率衡量策略的性价比，而最大回撤则告诉我们策略可能面临的最大风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让我们来看一个模拟的回测案例。假设我们在2021年底，针对2022年卡塔尔世界杯启动我们的策略。我们识别事件，量化热度，筛选出海信视像等龙头股，并在2022年1月买入，11月开幕时卖出。大家可以看到右边的图表，这些是我们模拟回测所用到的部分数据。历史数据显示，相关概念股在世界杯前普遍有一波显著的上涨行情，这初步验证了我们策略的有效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一个优秀的投资系统不仅要能赚钱，更要能控制风险，并适应市场的变化。在最后一部分，我们将讨论如何进行策略迭代和风险控制，让我们的系统能够持续进化，在不同的市场环境中都保持稳健。</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风险控制是投资的生命线。我们的系统包含四个关键环节：第一，严格的止损机制，比如亏损5%就卖出，防止小亏变大亏。第二，科学的仓位管理，永远不要把鸡蛋放在一个篮子里。第三，持续的参数优化，市场在变，我们的策略也要跟着调整。最后，要警惕那些虚假的事件和蹭热点的公司，保持清醒的头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来总结一下。今天我们构建的这套投资系统，核心逻辑可以概括为三点：第一，识别预期差，找到那些确定性高但市场还没反应过来的事件。第二，量化市场热度，找到最佳的入场时机。第三，提前布局龙头，通过模型选出最有潜力的股票。请记住，这套系统的成功，不仅需要严谨的分析，更需要严格的纪律和执行力。希望大家都能构建出属于自己的、可持续的投资决策体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17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我的分享到此结束。感谢各位的聆听，欢迎大家提问和批评指正。谢谢！</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2.xml"/><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2.xml"/><Relationship Id="rId4" Type="http://schemas.openxmlformats.org/officeDocument/2006/relationships/image" Target="../media/image10.svg"/><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9" Type="http://schemas.openxmlformats.org/officeDocument/2006/relationships/image" Target="../media/image18.svg"/><Relationship Id="rId8" Type="http://schemas.openxmlformats.org/officeDocument/2006/relationships/image" Target="../media/image17.png"/><Relationship Id="rId7" Type="http://schemas.openxmlformats.org/officeDocument/2006/relationships/image" Target="../media/image16.svg"/><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 Id="rId3" Type="http://schemas.openxmlformats.org/officeDocument/2006/relationships/image" Target="../media/image12.svg"/><Relationship Id="rId2" Type="http://schemas.openxmlformats.org/officeDocument/2006/relationships/image" Target="../media/image11.png"/><Relationship Id="rId11" Type="http://schemas.openxmlformats.org/officeDocument/2006/relationships/notesSlide" Target="../notesSlides/notesSlide10.xml"/><Relationship Id="rId10" Type="http://schemas.openxmlformats.org/officeDocument/2006/relationships/slideLayout" Target="../slideLayouts/slideLayout1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6.svg"/><Relationship Id="rId7" Type="http://schemas.openxmlformats.org/officeDocument/2006/relationships/image" Target="../media/image25.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 Id="rId3" Type="http://schemas.openxmlformats.org/officeDocument/2006/relationships/image" Target="../media/image21.png"/><Relationship Id="rId2" Type="http://schemas.openxmlformats.org/officeDocument/2006/relationships/image" Target="../media/image20.svg"/><Relationship Id="rId10" Type="http://schemas.openxmlformats.org/officeDocument/2006/relationships/notesSlide" Target="../notesSlides/notesSlide13.xml"/><Relationship Id="rId1" Type="http://schemas.openxmlformats.org/officeDocument/2006/relationships/image" Target="../media/image19.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2.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37.svg"/><Relationship Id="rId7" Type="http://schemas.openxmlformats.org/officeDocument/2006/relationships/image" Target="../media/image36.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 Id="rId3" Type="http://schemas.openxmlformats.org/officeDocument/2006/relationships/image" Target="../media/image32.png"/><Relationship Id="rId2" Type="http://schemas.openxmlformats.org/officeDocument/2006/relationships/image" Target="../media/image31.svg"/><Relationship Id="rId10" Type="http://schemas.openxmlformats.org/officeDocument/2006/relationships/notesSlide" Target="../notesSlides/notesSlide16.xml"/><Relationship Id="rId1"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65" b="65"/>
          <a:stretch>
            <a:fillRect/>
          </a:stretch>
        </p:blipFill>
        <p:spPr>
          <a:xfrm>
            <a:off x="0" y="0"/>
            <a:ext cx="12192000" cy="3352800"/>
          </a:xfrm>
          <a:prstGeom prst="rect">
            <a:avLst/>
          </a:prstGeom>
          <a:noFill/>
          <a:ln w="25400" cap="flat" cmpd="sng">
            <a:noFill/>
            <a:prstDash val="solid"/>
            <a:round/>
          </a:ln>
        </p:spPr>
      </p:pic>
      <p:sp>
        <p:nvSpPr>
          <p:cNvPr id="3" name="AutoShape 3"/>
          <p:cNvSpPr/>
          <p:nvPr/>
        </p:nvSpPr>
        <p:spPr>
          <a:xfrm>
            <a:off x="0" y="0"/>
            <a:ext cx="12192000" cy="3365500"/>
          </a:xfrm>
          <a:prstGeom prst="roundRect">
            <a:avLst>
              <a:gd name="adj" fmla="val 0"/>
            </a:avLst>
          </a:prstGeom>
          <a:solidFill>
            <a:srgbClr val="9A0001">
              <a:alpha val="23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7653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811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5367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7018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1"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1176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2827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3589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8415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0541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4605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6256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5"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5"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9939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9304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2573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9050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6002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8923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5" y="121271"/>
                  <a:pt x="105472" y="120763"/>
                </a:cubicBezTo>
                <a:cubicBezTo>
                  <a:pt x="105980" y="120255"/>
                  <a:pt x="106487" y="119240"/>
                  <a:pt x="106487" y="118734"/>
                </a:cubicBezTo>
                <a:cubicBezTo>
                  <a:pt x="106487" y="118226"/>
                  <a:pt x="105472" y="117719"/>
                  <a:pt x="104965"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5"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5"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5"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5748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0541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93800" y="431800"/>
            <a:ext cx="115760" cy="160238"/>
          </a:xfrm>
          <a:custGeom>
            <a:avLst/>
            <a:gdLst/>
            <a:ahLst/>
            <a:cxnLst/>
            <a:rect l="l" t="t" r="r" b="b"/>
            <a:pathLst>
              <a:path w="115760"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3716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8669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1"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3970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4351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8796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4859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7526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8796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5334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89"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5969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9017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5588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8636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5588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7239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5715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5842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8255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6223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7366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7747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6858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9271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9271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9398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8255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5715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9398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7874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3" name="Freeform 53"/>
          <p:cNvSpPr/>
          <p:nvPr/>
        </p:nvSpPr>
        <p:spPr>
          <a:xfrm>
            <a:off x="6731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4" name="Freeform 54"/>
          <p:cNvSpPr/>
          <p:nvPr/>
        </p:nvSpPr>
        <p:spPr>
          <a:xfrm>
            <a:off x="6096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5" name="AutoShape 55"/>
          <p:cNvSpPr/>
          <p:nvPr/>
        </p:nvSpPr>
        <p:spPr>
          <a:xfrm>
            <a:off x="5308600" y="2565400"/>
            <a:ext cx="1587500" cy="1587500"/>
          </a:xfrm>
          <a:prstGeom prst="ellipse">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6" name="Freeform 56"/>
          <p:cNvSpPr/>
          <p:nvPr/>
        </p:nvSpPr>
        <p:spPr>
          <a:xfrm>
            <a:off x="5410200" y="2667000"/>
            <a:ext cx="1371600" cy="1368402"/>
          </a:xfrm>
          <a:custGeom>
            <a:avLst/>
            <a:gdLst/>
            <a:ahLst/>
            <a:cxnLst/>
            <a:rect l="l" t="t" r="r" b="b"/>
            <a:pathLst>
              <a:path w="1371600" h="1368402">
                <a:moveTo>
                  <a:pt x="0" y="660754"/>
                </a:moveTo>
                <a:cubicBezTo>
                  <a:pt x="0" y="655071"/>
                  <a:pt x="1421" y="649387"/>
                  <a:pt x="1421" y="643703"/>
                </a:cubicBezTo>
                <a:cubicBezTo>
                  <a:pt x="4265" y="611021"/>
                  <a:pt x="8528" y="578338"/>
                  <a:pt x="14214" y="545656"/>
                </a:cubicBezTo>
                <a:cubicBezTo>
                  <a:pt x="27005" y="488817"/>
                  <a:pt x="45483" y="434819"/>
                  <a:pt x="71068" y="382243"/>
                </a:cubicBezTo>
                <a:cubicBezTo>
                  <a:pt x="126500" y="269985"/>
                  <a:pt x="207517" y="180464"/>
                  <a:pt x="312697" y="110837"/>
                </a:cubicBezTo>
                <a:cubicBezTo>
                  <a:pt x="376657" y="68207"/>
                  <a:pt x="447725" y="38367"/>
                  <a:pt x="523056" y="19893"/>
                </a:cubicBezTo>
                <a:cubicBezTo>
                  <a:pt x="565696" y="8526"/>
                  <a:pt x="609757" y="2842"/>
                  <a:pt x="652398" y="1421"/>
                </a:cubicBezTo>
                <a:cubicBezTo>
                  <a:pt x="655241" y="1421"/>
                  <a:pt x="658084" y="0"/>
                  <a:pt x="660927" y="0"/>
                </a:cubicBezTo>
                <a:cubicBezTo>
                  <a:pt x="676561" y="0"/>
                  <a:pt x="692196" y="0"/>
                  <a:pt x="707831" y="0"/>
                </a:cubicBezTo>
                <a:cubicBezTo>
                  <a:pt x="710673" y="0"/>
                  <a:pt x="712095" y="1421"/>
                  <a:pt x="714938" y="1421"/>
                </a:cubicBezTo>
                <a:cubicBezTo>
                  <a:pt x="841437" y="7104"/>
                  <a:pt x="956567" y="44050"/>
                  <a:pt x="1060326" y="113678"/>
                </a:cubicBezTo>
                <a:cubicBezTo>
                  <a:pt x="1195353" y="203200"/>
                  <a:pt x="1287741" y="325404"/>
                  <a:pt x="1337488" y="480291"/>
                </a:cubicBezTo>
                <a:cubicBezTo>
                  <a:pt x="1353123" y="530024"/>
                  <a:pt x="1363072" y="582601"/>
                  <a:pt x="1367335" y="635178"/>
                </a:cubicBezTo>
                <a:cubicBezTo>
                  <a:pt x="1371600" y="714752"/>
                  <a:pt x="1364493" y="792905"/>
                  <a:pt x="1343174" y="869639"/>
                </a:cubicBezTo>
                <a:cubicBezTo>
                  <a:pt x="1317589" y="957739"/>
                  <a:pt x="1274948" y="1038736"/>
                  <a:pt x="1218095" y="1111206"/>
                </a:cubicBezTo>
                <a:cubicBezTo>
                  <a:pt x="1164083" y="1177991"/>
                  <a:pt x="1100122" y="1231988"/>
                  <a:pt x="1026212" y="1274618"/>
                </a:cubicBezTo>
                <a:cubicBezTo>
                  <a:pt x="965095" y="1311563"/>
                  <a:pt x="899712" y="1335720"/>
                  <a:pt x="830067" y="1351350"/>
                </a:cubicBezTo>
                <a:cubicBezTo>
                  <a:pt x="791690" y="1359877"/>
                  <a:pt x="753314" y="1364139"/>
                  <a:pt x="713516" y="1366981"/>
                </a:cubicBezTo>
                <a:cubicBezTo>
                  <a:pt x="710673" y="1366981"/>
                  <a:pt x="707831" y="1366981"/>
                  <a:pt x="706410" y="1368402"/>
                </a:cubicBezTo>
                <a:cubicBezTo>
                  <a:pt x="692196" y="1368402"/>
                  <a:pt x="676561" y="1368402"/>
                  <a:pt x="662348" y="1368402"/>
                </a:cubicBezTo>
                <a:cubicBezTo>
                  <a:pt x="653820" y="1366981"/>
                  <a:pt x="646713" y="1365560"/>
                  <a:pt x="638185" y="1365560"/>
                </a:cubicBezTo>
                <a:cubicBezTo>
                  <a:pt x="581331" y="1361296"/>
                  <a:pt x="525898" y="1351350"/>
                  <a:pt x="471888" y="1332878"/>
                </a:cubicBezTo>
                <a:cubicBezTo>
                  <a:pt x="292797" y="1271775"/>
                  <a:pt x="159191" y="1156677"/>
                  <a:pt x="72489" y="987580"/>
                </a:cubicBezTo>
                <a:cubicBezTo>
                  <a:pt x="42640" y="929320"/>
                  <a:pt x="22742" y="866797"/>
                  <a:pt x="11370" y="801432"/>
                </a:cubicBezTo>
                <a:cubicBezTo>
                  <a:pt x="5686" y="775854"/>
                  <a:pt x="2842" y="750277"/>
                  <a:pt x="1421" y="724699"/>
                </a:cubicBezTo>
                <a:cubicBezTo>
                  <a:pt x="1421" y="719016"/>
                  <a:pt x="0" y="711910"/>
                  <a:pt x="0" y="706227"/>
                </a:cubicBezTo>
                <a:cubicBezTo>
                  <a:pt x="0" y="690596"/>
                  <a:pt x="0" y="674964"/>
                  <a:pt x="0" y="660754"/>
                </a:cubicBezTo>
                <a:close/>
                <a:moveTo>
                  <a:pt x="683668" y="1344245"/>
                </a:moveTo>
                <a:cubicBezTo>
                  <a:pt x="1048954" y="1344245"/>
                  <a:pt x="1344595" y="1045840"/>
                  <a:pt x="1344595" y="683491"/>
                </a:cubicBezTo>
                <a:cubicBezTo>
                  <a:pt x="1346016" y="323983"/>
                  <a:pt x="1051797" y="24157"/>
                  <a:pt x="685089" y="24157"/>
                </a:cubicBezTo>
                <a:cubicBezTo>
                  <a:pt x="321225" y="22736"/>
                  <a:pt x="24163" y="319720"/>
                  <a:pt x="24163" y="682070"/>
                </a:cubicBezTo>
                <a:cubicBezTo>
                  <a:pt x="22742" y="1045840"/>
                  <a:pt x="319803" y="1342824"/>
                  <a:pt x="683668" y="134424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7" name="Freeform 57"/>
          <p:cNvSpPr/>
          <p:nvPr/>
        </p:nvSpPr>
        <p:spPr>
          <a:xfrm>
            <a:off x="5588000" y="2844800"/>
            <a:ext cx="1011914" cy="1010315"/>
          </a:xfrm>
          <a:custGeom>
            <a:avLst/>
            <a:gdLst/>
            <a:ahLst/>
            <a:cxnLst/>
            <a:rect l="l" t="t" r="r" b="b"/>
            <a:pathLst>
              <a:path w="1011914" h="1010315">
                <a:moveTo>
                  <a:pt x="1011914" y="505868"/>
                </a:moveTo>
                <a:cubicBezTo>
                  <a:pt x="1011914" y="784380"/>
                  <a:pt x="784198" y="1010315"/>
                  <a:pt x="505245" y="1010315"/>
                </a:cubicBezTo>
                <a:cubicBezTo>
                  <a:pt x="226294" y="1010315"/>
                  <a:pt x="1424" y="782959"/>
                  <a:pt x="0" y="507289"/>
                </a:cubicBezTo>
                <a:cubicBezTo>
                  <a:pt x="0" y="230199"/>
                  <a:pt x="224870" y="2842"/>
                  <a:pt x="503823" y="1421"/>
                </a:cubicBezTo>
                <a:cubicBezTo>
                  <a:pt x="784198" y="0"/>
                  <a:pt x="1011914" y="225936"/>
                  <a:pt x="1011914" y="505868"/>
                </a:cubicBezTo>
                <a:close/>
                <a:moveTo>
                  <a:pt x="505245" y="994684"/>
                </a:moveTo>
                <a:cubicBezTo>
                  <a:pt x="775659" y="996105"/>
                  <a:pt x="996259" y="775853"/>
                  <a:pt x="996259" y="505868"/>
                </a:cubicBezTo>
                <a:cubicBezTo>
                  <a:pt x="996259" y="235882"/>
                  <a:pt x="775659" y="17052"/>
                  <a:pt x="505245" y="17052"/>
                </a:cubicBezTo>
                <a:cubicBezTo>
                  <a:pt x="236256" y="17052"/>
                  <a:pt x="15655" y="235882"/>
                  <a:pt x="15655" y="505868"/>
                </a:cubicBezTo>
                <a:cubicBezTo>
                  <a:pt x="15655" y="774433"/>
                  <a:pt x="236256" y="994684"/>
                  <a:pt x="505245" y="99468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8" name="Freeform 58"/>
          <p:cNvSpPr/>
          <p:nvPr/>
        </p:nvSpPr>
        <p:spPr>
          <a:xfrm>
            <a:off x="6502400" y="2946400"/>
            <a:ext cx="111902" cy="134282"/>
          </a:xfrm>
          <a:custGeom>
            <a:avLst/>
            <a:gdLst/>
            <a:ahLst/>
            <a:cxnLst/>
            <a:rect l="l" t="t" r="r" b="b"/>
            <a:pathLst>
              <a:path w="111902" h="134282">
                <a:moveTo>
                  <a:pt x="52410" y="58570"/>
                </a:moveTo>
                <a:cubicBezTo>
                  <a:pt x="45328" y="65712"/>
                  <a:pt x="36829" y="71426"/>
                  <a:pt x="29746" y="78570"/>
                </a:cubicBezTo>
                <a:cubicBezTo>
                  <a:pt x="25497" y="81426"/>
                  <a:pt x="25497" y="85712"/>
                  <a:pt x="26913" y="88569"/>
                </a:cubicBezTo>
                <a:cubicBezTo>
                  <a:pt x="28330" y="91426"/>
                  <a:pt x="28330" y="92855"/>
                  <a:pt x="28330" y="94284"/>
                </a:cubicBezTo>
                <a:cubicBezTo>
                  <a:pt x="24080" y="92855"/>
                  <a:pt x="4249" y="67141"/>
                  <a:pt x="0" y="57141"/>
                </a:cubicBezTo>
                <a:cubicBezTo>
                  <a:pt x="2833" y="58570"/>
                  <a:pt x="2833" y="58570"/>
                  <a:pt x="4249" y="59999"/>
                </a:cubicBezTo>
                <a:cubicBezTo>
                  <a:pt x="9915" y="62855"/>
                  <a:pt x="12748" y="62855"/>
                  <a:pt x="16998" y="59999"/>
                </a:cubicBezTo>
                <a:cubicBezTo>
                  <a:pt x="33995" y="45714"/>
                  <a:pt x="50993" y="31427"/>
                  <a:pt x="67991" y="17142"/>
                </a:cubicBezTo>
                <a:cubicBezTo>
                  <a:pt x="73657" y="12856"/>
                  <a:pt x="73657" y="10000"/>
                  <a:pt x="70824" y="2858"/>
                </a:cubicBezTo>
                <a:cubicBezTo>
                  <a:pt x="70824" y="1429"/>
                  <a:pt x="70824" y="1429"/>
                  <a:pt x="70824" y="0"/>
                </a:cubicBezTo>
                <a:cubicBezTo>
                  <a:pt x="72240" y="1429"/>
                  <a:pt x="73657" y="1429"/>
                  <a:pt x="73657" y="2858"/>
                </a:cubicBezTo>
                <a:cubicBezTo>
                  <a:pt x="82156" y="14285"/>
                  <a:pt x="90655" y="25714"/>
                  <a:pt x="99154" y="37142"/>
                </a:cubicBezTo>
                <a:cubicBezTo>
                  <a:pt x="103403" y="42856"/>
                  <a:pt x="106236" y="49999"/>
                  <a:pt x="109069" y="57141"/>
                </a:cubicBezTo>
                <a:cubicBezTo>
                  <a:pt x="111902" y="64284"/>
                  <a:pt x="111902" y="71426"/>
                  <a:pt x="106236" y="77141"/>
                </a:cubicBezTo>
                <a:cubicBezTo>
                  <a:pt x="100570" y="85712"/>
                  <a:pt x="90655" y="88569"/>
                  <a:pt x="80739" y="84284"/>
                </a:cubicBezTo>
                <a:cubicBezTo>
                  <a:pt x="77907" y="82855"/>
                  <a:pt x="75074" y="81426"/>
                  <a:pt x="70824" y="79997"/>
                </a:cubicBezTo>
                <a:cubicBezTo>
                  <a:pt x="66575" y="98569"/>
                  <a:pt x="59492" y="115711"/>
                  <a:pt x="56660" y="134282"/>
                </a:cubicBezTo>
                <a:cubicBezTo>
                  <a:pt x="56660" y="134282"/>
                  <a:pt x="55242" y="132853"/>
                  <a:pt x="53826" y="131425"/>
                </a:cubicBezTo>
                <a:cubicBezTo>
                  <a:pt x="50993" y="127140"/>
                  <a:pt x="46744" y="121425"/>
                  <a:pt x="43912" y="117140"/>
                </a:cubicBezTo>
                <a:cubicBezTo>
                  <a:pt x="41078" y="114282"/>
                  <a:pt x="41078" y="111426"/>
                  <a:pt x="41078" y="107140"/>
                </a:cubicBezTo>
                <a:cubicBezTo>
                  <a:pt x="46744" y="94284"/>
                  <a:pt x="50993" y="79997"/>
                  <a:pt x="53826" y="67141"/>
                </a:cubicBezTo>
                <a:cubicBezTo>
                  <a:pt x="55242" y="64284"/>
                  <a:pt x="56660" y="61427"/>
                  <a:pt x="52410" y="58570"/>
                </a:cubicBezTo>
                <a:close/>
                <a:moveTo>
                  <a:pt x="56660" y="55712"/>
                </a:moveTo>
                <a:cubicBezTo>
                  <a:pt x="59492" y="58570"/>
                  <a:pt x="60909" y="61427"/>
                  <a:pt x="63741" y="64284"/>
                </a:cubicBezTo>
                <a:cubicBezTo>
                  <a:pt x="70824" y="71426"/>
                  <a:pt x="77907" y="71426"/>
                  <a:pt x="86406" y="64284"/>
                </a:cubicBezTo>
                <a:cubicBezTo>
                  <a:pt x="89238" y="64284"/>
                  <a:pt x="90655" y="62855"/>
                  <a:pt x="92071" y="61427"/>
                </a:cubicBezTo>
                <a:cubicBezTo>
                  <a:pt x="100570" y="52856"/>
                  <a:pt x="100570" y="44285"/>
                  <a:pt x="92071" y="34285"/>
                </a:cubicBezTo>
                <a:cubicBezTo>
                  <a:pt x="89238" y="31427"/>
                  <a:pt x="87822" y="29999"/>
                  <a:pt x="83572" y="34285"/>
                </a:cubicBezTo>
                <a:cubicBezTo>
                  <a:pt x="76490" y="38570"/>
                  <a:pt x="70824" y="44285"/>
                  <a:pt x="63741" y="49999"/>
                </a:cubicBezTo>
                <a:cubicBezTo>
                  <a:pt x="62325" y="51427"/>
                  <a:pt x="59492" y="54284"/>
                  <a:pt x="56660" y="557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9" name="Freeform 59"/>
          <p:cNvSpPr/>
          <p:nvPr/>
        </p:nvSpPr>
        <p:spPr>
          <a:xfrm>
            <a:off x="5461000" y="3200400"/>
            <a:ext cx="107105" cy="115099"/>
          </a:xfrm>
          <a:custGeom>
            <a:avLst/>
            <a:gdLst/>
            <a:ahLst/>
            <a:cxnLst/>
            <a:rect l="l" t="t" r="r" b="b"/>
            <a:pathLst>
              <a:path w="107105" h="115099">
                <a:moveTo>
                  <a:pt x="0" y="97834"/>
                </a:moveTo>
                <a:cubicBezTo>
                  <a:pt x="2818" y="82008"/>
                  <a:pt x="5638" y="67621"/>
                  <a:pt x="7046" y="51794"/>
                </a:cubicBezTo>
                <a:cubicBezTo>
                  <a:pt x="8456" y="51794"/>
                  <a:pt x="8456" y="51794"/>
                  <a:pt x="9865" y="51794"/>
                </a:cubicBezTo>
                <a:cubicBezTo>
                  <a:pt x="9865" y="53233"/>
                  <a:pt x="9865" y="54672"/>
                  <a:pt x="9865" y="56111"/>
                </a:cubicBezTo>
                <a:cubicBezTo>
                  <a:pt x="11274" y="61866"/>
                  <a:pt x="12683" y="64743"/>
                  <a:pt x="18321" y="66182"/>
                </a:cubicBezTo>
                <a:cubicBezTo>
                  <a:pt x="28186" y="69059"/>
                  <a:pt x="38050" y="70498"/>
                  <a:pt x="49326" y="71937"/>
                </a:cubicBezTo>
                <a:cubicBezTo>
                  <a:pt x="47916" y="70498"/>
                  <a:pt x="47916" y="69059"/>
                  <a:pt x="46506" y="67621"/>
                </a:cubicBezTo>
                <a:cubicBezTo>
                  <a:pt x="39460" y="56111"/>
                  <a:pt x="32414" y="46040"/>
                  <a:pt x="25367" y="34530"/>
                </a:cubicBezTo>
                <a:cubicBezTo>
                  <a:pt x="25367" y="34530"/>
                  <a:pt x="23959" y="33091"/>
                  <a:pt x="23959" y="31652"/>
                </a:cubicBezTo>
                <a:cubicBezTo>
                  <a:pt x="19729" y="27335"/>
                  <a:pt x="16911" y="28774"/>
                  <a:pt x="14093" y="33091"/>
                </a:cubicBezTo>
                <a:cubicBezTo>
                  <a:pt x="14093" y="35969"/>
                  <a:pt x="12683" y="37407"/>
                  <a:pt x="11274" y="41723"/>
                </a:cubicBezTo>
                <a:cubicBezTo>
                  <a:pt x="9865" y="34530"/>
                  <a:pt x="14093" y="5754"/>
                  <a:pt x="16911" y="0"/>
                </a:cubicBezTo>
                <a:cubicBezTo>
                  <a:pt x="18321" y="0"/>
                  <a:pt x="18321" y="1439"/>
                  <a:pt x="18321" y="1439"/>
                </a:cubicBezTo>
                <a:cubicBezTo>
                  <a:pt x="18321" y="11510"/>
                  <a:pt x="22549" y="20142"/>
                  <a:pt x="26777" y="27335"/>
                </a:cubicBezTo>
                <a:cubicBezTo>
                  <a:pt x="31005" y="35969"/>
                  <a:pt x="36642" y="43162"/>
                  <a:pt x="40870" y="50356"/>
                </a:cubicBezTo>
                <a:cubicBezTo>
                  <a:pt x="43688" y="50356"/>
                  <a:pt x="45098" y="48917"/>
                  <a:pt x="46506" y="48917"/>
                </a:cubicBezTo>
                <a:cubicBezTo>
                  <a:pt x="63417" y="38845"/>
                  <a:pt x="80330" y="28774"/>
                  <a:pt x="97241" y="18703"/>
                </a:cubicBezTo>
                <a:cubicBezTo>
                  <a:pt x="100059" y="17264"/>
                  <a:pt x="102878" y="14388"/>
                  <a:pt x="105697" y="11510"/>
                </a:cubicBezTo>
                <a:cubicBezTo>
                  <a:pt x="107105" y="17264"/>
                  <a:pt x="104287" y="21581"/>
                  <a:pt x="104287" y="25898"/>
                </a:cubicBezTo>
                <a:cubicBezTo>
                  <a:pt x="102878" y="31652"/>
                  <a:pt x="102878" y="37407"/>
                  <a:pt x="101469" y="43162"/>
                </a:cubicBezTo>
                <a:cubicBezTo>
                  <a:pt x="100059" y="47479"/>
                  <a:pt x="100059" y="53233"/>
                  <a:pt x="98650" y="57550"/>
                </a:cubicBezTo>
                <a:cubicBezTo>
                  <a:pt x="97241" y="57550"/>
                  <a:pt x="97241" y="57550"/>
                  <a:pt x="97241" y="57550"/>
                </a:cubicBezTo>
                <a:cubicBezTo>
                  <a:pt x="95832" y="54672"/>
                  <a:pt x="95832" y="50356"/>
                  <a:pt x="95832" y="46040"/>
                </a:cubicBezTo>
                <a:cubicBezTo>
                  <a:pt x="93014" y="46040"/>
                  <a:pt x="91604" y="47479"/>
                  <a:pt x="90194" y="47479"/>
                </a:cubicBezTo>
                <a:cubicBezTo>
                  <a:pt x="77511" y="54672"/>
                  <a:pt x="66237" y="61866"/>
                  <a:pt x="54962" y="69059"/>
                </a:cubicBezTo>
                <a:cubicBezTo>
                  <a:pt x="54962" y="71937"/>
                  <a:pt x="56371" y="73376"/>
                  <a:pt x="59190" y="73376"/>
                </a:cubicBezTo>
                <a:cubicBezTo>
                  <a:pt x="67645" y="76253"/>
                  <a:pt x="76102" y="77692"/>
                  <a:pt x="84558" y="79131"/>
                </a:cubicBezTo>
                <a:cubicBezTo>
                  <a:pt x="88786" y="79131"/>
                  <a:pt x="90194" y="77692"/>
                  <a:pt x="93014" y="73376"/>
                </a:cubicBezTo>
                <a:cubicBezTo>
                  <a:pt x="93014" y="71937"/>
                  <a:pt x="94422" y="70498"/>
                  <a:pt x="95832" y="69059"/>
                </a:cubicBezTo>
                <a:cubicBezTo>
                  <a:pt x="94422" y="83447"/>
                  <a:pt x="91604" y="99273"/>
                  <a:pt x="88786" y="115099"/>
                </a:cubicBezTo>
                <a:cubicBezTo>
                  <a:pt x="88786" y="115099"/>
                  <a:pt x="88786" y="115099"/>
                  <a:pt x="87376" y="115099"/>
                </a:cubicBezTo>
                <a:cubicBezTo>
                  <a:pt x="87376" y="113660"/>
                  <a:pt x="87376" y="112221"/>
                  <a:pt x="87376" y="110783"/>
                </a:cubicBezTo>
                <a:cubicBezTo>
                  <a:pt x="85966" y="103589"/>
                  <a:pt x="84558" y="102150"/>
                  <a:pt x="77511" y="100711"/>
                </a:cubicBezTo>
                <a:cubicBezTo>
                  <a:pt x="56371" y="96396"/>
                  <a:pt x="36642" y="92079"/>
                  <a:pt x="15502" y="89202"/>
                </a:cubicBezTo>
                <a:cubicBezTo>
                  <a:pt x="8456" y="87763"/>
                  <a:pt x="7046" y="89202"/>
                  <a:pt x="4228" y="94957"/>
                </a:cubicBezTo>
                <a:cubicBezTo>
                  <a:pt x="2818" y="96396"/>
                  <a:pt x="2818" y="97834"/>
                  <a:pt x="1410" y="97834"/>
                </a:cubicBezTo>
                <a:cubicBezTo>
                  <a:pt x="1410" y="97834"/>
                  <a:pt x="1410" y="97834"/>
                  <a:pt x="0" y="9783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60" name="Freeform 60"/>
          <p:cNvSpPr/>
          <p:nvPr/>
        </p:nvSpPr>
        <p:spPr>
          <a:xfrm>
            <a:off x="6400800" y="2832100"/>
            <a:ext cx="116698" cy="124691"/>
          </a:xfrm>
          <a:custGeom>
            <a:avLst/>
            <a:gdLst/>
            <a:ahLst/>
            <a:cxnLst/>
            <a:rect l="l" t="t" r="r" b="b"/>
            <a:pathLst>
              <a:path w="116698" h="124691">
                <a:moveTo>
                  <a:pt x="86812" y="53030"/>
                </a:moveTo>
                <a:cubicBezTo>
                  <a:pt x="85388" y="58763"/>
                  <a:pt x="65465" y="88861"/>
                  <a:pt x="59773" y="93160"/>
                </a:cubicBezTo>
                <a:cubicBezTo>
                  <a:pt x="61195" y="88861"/>
                  <a:pt x="61195" y="85994"/>
                  <a:pt x="62619" y="84560"/>
                </a:cubicBezTo>
                <a:cubicBezTo>
                  <a:pt x="65465" y="74527"/>
                  <a:pt x="62619" y="65928"/>
                  <a:pt x="52657" y="60195"/>
                </a:cubicBezTo>
                <a:cubicBezTo>
                  <a:pt x="52657" y="60195"/>
                  <a:pt x="51233" y="61629"/>
                  <a:pt x="51233" y="63062"/>
                </a:cubicBezTo>
                <a:cubicBezTo>
                  <a:pt x="45541" y="71661"/>
                  <a:pt x="39848" y="78828"/>
                  <a:pt x="34155" y="87427"/>
                </a:cubicBezTo>
                <a:cubicBezTo>
                  <a:pt x="31309" y="91727"/>
                  <a:pt x="31309" y="94593"/>
                  <a:pt x="35579" y="97460"/>
                </a:cubicBezTo>
                <a:cubicBezTo>
                  <a:pt x="46963" y="108925"/>
                  <a:pt x="59773" y="114658"/>
                  <a:pt x="76850" y="106059"/>
                </a:cubicBezTo>
                <a:cubicBezTo>
                  <a:pt x="79696" y="104626"/>
                  <a:pt x="79696" y="104626"/>
                  <a:pt x="83966" y="104626"/>
                </a:cubicBezTo>
                <a:cubicBezTo>
                  <a:pt x="81119" y="108925"/>
                  <a:pt x="71157" y="120391"/>
                  <a:pt x="64041" y="124691"/>
                </a:cubicBezTo>
                <a:cubicBezTo>
                  <a:pt x="51233" y="117525"/>
                  <a:pt x="2846" y="80261"/>
                  <a:pt x="0" y="74527"/>
                </a:cubicBezTo>
                <a:cubicBezTo>
                  <a:pt x="2846" y="75961"/>
                  <a:pt x="4270" y="75961"/>
                  <a:pt x="5692" y="77394"/>
                </a:cubicBezTo>
                <a:cubicBezTo>
                  <a:pt x="11386" y="78828"/>
                  <a:pt x="14232" y="77394"/>
                  <a:pt x="17078" y="73095"/>
                </a:cubicBezTo>
                <a:cubicBezTo>
                  <a:pt x="29886" y="54463"/>
                  <a:pt x="42695" y="35831"/>
                  <a:pt x="55503" y="17198"/>
                </a:cubicBezTo>
                <a:cubicBezTo>
                  <a:pt x="59773" y="11466"/>
                  <a:pt x="58349" y="8599"/>
                  <a:pt x="55503" y="4300"/>
                </a:cubicBezTo>
                <a:cubicBezTo>
                  <a:pt x="54079" y="2866"/>
                  <a:pt x="54079" y="1434"/>
                  <a:pt x="52657" y="0"/>
                </a:cubicBezTo>
                <a:cubicBezTo>
                  <a:pt x="56926" y="1434"/>
                  <a:pt x="108160" y="38697"/>
                  <a:pt x="116698" y="47296"/>
                </a:cubicBezTo>
                <a:cubicBezTo>
                  <a:pt x="112428" y="54463"/>
                  <a:pt x="103890" y="65928"/>
                  <a:pt x="99620" y="68795"/>
                </a:cubicBezTo>
                <a:cubicBezTo>
                  <a:pt x="99620" y="67362"/>
                  <a:pt x="99620" y="65928"/>
                  <a:pt x="99620" y="65928"/>
                </a:cubicBezTo>
                <a:cubicBezTo>
                  <a:pt x="105312" y="51596"/>
                  <a:pt x="102466" y="42997"/>
                  <a:pt x="92504" y="34398"/>
                </a:cubicBezTo>
                <a:cubicBezTo>
                  <a:pt x="89658" y="31532"/>
                  <a:pt x="86812" y="28665"/>
                  <a:pt x="82542" y="27231"/>
                </a:cubicBezTo>
                <a:cubicBezTo>
                  <a:pt x="79696" y="24365"/>
                  <a:pt x="76850" y="25798"/>
                  <a:pt x="75427" y="28665"/>
                </a:cubicBezTo>
                <a:cubicBezTo>
                  <a:pt x="69734" y="35831"/>
                  <a:pt x="64041" y="42997"/>
                  <a:pt x="58349" y="51596"/>
                </a:cubicBezTo>
                <a:cubicBezTo>
                  <a:pt x="58349" y="53030"/>
                  <a:pt x="56926" y="54463"/>
                  <a:pt x="56926" y="55897"/>
                </a:cubicBezTo>
                <a:cubicBezTo>
                  <a:pt x="61195" y="60195"/>
                  <a:pt x="65465" y="63062"/>
                  <a:pt x="72580" y="61629"/>
                </a:cubicBezTo>
                <a:cubicBezTo>
                  <a:pt x="76850" y="60195"/>
                  <a:pt x="82542" y="55897"/>
                  <a:pt x="86812" y="5303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61" name="Freeform 61"/>
          <p:cNvSpPr/>
          <p:nvPr/>
        </p:nvSpPr>
        <p:spPr>
          <a:xfrm>
            <a:off x="5461000" y="3378200"/>
            <a:ext cx="100712" cy="95915"/>
          </a:xfrm>
          <a:custGeom>
            <a:avLst/>
            <a:gdLst/>
            <a:ahLst/>
            <a:cxnLst/>
            <a:rect l="l" t="t" r="r" b="b"/>
            <a:pathLst>
              <a:path w="100712" h="95915">
                <a:moveTo>
                  <a:pt x="69506" y="28211"/>
                </a:moveTo>
                <a:cubicBezTo>
                  <a:pt x="62413" y="31031"/>
                  <a:pt x="55321" y="33853"/>
                  <a:pt x="52484" y="40905"/>
                </a:cubicBezTo>
                <a:cubicBezTo>
                  <a:pt x="51065" y="45137"/>
                  <a:pt x="51065" y="49369"/>
                  <a:pt x="53903" y="55010"/>
                </a:cubicBezTo>
                <a:cubicBezTo>
                  <a:pt x="56739" y="53600"/>
                  <a:pt x="59576" y="53600"/>
                  <a:pt x="62413" y="53600"/>
                </a:cubicBezTo>
                <a:cubicBezTo>
                  <a:pt x="69506" y="52189"/>
                  <a:pt x="76598" y="50780"/>
                  <a:pt x="85109" y="50780"/>
                </a:cubicBezTo>
                <a:cubicBezTo>
                  <a:pt x="89364" y="49369"/>
                  <a:pt x="90782" y="47958"/>
                  <a:pt x="92201" y="42316"/>
                </a:cubicBezTo>
                <a:cubicBezTo>
                  <a:pt x="92201" y="25390"/>
                  <a:pt x="83690" y="11284"/>
                  <a:pt x="68087" y="5643"/>
                </a:cubicBezTo>
                <a:cubicBezTo>
                  <a:pt x="66669" y="4232"/>
                  <a:pt x="63831" y="4232"/>
                  <a:pt x="62413" y="0"/>
                </a:cubicBezTo>
                <a:cubicBezTo>
                  <a:pt x="72343" y="0"/>
                  <a:pt x="80853" y="1411"/>
                  <a:pt x="89364" y="1411"/>
                </a:cubicBezTo>
                <a:cubicBezTo>
                  <a:pt x="92201" y="7052"/>
                  <a:pt x="100712" y="76168"/>
                  <a:pt x="99294" y="83222"/>
                </a:cubicBezTo>
                <a:cubicBezTo>
                  <a:pt x="97875" y="80400"/>
                  <a:pt x="97875" y="78990"/>
                  <a:pt x="96456" y="77579"/>
                </a:cubicBezTo>
                <a:cubicBezTo>
                  <a:pt x="95038" y="73348"/>
                  <a:pt x="92201" y="71937"/>
                  <a:pt x="87946" y="71937"/>
                </a:cubicBezTo>
                <a:cubicBezTo>
                  <a:pt x="65250" y="74759"/>
                  <a:pt x="43972" y="77579"/>
                  <a:pt x="22696" y="81811"/>
                </a:cubicBezTo>
                <a:cubicBezTo>
                  <a:pt x="17022" y="81811"/>
                  <a:pt x="14185" y="84632"/>
                  <a:pt x="12766" y="91684"/>
                </a:cubicBezTo>
                <a:cubicBezTo>
                  <a:pt x="12766" y="93095"/>
                  <a:pt x="12766" y="94506"/>
                  <a:pt x="12766" y="95915"/>
                </a:cubicBezTo>
                <a:cubicBezTo>
                  <a:pt x="9929" y="91684"/>
                  <a:pt x="0" y="23979"/>
                  <a:pt x="1419" y="15516"/>
                </a:cubicBezTo>
                <a:cubicBezTo>
                  <a:pt x="9929" y="14106"/>
                  <a:pt x="17022" y="12695"/>
                  <a:pt x="25532" y="12695"/>
                </a:cubicBezTo>
                <a:cubicBezTo>
                  <a:pt x="25532" y="12695"/>
                  <a:pt x="26951" y="12695"/>
                  <a:pt x="26951" y="14106"/>
                </a:cubicBezTo>
                <a:cubicBezTo>
                  <a:pt x="25532" y="14106"/>
                  <a:pt x="25532" y="15516"/>
                  <a:pt x="24115" y="15516"/>
                </a:cubicBezTo>
                <a:cubicBezTo>
                  <a:pt x="11347" y="19747"/>
                  <a:pt x="7093" y="29621"/>
                  <a:pt x="8510" y="42316"/>
                </a:cubicBezTo>
                <a:cubicBezTo>
                  <a:pt x="8510" y="45137"/>
                  <a:pt x="8510" y="49369"/>
                  <a:pt x="9929" y="53600"/>
                </a:cubicBezTo>
                <a:cubicBezTo>
                  <a:pt x="9929" y="59242"/>
                  <a:pt x="11347" y="60653"/>
                  <a:pt x="18440" y="59242"/>
                </a:cubicBezTo>
                <a:cubicBezTo>
                  <a:pt x="28369" y="57832"/>
                  <a:pt x="36881" y="56421"/>
                  <a:pt x="46810" y="55010"/>
                </a:cubicBezTo>
                <a:cubicBezTo>
                  <a:pt x="48228" y="47958"/>
                  <a:pt x="46810" y="42316"/>
                  <a:pt x="41135" y="39494"/>
                </a:cubicBezTo>
                <a:cubicBezTo>
                  <a:pt x="36881" y="36674"/>
                  <a:pt x="31206" y="35263"/>
                  <a:pt x="25532" y="33853"/>
                </a:cubicBezTo>
                <a:cubicBezTo>
                  <a:pt x="25532" y="32442"/>
                  <a:pt x="26951" y="32442"/>
                  <a:pt x="26951" y="31031"/>
                </a:cubicBezTo>
                <a:cubicBezTo>
                  <a:pt x="41135" y="29621"/>
                  <a:pt x="55321" y="28211"/>
                  <a:pt x="69506" y="25390"/>
                </a:cubicBezTo>
                <a:cubicBezTo>
                  <a:pt x="69506" y="26800"/>
                  <a:pt x="69506" y="26800"/>
                  <a:pt x="69506" y="2821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62" name="Freeform 62"/>
          <p:cNvSpPr/>
          <p:nvPr/>
        </p:nvSpPr>
        <p:spPr>
          <a:xfrm>
            <a:off x="5981700" y="3886200"/>
            <a:ext cx="70338" cy="100712"/>
          </a:xfrm>
          <a:custGeom>
            <a:avLst/>
            <a:gdLst/>
            <a:ahLst/>
            <a:cxnLst/>
            <a:rect l="l" t="t" r="r" b="b"/>
            <a:pathLst>
              <a:path w="70338" h="100712">
                <a:moveTo>
                  <a:pt x="23915" y="50355"/>
                </a:moveTo>
                <a:cubicBezTo>
                  <a:pt x="21101" y="47479"/>
                  <a:pt x="16881" y="43162"/>
                  <a:pt x="14068" y="38845"/>
                </a:cubicBezTo>
                <a:cubicBezTo>
                  <a:pt x="9848" y="31652"/>
                  <a:pt x="8440" y="24459"/>
                  <a:pt x="11253" y="15827"/>
                </a:cubicBezTo>
                <a:cubicBezTo>
                  <a:pt x="14068" y="8632"/>
                  <a:pt x="19695" y="4317"/>
                  <a:pt x="26728" y="1439"/>
                </a:cubicBezTo>
                <a:cubicBezTo>
                  <a:pt x="36576" y="0"/>
                  <a:pt x="46424" y="0"/>
                  <a:pt x="54864" y="4317"/>
                </a:cubicBezTo>
                <a:cubicBezTo>
                  <a:pt x="60490" y="7193"/>
                  <a:pt x="64712" y="11510"/>
                  <a:pt x="67525" y="17264"/>
                </a:cubicBezTo>
                <a:cubicBezTo>
                  <a:pt x="70338" y="25898"/>
                  <a:pt x="67525" y="34530"/>
                  <a:pt x="59084" y="38845"/>
                </a:cubicBezTo>
                <a:cubicBezTo>
                  <a:pt x="54864" y="40284"/>
                  <a:pt x="52050" y="41723"/>
                  <a:pt x="47829" y="43162"/>
                </a:cubicBezTo>
                <a:cubicBezTo>
                  <a:pt x="49237" y="44601"/>
                  <a:pt x="50644" y="46040"/>
                  <a:pt x="52050" y="47479"/>
                </a:cubicBezTo>
                <a:cubicBezTo>
                  <a:pt x="56270" y="53233"/>
                  <a:pt x="60490" y="57550"/>
                  <a:pt x="61897" y="63304"/>
                </a:cubicBezTo>
                <a:cubicBezTo>
                  <a:pt x="67525" y="79131"/>
                  <a:pt x="59084" y="94957"/>
                  <a:pt x="42203" y="99273"/>
                </a:cubicBezTo>
                <a:cubicBezTo>
                  <a:pt x="32356" y="100712"/>
                  <a:pt x="22508" y="99273"/>
                  <a:pt x="12661" y="93518"/>
                </a:cubicBezTo>
                <a:cubicBezTo>
                  <a:pt x="4220" y="89202"/>
                  <a:pt x="0" y="82008"/>
                  <a:pt x="1407" y="73376"/>
                </a:cubicBezTo>
                <a:cubicBezTo>
                  <a:pt x="1407" y="63304"/>
                  <a:pt x="7033" y="57550"/>
                  <a:pt x="15475" y="54672"/>
                </a:cubicBezTo>
                <a:cubicBezTo>
                  <a:pt x="18288" y="53233"/>
                  <a:pt x="21101" y="51794"/>
                  <a:pt x="23915" y="50355"/>
                </a:cubicBezTo>
                <a:close/>
                <a:moveTo>
                  <a:pt x="28136" y="54672"/>
                </a:moveTo>
                <a:cubicBezTo>
                  <a:pt x="18288" y="63304"/>
                  <a:pt x="14068" y="77692"/>
                  <a:pt x="19695" y="87763"/>
                </a:cubicBezTo>
                <a:cubicBezTo>
                  <a:pt x="21101" y="93518"/>
                  <a:pt x="25321" y="96396"/>
                  <a:pt x="30949" y="96396"/>
                </a:cubicBezTo>
                <a:cubicBezTo>
                  <a:pt x="36576" y="96396"/>
                  <a:pt x="39389" y="92080"/>
                  <a:pt x="42203" y="87763"/>
                </a:cubicBezTo>
                <a:cubicBezTo>
                  <a:pt x="46424" y="76253"/>
                  <a:pt x="40796" y="63304"/>
                  <a:pt x="28136" y="54672"/>
                </a:cubicBezTo>
                <a:close/>
                <a:moveTo>
                  <a:pt x="43609" y="38845"/>
                </a:moveTo>
                <a:cubicBezTo>
                  <a:pt x="52050" y="33091"/>
                  <a:pt x="54864" y="20142"/>
                  <a:pt x="50644" y="11510"/>
                </a:cubicBezTo>
                <a:cubicBezTo>
                  <a:pt x="49237" y="5754"/>
                  <a:pt x="45016" y="4317"/>
                  <a:pt x="39389" y="4317"/>
                </a:cubicBezTo>
                <a:cubicBezTo>
                  <a:pt x="35169" y="4317"/>
                  <a:pt x="32356" y="7193"/>
                  <a:pt x="29541" y="11510"/>
                </a:cubicBezTo>
                <a:cubicBezTo>
                  <a:pt x="28136" y="15827"/>
                  <a:pt x="28136" y="21581"/>
                  <a:pt x="30949" y="25898"/>
                </a:cubicBezTo>
                <a:cubicBezTo>
                  <a:pt x="33762" y="31652"/>
                  <a:pt x="37982" y="35969"/>
                  <a:pt x="43609" y="3884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63" name="Freeform 63"/>
          <p:cNvSpPr/>
          <p:nvPr/>
        </p:nvSpPr>
        <p:spPr>
          <a:xfrm>
            <a:off x="5499100" y="3543300"/>
            <a:ext cx="103909" cy="89522"/>
          </a:xfrm>
          <a:custGeom>
            <a:avLst/>
            <a:gdLst/>
            <a:ahLst/>
            <a:cxnLst/>
            <a:rect l="l" t="t" r="r" b="b"/>
            <a:pathLst>
              <a:path w="103909" h="89522">
                <a:moveTo>
                  <a:pt x="22466" y="89522"/>
                </a:moveTo>
                <a:cubicBezTo>
                  <a:pt x="21063" y="88101"/>
                  <a:pt x="19658" y="86680"/>
                  <a:pt x="19658" y="85259"/>
                </a:cubicBezTo>
                <a:cubicBezTo>
                  <a:pt x="14042" y="72470"/>
                  <a:pt x="9830" y="59681"/>
                  <a:pt x="4213" y="48313"/>
                </a:cubicBezTo>
                <a:cubicBezTo>
                  <a:pt x="1405" y="41209"/>
                  <a:pt x="0" y="32682"/>
                  <a:pt x="0" y="25578"/>
                </a:cubicBezTo>
                <a:cubicBezTo>
                  <a:pt x="0" y="15631"/>
                  <a:pt x="2808" y="8526"/>
                  <a:pt x="11233" y="4263"/>
                </a:cubicBezTo>
                <a:cubicBezTo>
                  <a:pt x="19658" y="0"/>
                  <a:pt x="26679" y="1421"/>
                  <a:pt x="35104" y="5685"/>
                </a:cubicBezTo>
                <a:cubicBezTo>
                  <a:pt x="39317" y="8526"/>
                  <a:pt x="43529" y="14210"/>
                  <a:pt x="46337" y="18473"/>
                </a:cubicBezTo>
                <a:cubicBezTo>
                  <a:pt x="49146" y="24157"/>
                  <a:pt x="50550" y="31261"/>
                  <a:pt x="53359" y="36946"/>
                </a:cubicBezTo>
                <a:cubicBezTo>
                  <a:pt x="56167" y="35524"/>
                  <a:pt x="57572" y="35524"/>
                  <a:pt x="58975" y="35524"/>
                </a:cubicBezTo>
                <a:cubicBezTo>
                  <a:pt x="64592" y="32682"/>
                  <a:pt x="71613" y="29841"/>
                  <a:pt x="77230" y="26999"/>
                </a:cubicBezTo>
                <a:cubicBezTo>
                  <a:pt x="85655" y="22736"/>
                  <a:pt x="87058" y="21314"/>
                  <a:pt x="85655" y="12789"/>
                </a:cubicBezTo>
                <a:cubicBezTo>
                  <a:pt x="85655" y="11368"/>
                  <a:pt x="85655" y="9947"/>
                  <a:pt x="85655" y="8526"/>
                </a:cubicBezTo>
                <a:cubicBezTo>
                  <a:pt x="89868" y="12789"/>
                  <a:pt x="89868" y="18473"/>
                  <a:pt x="92676" y="22736"/>
                </a:cubicBezTo>
                <a:cubicBezTo>
                  <a:pt x="94080" y="28420"/>
                  <a:pt x="96888" y="32682"/>
                  <a:pt x="98293" y="38367"/>
                </a:cubicBezTo>
                <a:cubicBezTo>
                  <a:pt x="99696" y="42630"/>
                  <a:pt x="103909" y="46892"/>
                  <a:pt x="102504" y="53998"/>
                </a:cubicBezTo>
                <a:cubicBezTo>
                  <a:pt x="101101" y="51156"/>
                  <a:pt x="99696" y="49734"/>
                  <a:pt x="98293" y="48313"/>
                </a:cubicBezTo>
                <a:cubicBezTo>
                  <a:pt x="95484" y="45471"/>
                  <a:pt x="92676" y="44050"/>
                  <a:pt x="89868" y="45471"/>
                </a:cubicBezTo>
                <a:cubicBezTo>
                  <a:pt x="87058" y="46892"/>
                  <a:pt x="84251" y="48313"/>
                  <a:pt x="81443" y="49734"/>
                </a:cubicBezTo>
                <a:cubicBezTo>
                  <a:pt x="64592" y="56839"/>
                  <a:pt x="47742" y="63945"/>
                  <a:pt x="30891" y="71049"/>
                </a:cubicBezTo>
                <a:cubicBezTo>
                  <a:pt x="22466" y="75312"/>
                  <a:pt x="22466" y="76733"/>
                  <a:pt x="22466" y="86680"/>
                </a:cubicBezTo>
                <a:cubicBezTo>
                  <a:pt x="22466" y="88101"/>
                  <a:pt x="22466" y="88101"/>
                  <a:pt x="22466" y="89522"/>
                </a:cubicBezTo>
                <a:close/>
                <a:moveTo>
                  <a:pt x="50550" y="38367"/>
                </a:moveTo>
                <a:cubicBezTo>
                  <a:pt x="47742" y="35524"/>
                  <a:pt x="47742" y="31261"/>
                  <a:pt x="44934" y="28420"/>
                </a:cubicBezTo>
                <a:cubicBezTo>
                  <a:pt x="40721" y="22736"/>
                  <a:pt x="35104" y="19893"/>
                  <a:pt x="29488" y="22736"/>
                </a:cubicBezTo>
                <a:cubicBezTo>
                  <a:pt x="23871" y="24157"/>
                  <a:pt x="18254" y="26999"/>
                  <a:pt x="14042" y="29841"/>
                </a:cubicBezTo>
                <a:cubicBezTo>
                  <a:pt x="7021" y="34103"/>
                  <a:pt x="5617" y="42630"/>
                  <a:pt x="9830" y="49734"/>
                </a:cubicBezTo>
                <a:cubicBezTo>
                  <a:pt x="12638" y="53998"/>
                  <a:pt x="14042" y="55419"/>
                  <a:pt x="18254" y="53998"/>
                </a:cubicBezTo>
                <a:cubicBezTo>
                  <a:pt x="28084" y="48313"/>
                  <a:pt x="39317" y="44050"/>
                  <a:pt x="50550" y="3836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64" name="Freeform 64"/>
          <p:cNvSpPr/>
          <p:nvPr/>
        </p:nvSpPr>
        <p:spPr>
          <a:xfrm>
            <a:off x="5562600" y="2933700"/>
            <a:ext cx="123092" cy="134282"/>
          </a:xfrm>
          <a:custGeom>
            <a:avLst/>
            <a:gdLst/>
            <a:ahLst/>
            <a:cxnLst/>
            <a:rect l="l" t="t" r="r" b="b"/>
            <a:pathLst>
              <a:path w="123092" h="134282">
                <a:moveTo>
                  <a:pt x="0" y="72088"/>
                </a:moveTo>
                <a:cubicBezTo>
                  <a:pt x="2830" y="69261"/>
                  <a:pt x="7074" y="65020"/>
                  <a:pt x="8489" y="60780"/>
                </a:cubicBezTo>
                <a:cubicBezTo>
                  <a:pt x="14149" y="52300"/>
                  <a:pt x="21223" y="49473"/>
                  <a:pt x="31126" y="50886"/>
                </a:cubicBezTo>
                <a:cubicBezTo>
                  <a:pt x="48105" y="50886"/>
                  <a:pt x="66498" y="50886"/>
                  <a:pt x="83476" y="50886"/>
                </a:cubicBezTo>
                <a:cubicBezTo>
                  <a:pt x="86305" y="50886"/>
                  <a:pt x="87720" y="50886"/>
                  <a:pt x="90551" y="50886"/>
                </a:cubicBezTo>
                <a:cubicBezTo>
                  <a:pt x="89136" y="49473"/>
                  <a:pt x="89136" y="48059"/>
                  <a:pt x="87720" y="46646"/>
                </a:cubicBezTo>
                <a:cubicBezTo>
                  <a:pt x="79231" y="39578"/>
                  <a:pt x="70743" y="32511"/>
                  <a:pt x="62253" y="25443"/>
                </a:cubicBezTo>
                <a:cubicBezTo>
                  <a:pt x="53764" y="16962"/>
                  <a:pt x="52349" y="16962"/>
                  <a:pt x="42446" y="22616"/>
                </a:cubicBezTo>
                <a:cubicBezTo>
                  <a:pt x="42446" y="24030"/>
                  <a:pt x="42446" y="22616"/>
                  <a:pt x="41031" y="22616"/>
                </a:cubicBezTo>
                <a:cubicBezTo>
                  <a:pt x="42446" y="18376"/>
                  <a:pt x="53764" y="4241"/>
                  <a:pt x="59423" y="0"/>
                </a:cubicBezTo>
                <a:cubicBezTo>
                  <a:pt x="59423" y="2827"/>
                  <a:pt x="59423" y="2827"/>
                  <a:pt x="59423" y="4241"/>
                </a:cubicBezTo>
                <a:cubicBezTo>
                  <a:pt x="56594" y="9895"/>
                  <a:pt x="58009" y="14135"/>
                  <a:pt x="62253" y="18376"/>
                </a:cubicBezTo>
                <a:cubicBezTo>
                  <a:pt x="76402" y="29684"/>
                  <a:pt x="90551" y="42405"/>
                  <a:pt x="104699" y="53713"/>
                </a:cubicBezTo>
                <a:cubicBezTo>
                  <a:pt x="110358" y="59366"/>
                  <a:pt x="116018" y="65020"/>
                  <a:pt x="123092" y="70674"/>
                </a:cubicBezTo>
                <a:cubicBezTo>
                  <a:pt x="120263" y="72088"/>
                  <a:pt x="118848" y="73501"/>
                  <a:pt x="117433" y="73501"/>
                </a:cubicBezTo>
                <a:cubicBezTo>
                  <a:pt x="114604" y="73501"/>
                  <a:pt x="111773" y="73501"/>
                  <a:pt x="108943" y="73501"/>
                </a:cubicBezTo>
                <a:cubicBezTo>
                  <a:pt x="84891" y="73501"/>
                  <a:pt x="59423" y="73501"/>
                  <a:pt x="35371" y="72088"/>
                </a:cubicBezTo>
                <a:cubicBezTo>
                  <a:pt x="32541" y="72088"/>
                  <a:pt x="31126" y="72088"/>
                  <a:pt x="26882" y="72088"/>
                </a:cubicBezTo>
                <a:cubicBezTo>
                  <a:pt x="28297" y="74915"/>
                  <a:pt x="29712" y="76328"/>
                  <a:pt x="31126" y="77742"/>
                </a:cubicBezTo>
                <a:cubicBezTo>
                  <a:pt x="42446" y="87636"/>
                  <a:pt x="55179" y="97531"/>
                  <a:pt x="66498" y="108839"/>
                </a:cubicBezTo>
                <a:cubicBezTo>
                  <a:pt x="72158" y="114493"/>
                  <a:pt x="77817" y="117320"/>
                  <a:pt x="86305" y="110253"/>
                </a:cubicBezTo>
                <a:cubicBezTo>
                  <a:pt x="86305" y="108839"/>
                  <a:pt x="86305" y="108839"/>
                  <a:pt x="86305" y="108839"/>
                </a:cubicBezTo>
                <a:cubicBezTo>
                  <a:pt x="86305" y="113080"/>
                  <a:pt x="73572" y="130042"/>
                  <a:pt x="67913" y="134282"/>
                </a:cubicBezTo>
                <a:cubicBezTo>
                  <a:pt x="67913" y="131455"/>
                  <a:pt x="67913" y="130042"/>
                  <a:pt x="69328" y="128628"/>
                </a:cubicBezTo>
                <a:cubicBezTo>
                  <a:pt x="72158" y="122974"/>
                  <a:pt x="70743" y="120147"/>
                  <a:pt x="66498" y="115907"/>
                </a:cubicBezTo>
                <a:cubicBezTo>
                  <a:pt x="58009" y="108839"/>
                  <a:pt x="49520" y="101771"/>
                  <a:pt x="42446" y="94704"/>
                </a:cubicBezTo>
                <a:cubicBezTo>
                  <a:pt x="35371" y="87636"/>
                  <a:pt x="28297" y="81982"/>
                  <a:pt x="21223" y="76328"/>
                </a:cubicBezTo>
                <a:cubicBezTo>
                  <a:pt x="16979" y="72088"/>
                  <a:pt x="14149" y="72088"/>
                  <a:pt x="9903" y="72088"/>
                </a:cubicBezTo>
                <a:cubicBezTo>
                  <a:pt x="7074" y="73501"/>
                  <a:pt x="4244" y="73501"/>
                  <a:pt x="1415" y="73501"/>
                </a:cubicBezTo>
                <a:cubicBezTo>
                  <a:pt x="0" y="73501"/>
                  <a:pt x="0" y="73501"/>
                  <a:pt x="0" y="7208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65" name="Freeform 65"/>
          <p:cNvSpPr/>
          <p:nvPr/>
        </p:nvSpPr>
        <p:spPr>
          <a:xfrm>
            <a:off x="6286500" y="3835400"/>
            <a:ext cx="86324" cy="99113"/>
          </a:xfrm>
          <a:custGeom>
            <a:avLst/>
            <a:gdLst/>
            <a:ahLst/>
            <a:cxnLst/>
            <a:rect l="l" t="t" r="r" b="b"/>
            <a:pathLst>
              <a:path w="86324" h="99113">
                <a:moveTo>
                  <a:pt x="50945" y="36813"/>
                </a:moveTo>
                <a:cubicBezTo>
                  <a:pt x="56606" y="38230"/>
                  <a:pt x="60851" y="39646"/>
                  <a:pt x="65096" y="41062"/>
                </a:cubicBezTo>
                <a:cubicBezTo>
                  <a:pt x="76418" y="43892"/>
                  <a:pt x="83494" y="52389"/>
                  <a:pt x="84908" y="63716"/>
                </a:cubicBezTo>
                <a:cubicBezTo>
                  <a:pt x="86324" y="72211"/>
                  <a:pt x="83494" y="77875"/>
                  <a:pt x="77833" y="83538"/>
                </a:cubicBezTo>
                <a:cubicBezTo>
                  <a:pt x="70757" y="92033"/>
                  <a:pt x="59436" y="97697"/>
                  <a:pt x="48115" y="97697"/>
                </a:cubicBezTo>
                <a:cubicBezTo>
                  <a:pt x="39624" y="99113"/>
                  <a:pt x="33964" y="94865"/>
                  <a:pt x="29718" y="87786"/>
                </a:cubicBezTo>
                <a:cubicBezTo>
                  <a:pt x="24058" y="80706"/>
                  <a:pt x="24058" y="72211"/>
                  <a:pt x="29718" y="65132"/>
                </a:cubicBezTo>
                <a:cubicBezTo>
                  <a:pt x="31133" y="62300"/>
                  <a:pt x="33964" y="59468"/>
                  <a:pt x="36794" y="55220"/>
                </a:cubicBezTo>
                <a:cubicBezTo>
                  <a:pt x="32549" y="55220"/>
                  <a:pt x="28303" y="53805"/>
                  <a:pt x="24058" y="52389"/>
                </a:cubicBezTo>
                <a:cubicBezTo>
                  <a:pt x="4246" y="45309"/>
                  <a:pt x="0" y="24070"/>
                  <a:pt x="15566" y="11327"/>
                </a:cubicBezTo>
                <a:cubicBezTo>
                  <a:pt x="22643" y="5664"/>
                  <a:pt x="31133" y="1416"/>
                  <a:pt x="39624" y="0"/>
                </a:cubicBezTo>
                <a:cubicBezTo>
                  <a:pt x="48115" y="0"/>
                  <a:pt x="55190" y="2832"/>
                  <a:pt x="59436" y="9911"/>
                </a:cubicBezTo>
                <a:cubicBezTo>
                  <a:pt x="63682" y="16991"/>
                  <a:pt x="60851" y="24070"/>
                  <a:pt x="56606" y="29735"/>
                </a:cubicBezTo>
                <a:cubicBezTo>
                  <a:pt x="55190" y="32565"/>
                  <a:pt x="53776" y="33981"/>
                  <a:pt x="50945" y="36813"/>
                </a:cubicBezTo>
                <a:close/>
                <a:moveTo>
                  <a:pt x="41039" y="56636"/>
                </a:moveTo>
                <a:cubicBezTo>
                  <a:pt x="41039" y="60884"/>
                  <a:pt x="39624" y="65132"/>
                  <a:pt x="39624" y="67963"/>
                </a:cubicBezTo>
                <a:cubicBezTo>
                  <a:pt x="41039" y="76459"/>
                  <a:pt x="45284" y="83538"/>
                  <a:pt x="52361" y="89202"/>
                </a:cubicBezTo>
                <a:cubicBezTo>
                  <a:pt x="56606" y="92033"/>
                  <a:pt x="60851" y="93449"/>
                  <a:pt x="65096" y="90617"/>
                </a:cubicBezTo>
                <a:cubicBezTo>
                  <a:pt x="70757" y="87786"/>
                  <a:pt x="72173" y="82122"/>
                  <a:pt x="70757" y="77875"/>
                </a:cubicBezTo>
                <a:cubicBezTo>
                  <a:pt x="69342" y="69379"/>
                  <a:pt x="65096" y="63716"/>
                  <a:pt x="58021" y="60884"/>
                </a:cubicBezTo>
                <a:cubicBezTo>
                  <a:pt x="52361" y="58052"/>
                  <a:pt x="48115" y="58052"/>
                  <a:pt x="41039" y="56636"/>
                </a:cubicBezTo>
                <a:close/>
                <a:moveTo>
                  <a:pt x="46700" y="36813"/>
                </a:moveTo>
                <a:cubicBezTo>
                  <a:pt x="49530" y="25486"/>
                  <a:pt x="46700" y="16991"/>
                  <a:pt x="39624" y="9911"/>
                </a:cubicBezTo>
                <a:cubicBezTo>
                  <a:pt x="36794" y="7079"/>
                  <a:pt x="33964" y="7079"/>
                  <a:pt x="31133" y="7079"/>
                </a:cubicBezTo>
                <a:cubicBezTo>
                  <a:pt x="25472" y="7079"/>
                  <a:pt x="22643" y="9911"/>
                  <a:pt x="19812" y="14159"/>
                </a:cubicBezTo>
                <a:cubicBezTo>
                  <a:pt x="18397" y="18406"/>
                  <a:pt x="19812" y="22654"/>
                  <a:pt x="22643" y="26902"/>
                </a:cubicBezTo>
                <a:cubicBezTo>
                  <a:pt x="29718" y="33981"/>
                  <a:pt x="36794" y="35397"/>
                  <a:pt x="46700" y="368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66" name="Freeform 66"/>
          <p:cNvSpPr/>
          <p:nvPr/>
        </p:nvSpPr>
        <p:spPr>
          <a:xfrm>
            <a:off x="5676900" y="2819400"/>
            <a:ext cx="116698" cy="113501"/>
          </a:xfrm>
          <a:custGeom>
            <a:avLst/>
            <a:gdLst/>
            <a:ahLst/>
            <a:cxnLst/>
            <a:rect l="l" t="t" r="r" b="b"/>
            <a:pathLst>
              <a:path w="116698" h="113501">
                <a:moveTo>
                  <a:pt x="62619" y="0"/>
                </a:moveTo>
                <a:cubicBezTo>
                  <a:pt x="66888" y="2837"/>
                  <a:pt x="79696" y="19863"/>
                  <a:pt x="81119" y="26957"/>
                </a:cubicBezTo>
                <a:cubicBezTo>
                  <a:pt x="79696" y="28376"/>
                  <a:pt x="78273" y="25537"/>
                  <a:pt x="75427" y="25537"/>
                </a:cubicBezTo>
                <a:cubicBezTo>
                  <a:pt x="68311" y="21281"/>
                  <a:pt x="61195" y="19863"/>
                  <a:pt x="54079" y="19863"/>
                </a:cubicBezTo>
                <a:cubicBezTo>
                  <a:pt x="37001" y="19863"/>
                  <a:pt x="25617" y="32631"/>
                  <a:pt x="29886" y="49657"/>
                </a:cubicBezTo>
                <a:cubicBezTo>
                  <a:pt x="35579" y="68101"/>
                  <a:pt x="46963" y="85126"/>
                  <a:pt x="62619" y="96476"/>
                </a:cubicBezTo>
                <a:cubicBezTo>
                  <a:pt x="74004" y="104988"/>
                  <a:pt x="85388" y="103570"/>
                  <a:pt x="95350" y="93638"/>
                </a:cubicBezTo>
                <a:cubicBezTo>
                  <a:pt x="99620" y="89383"/>
                  <a:pt x="101044" y="85126"/>
                  <a:pt x="96774" y="79451"/>
                </a:cubicBezTo>
                <a:cubicBezTo>
                  <a:pt x="93928" y="76613"/>
                  <a:pt x="91082" y="72357"/>
                  <a:pt x="88235" y="68101"/>
                </a:cubicBezTo>
                <a:cubicBezTo>
                  <a:pt x="83966" y="62426"/>
                  <a:pt x="82542" y="62426"/>
                  <a:pt x="75427" y="65263"/>
                </a:cubicBezTo>
                <a:cubicBezTo>
                  <a:pt x="74004" y="66681"/>
                  <a:pt x="72580" y="66681"/>
                  <a:pt x="71157" y="66681"/>
                </a:cubicBezTo>
                <a:cubicBezTo>
                  <a:pt x="74004" y="62426"/>
                  <a:pt x="78273" y="59588"/>
                  <a:pt x="82542" y="56750"/>
                </a:cubicBezTo>
                <a:cubicBezTo>
                  <a:pt x="86812" y="53913"/>
                  <a:pt x="91082" y="49657"/>
                  <a:pt x="95350" y="46819"/>
                </a:cubicBezTo>
                <a:cubicBezTo>
                  <a:pt x="99620" y="43981"/>
                  <a:pt x="102466" y="41144"/>
                  <a:pt x="106736" y="38307"/>
                </a:cubicBezTo>
                <a:cubicBezTo>
                  <a:pt x="108160" y="38307"/>
                  <a:pt x="108160" y="38307"/>
                  <a:pt x="108160" y="39726"/>
                </a:cubicBezTo>
                <a:cubicBezTo>
                  <a:pt x="108160" y="39726"/>
                  <a:pt x="106736" y="41144"/>
                  <a:pt x="106736" y="41144"/>
                </a:cubicBezTo>
                <a:cubicBezTo>
                  <a:pt x="102466" y="48238"/>
                  <a:pt x="101044" y="51076"/>
                  <a:pt x="106736" y="56750"/>
                </a:cubicBezTo>
                <a:cubicBezTo>
                  <a:pt x="109582" y="62426"/>
                  <a:pt x="113852" y="66681"/>
                  <a:pt x="116698" y="70938"/>
                </a:cubicBezTo>
                <a:cubicBezTo>
                  <a:pt x="116698" y="72357"/>
                  <a:pt x="116698" y="72357"/>
                  <a:pt x="116698" y="73776"/>
                </a:cubicBezTo>
                <a:cubicBezTo>
                  <a:pt x="105312" y="90801"/>
                  <a:pt x="91082" y="104988"/>
                  <a:pt x="69734" y="110664"/>
                </a:cubicBezTo>
                <a:cubicBezTo>
                  <a:pt x="61195" y="113501"/>
                  <a:pt x="52657" y="112083"/>
                  <a:pt x="44117" y="107826"/>
                </a:cubicBezTo>
                <a:cubicBezTo>
                  <a:pt x="15654" y="93638"/>
                  <a:pt x="0" y="49657"/>
                  <a:pt x="34155" y="21281"/>
                </a:cubicBezTo>
                <a:cubicBezTo>
                  <a:pt x="38425" y="18444"/>
                  <a:pt x="45541" y="17026"/>
                  <a:pt x="51233" y="14187"/>
                </a:cubicBezTo>
                <a:cubicBezTo>
                  <a:pt x="52657" y="12769"/>
                  <a:pt x="54079" y="12769"/>
                  <a:pt x="55503" y="12769"/>
                </a:cubicBezTo>
                <a:cubicBezTo>
                  <a:pt x="62619" y="9931"/>
                  <a:pt x="62619" y="9931"/>
                  <a:pt x="62619" y="2837"/>
                </a:cubicBezTo>
                <a:cubicBezTo>
                  <a:pt x="62619" y="2837"/>
                  <a:pt x="62619" y="2837"/>
                  <a:pt x="62619" y="1419"/>
                </a:cubicBezTo>
                <a:cubicBezTo>
                  <a:pt x="62619" y="1419"/>
                  <a:pt x="62619" y="1419"/>
                  <a:pt x="62619"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67" name="Freeform 67"/>
          <p:cNvSpPr/>
          <p:nvPr/>
        </p:nvSpPr>
        <p:spPr>
          <a:xfrm>
            <a:off x="6032500" y="2717800"/>
            <a:ext cx="92719" cy="100712"/>
          </a:xfrm>
          <a:custGeom>
            <a:avLst/>
            <a:gdLst/>
            <a:ahLst/>
            <a:cxnLst/>
            <a:rect l="l" t="t" r="r" b="b"/>
            <a:pathLst>
              <a:path w="92719" h="100712">
                <a:moveTo>
                  <a:pt x="82734" y="99273"/>
                </a:moveTo>
                <a:cubicBezTo>
                  <a:pt x="77028" y="100712"/>
                  <a:pt x="77028" y="97834"/>
                  <a:pt x="75602" y="94957"/>
                </a:cubicBezTo>
                <a:cubicBezTo>
                  <a:pt x="61337" y="79131"/>
                  <a:pt x="48499" y="61866"/>
                  <a:pt x="35662" y="44601"/>
                </a:cubicBezTo>
                <a:cubicBezTo>
                  <a:pt x="29955" y="38845"/>
                  <a:pt x="24249" y="31652"/>
                  <a:pt x="18543" y="24459"/>
                </a:cubicBezTo>
                <a:cubicBezTo>
                  <a:pt x="18543" y="27335"/>
                  <a:pt x="17117" y="28774"/>
                  <a:pt x="17117" y="30213"/>
                </a:cubicBezTo>
                <a:cubicBezTo>
                  <a:pt x="17117" y="47479"/>
                  <a:pt x="17117" y="63304"/>
                  <a:pt x="17117" y="80570"/>
                </a:cubicBezTo>
                <a:cubicBezTo>
                  <a:pt x="17117" y="90641"/>
                  <a:pt x="18543" y="92080"/>
                  <a:pt x="28529" y="94957"/>
                </a:cubicBezTo>
                <a:cubicBezTo>
                  <a:pt x="28529" y="96396"/>
                  <a:pt x="29955" y="96396"/>
                  <a:pt x="29955" y="97834"/>
                </a:cubicBezTo>
                <a:cubicBezTo>
                  <a:pt x="25676" y="99273"/>
                  <a:pt x="7132" y="99273"/>
                  <a:pt x="0" y="97834"/>
                </a:cubicBezTo>
                <a:cubicBezTo>
                  <a:pt x="1426" y="96396"/>
                  <a:pt x="2852" y="94957"/>
                  <a:pt x="4280" y="94957"/>
                </a:cubicBezTo>
                <a:cubicBezTo>
                  <a:pt x="9985" y="93518"/>
                  <a:pt x="12838" y="90641"/>
                  <a:pt x="12838" y="83447"/>
                </a:cubicBezTo>
                <a:cubicBezTo>
                  <a:pt x="12838" y="63304"/>
                  <a:pt x="12838" y="41723"/>
                  <a:pt x="12838" y="20142"/>
                </a:cubicBezTo>
                <a:cubicBezTo>
                  <a:pt x="12838" y="15827"/>
                  <a:pt x="9985" y="12949"/>
                  <a:pt x="8559" y="11510"/>
                </a:cubicBezTo>
                <a:cubicBezTo>
                  <a:pt x="5706" y="8632"/>
                  <a:pt x="2852" y="5754"/>
                  <a:pt x="0" y="2878"/>
                </a:cubicBezTo>
                <a:cubicBezTo>
                  <a:pt x="5706" y="1439"/>
                  <a:pt x="9985" y="2878"/>
                  <a:pt x="14265" y="1439"/>
                </a:cubicBezTo>
                <a:cubicBezTo>
                  <a:pt x="25676" y="0"/>
                  <a:pt x="31382" y="4317"/>
                  <a:pt x="38514" y="12949"/>
                </a:cubicBezTo>
                <a:cubicBezTo>
                  <a:pt x="48499" y="27335"/>
                  <a:pt x="59911" y="41723"/>
                  <a:pt x="71322" y="56111"/>
                </a:cubicBezTo>
                <a:cubicBezTo>
                  <a:pt x="72748" y="57550"/>
                  <a:pt x="74176" y="58989"/>
                  <a:pt x="77028" y="60427"/>
                </a:cubicBezTo>
                <a:cubicBezTo>
                  <a:pt x="77028" y="58989"/>
                  <a:pt x="77028" y="56111"/>
                  <a:pt x="77028" y="54672"/>
                </a:cubicBezTo>
                <a:cubicBezTo>
                  <a:pt x="77028" y="43162"/>
                  <a:pt x="77028" y="33091"/>
                  <a:pt x="77028" y="21581"/>
                </a:cubicBezTo>
                <a:cubicBezTo>
                  <a:pt x="77028" y="12949"/>
                  <a:pt x="75602" y="5754"/>
                  <a:pt x="65617" y="4317"/>
                </a:cubicBezTo>
                <a:cubicBezTo>
                  <a:pt x="65617" y="4317"/>
                  <a:pt x="64190" y="4317"/>
                  <a:pt x="64190" y="4317"/>
                </a:cubicBezTo>
                <a:cubicBezTo>
                  <a:pt x="68470" y="1439"/>
                  <a:pt x="87013" y="1439"/>
                  <a:pt x="92719" y="2878"/>
                </a:cubicBezTo>
                <a:cubicBezTo>
                  <a:pt x="91293" y="4317"/>
                  <a:pt x="91293" y="4317"/>
                  <a:pt x="89866" y="5754"/>
                </a:cubicBezTo>
                <a:cubicBezTo>
                  <a:pt x="84160" y="7193"/>
                  <a:pt x="81308" y="11510"/>
                  <a:pt x="82734" y="17264"/>
                </a:cubicBezTo>
                <a:cubicBezTo>
                  <a:pt x="82734" y="24459"/>
                  <a:pt x="82734" y="31652"/>
                  <a:pt x="82734" y="37408"/>
                </a:cubicBezTo>
                <a:cubicBezTo>
                  <a:pt x="82734" y="56111"/>
                  <a:pt x="82734" y="73376"/>
                  <a:pt x="82734" y="92080"/>
                </a:cubicBezTo>
                <a:cubicBezTo>
                  <a:pt x="82734" y="94957"/>
                  <a:pt x="82734" y="96396"/>
                  <a:pt x="82734" y="9927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68" name="Freeform 68"/>
          <p:cNvSpPr/>
          <p:nvPr/>
        </p:nvSpPr>
        <p:spPr>
          <a:xfrm>
            <a:off x="6146800" y="3886200"/>
            <a:ext cx="71937" cy="102310"/>
          </a:xfrm>
          <a:custGeom>
            <a:avLst/>
            <a:gdLst/>
            <a:ahLst/>
            <a:cxnLst/>
            <a:rect l="l" t="t" r="r" b="b"/>
            <a:pathLst>
              <a:path w="71937" h="102310">
                <a:moveTo>
                  <a:pt x="12949" y="102310"/>
                </a:moveTo>
                <a:cubicBezTo>
                  <a:pt x="31652" y="95105"/>
                  <a:pt x="41723" y="79254"/>
                  <a:pt x="44601" y="59080"/>
                </a:cubicBezTo>
                <a:cubicBezTo>
                  <a:pt x="40284" y="60522"/>
                  <a:pt x="37408" y="61962"/>
                  <a:pt x="33091" y="63403"/>
                </a:cubicBezTo>
                <a:cubicBezTo>
                  <a:pt x="20142" y="66285"/>
                  <a:pt x="10071" y="60522"/>
                  <a:pt x="4317" y="47553"/>
                </a:cubicBezTo>
                <a:cubicBezTo>
                  <a:pt x="0" y="37465"/>
                  <a:pt x="1439" y="27379"/>
                  <a:pt x="4317" y="18733"/>
                </a:cubicBezTo>
                <a:cubicBezTo>
                  <a:pt x="10071" y="7205"/>
                  <a:pt x="18703" y="1441"/>
                  <a:pt x="30213" y="1441"/>
                </a:cubicBezTo>
                <a:cubicBezTo>
                  <a:pt x="41723" y="0"/>
                  <a:pt x="51794" y="4323"/>
                  <a:pt x="58989" y="15851"/>
                </a:cubicBezTo>
                <a:cubicBezTo>
                  <a:pt x="71937" y="37465"/>
                  <a:pt x="67621" y="67727"/>
                  <a:pt x="48917" y="85018"/>
                </a:cubicBezTo>
                <a:cubicBezTo>
                  <a:pt x="40284" y="93664"/>
                  <a:pt x="24459" y="100868"/>
                  <a:pt x="12949" y="102310"/>
                </a:cubicBezTo>
                <a:close/>
                <a:moveTo>
                  <a:pt x="44601" y="46111"/>
                </a:moveTo>
                <a:cubicBezTo>
                  <a:pt x="44601" y="46111"/>
                  <a:pt x="44601" y="46111"/>
                  <a:pt x="46040" y="46111"/>
                </a:cubicBezTo>
                <a:cubicBezTo>
                  <a:pt x="43162" y="36025"/>
                  <a:pt x="41723" y="27379"/>
                  <a:pt x="40284" y="17292"/>
                </a:cubicBezTo>
                <a:cubicBezTo>
                  <a:pt x="38845" y="14409"/>
                  <a:pt x="37408" y="11528"/>
                  <a:pt x="35969" y="8646"/>
                </a:cubicBezTo>
                <a:cubicBezTo>
                  <a:pt x="34530" y="5765"/>
                  <a:pt x="31652" y="4323"/>
                  <a:pt x="27335" y="4323"/>
                </a:cubicBezTo>
                <a:cubicBezTo>
                  <a:pt x="24459" y="5765"/>
                  <a:pt x="21581" y="7205"/>
                  <a:pt x="21581" y="11528"/>
                </a:cubicBezTo>
                <a:cubicBezTo>
                  <a:pt x="21581" y="12969"/>
                  <a:pt x="20142" y="14409"/>
                  <a:pt x="20142" y="14409"/>
                </a:cubicBezTo>
                <a:cubicBezTo>
                  <a:pt x="21581" y="25937"/>
                  <a:pt x="23020" y="36025"/>
                  <a:pt x="25898" y="46111"/>
                </a:cubicBezTo>
                <a:cubicBezTo>
                  <a:pt x="27335" y="48994"/>
                  <a:pt x="28774" y="50434"/>
                  <a:pt x="30213" y="53316"/>
                </a:cubicBezTo>
                <a:cubicBezTo>
                  <a:pt x="33091" y="56199"/>
                  <a:pt x="35969" y="56199"/>
                  <a:pt x="41723" y="56199"/>
                </a:cubicBezTo>
                <a:cubicBezTo>
                  <a:pt x="46040" y="54757"/>
                  <a:pt x="44601" y="50434"/>
                  <a:pt x="44601" y="47553"/>
                </a:cubicBezTo>
                <a:cubicBezTo>
                  <a:pt x="44601" y="47553"/>
                  <a:pt x="44601" y="46111"/>
                  <a:pt x="44601" y="4611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69" name="Freeform 69"/>
          <p:cNvSpPr/>
          <p:nvPr/>
        </p:nvSpPr>
        <p:spPr>
          <a:xfrm>
            <a:off x="5854700" y="2743200"/>
            <a:ext cx="95915" cy="108704"/>
          </a:xfrm>
          <a:custGeom>
            <a:avLst/>
            <a:gdLst/>
            <a:ahLst/>
            <a:cxnLst/>
            <a:rect l="l" t="t" r="r" b="b"/>
            <a:pathLst>
              <a:path w="95915" h="108704">
                <a:moveTo>
                  <a:pt x="59242" y="9882"/>
                </a:moveTo>
                <a:cubicBezTo>
                  <a:pt x="63473" y="5646"/>
                  <a:pt x="80400" y="1412"/>
                  <a:pt x="87452" y="0"/>
                </a:cubicBezTo>
                <a:cubicBezTo>
                  <a:pt x="86042" y="1412"/>
                  <a:pt x="86042" y="2823"/>
                  <a:pt x="84632" y="4235"/>
                </a:cubicBezTo>
                <a:cubicBezTo>
                  <a:pt x="80400" y="7059"/>
                  <a:pt x="78990" y="11294"/>
                  <a:pt x="80400" y="16941"/>
                </a:cubicBezTo>
                <a:cubicBezTo>
                  <a:pt x="84632" y="29647"/>
                  <a:pt x="88863" y="43764"/>
                  <a:pt x="91684" y="56471"/>
                </a:cubicBezTo>
                <a:cubicBezTo>
                  <a:pt x="93095" y="63529"/>
                  <a:pt x="94506" y="70588"/>
                  <a:pt x="94506" y="77647"/>
                </a:cubicBezTo>
                <a:cubicBezTo>
                  <a:pt x="95915" y="86117"/>
                  <a:pt x="93095" y="91764"/>
                  <a:pt x="87452" y="95999"/>
                </a:cubicBezTo>
                <a:cubicBezTo>
                  <a:pt x="76168" y="104470"/>
                  <a:pt x="62064" y="108704"/>
                  <a:pt x="47958" y="107293"/>
                </a:cubicBezTo>
                <a:cubicBezTo>
                  <a:pt x="39494" y="105881"/>
                  <a:pt x="33853" y="101646"/>
                  <a:pt x="29621" y="93176"/>
                </a:cubicBezTo>
                <a:cubicBezTo>
                  <a:pt x="28211" y="90352"/>
                  <a:pt x="26800" y="87528"/>
                  <a:pt x="26800" y="84705"/>
                </a:cubicBezTo>
                <a:cubicBezTo>
                  <a:pt x="22568" y="69176"/>
                  <a:pt x="18336" y="53646"/>
                  <a:pt x="14106" y="38118"/>
                </a:cubicBezTo>
                <a:cubicBezTo>
                  <a:pt x="14106" y="38118"/>
                  <a:pt x="12695" y="36706"/>
                  <a:pt x="12695" y="35293"/>
                </a:cubicBezTo>
                <a:cubicBezTo>
                  <a:pt x="11284" y="31059"/>
                  <a:pt x="8463" y="28235"/>
                  <a:pt x="2821" y="28235"/>
                </a:cubicBezTo>
                <a:cubicBezTo>
                  <a:pt x="1411" y="28235"/>
                  <a:pt x="1411" y="28235"/>
                  <a:pt x="0" y="26824"/>
                </a:cubicBezTo>
                <a:cubicBezTo>
                  <a:pt x="11284" y="21176"/>
                  <a:pt x="25390" y="18353"/>
                  <a:pt x="38085" y="14117"/>
                </a:cubicBezTo>
                <a:cubicBezTo>
                  <a:pt x="39494" y="14117"/>
                  <a:pt x="40905" y="14117"/>
                  <a:pt x="42316" y="14117"/>
                </a:cubicBezTo>
                <a:cubicBezTo>
                  <a:pt x="42316" y="14117"/>
                  <a:pt x="42316" y="14117"/>
                  <a:pt x="42316" y="15530"/>
                </a:cubicBezTo>
                <a:cubicBezTo>
                  <a:pt x="40905" y="15530"/>
                  <a:pt x="39494" y="16941"/>
                  <a:pt x="38085" y="16941"/>
                </a:cubicBezTo>
                <a:cubicBezTo>
                  <a:pt x="33853" y="19765"/>
                  <a:pt x="32442" y="22588"/>
                  <a:pt x="33853" y="28235"/>
                </a:cubicBezTo>
                <a:cubicBezTo>
                  <a:pt x="38085" y="46587"/>
                  <a:pt x="43726" y="64940"/>
                  <a:pt x="47958" y="83293"/>
                </a:cubicBezTo>
                <a:cubicBezTo>
                  <a:pt x="49369" y="84705"/>
                  <a:pt x="49369" y="84705"/>
                  <a:pt x="49369" y="86117"/>
                </a:cubicBezTo>
                <a:cubicBezTo>
                  <a:pt x="53600" y="95999"/>
                  <a:pt x="60653" y="100235"/>
                  <a:pt x="70527" y="98823"/>
                </a:cubicBezTo>
                <a:cubicBezTo>
                  <a:pt x="83222" y="95999"/>
                  <a:pt x="90274" y="88941"/>
                  <a:pt x="90274" y="77647"/>
                </a:cubicBezTo>
                <a:cubicBezTo>
                  <a:pt x="90274" y="71999"/>
                  <a:pt x="88863" y="67765"/>
                  <a:pt x="88863" y="63529"/>
                </a:cubicBezTo>
                <a:cubicBezTo>
                  <a:pt x="84632" y="49412"/>
                  <a:pt x="80400" y="35293"/>
                  <a:pt x="76168" y="21176"/>
                </a:cubicBezTo>
                <a:cubicBezTo>
                  <a:pt x="73348" y="11294"/>
                  <a:pt x="71937" y="9882"/>
                  <a:pt x="62064" y="9882"/>
                </a:cubicBezTo>
                <a:cubicBezTo>
                  <a:pt x="60653" y="9882"/>
                  <a:pt x="60653" y="9882"/>
                  <a:pt x="59242" y="988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0" name="Freeform 70"/>
          <p:cNvSpPr/>
          <p:nvPr/>
        </p:nvSpPr>
        <p:spPr>
          <a:xfrm>
            <a:off x="6591300" y="3111500"/>
            <a:ext cx="111902" cy="89522"/>
          </a:xfrm>
          <a:custGeom>
            <a:avLst/>
            <a:gdLst/>
            <a:ahLst/>
            <a:cxnLst/>
            <a:rect l="l" t="t" r="r" b="b"/>
            <a:pathLst>
              <a:path w="111902" h="89522">
                <a:moveTo>
                  <a:pt x="0" y="31261"/>
                </a:moveTo>
                <a:cubicBezTo>
                  <a:pt x="9915" y="26999"/>
                  <a:pt x="19831" y="22736"/>
                  <a:pt x="28330" y="18473"/>
                </a:cubicBezTo>
                <a:cubicBezTo>
                  <a:pt x="31162" y="21314"/>
                  <a:pt x="29746" y="22736"/>
                  <a:pt x="28330" y="24157"/>
                </a:cubicBezTo>
                <a:cubicBezTo>
                  <a:pt x="24080" y="28420"/>
                  <a:pt x="19831" y="32682"/>
                  <a:pt x="16998" y="36946"/>
                </a:cubicBezTo>
                <a:cubicBezTo>
                  <a:pt x="11332" y="46892"/>
                  <a:pt x="12748" y="55419"/>
                  <a:pt x="18414" y="65366"/>
                </a:cubicBezTo>
                <a:cubicBezTo>
                  <a:pt x="22663" y="71049"/>
                  <a:pt x="26913" y="72470"/>
                  <a:pt x="33995" y="71049"/>
                </a:cubicBezTo>
                <a:cubicBezTo>
                  <a:pt x="39662" y="69628"/>
                  <a:pt x="43912" y="65366"/>
                  <a:pt x="45328" y="59681"/>
                </a:cubicBezTo>
                <a:cubicBezTo>
                  <a:pt x="45328" y="56839"/>
                  <a:pt x="45328" y="52577"/>
                  <a:pt x="45328" y="49734"/>
                </a:cubicBezTo>
                <a:cubicBezTo>
                  <a:pt x="46744" y="39788"/>
                  <a:pt x="46744" y="29841"/>
                  <a:pt x="49577" y="19893"/>
                </a:cubicBezTo>
                <a:cubicBezTo>
                  <a:pt x="52410" y="8526"/>
                  <a:pt x="60909" y="2842"/>
                  <a:pt x="72240" y="1421"/>
                </a:cubicBezTo>
                <a:cubicBezTo>
                  <a:pt x="80739" y="0"/>
                  <a:pt x="87822" y="4263"/>
                  <a:pt x="93487" y="9947"/>
                </a:cubicBezTo>
                <a:cubicBezTo>
                  <a:pt x="99154" y="17052"/>
                  <a:pt x="101986" y="25578"/>
                  <a:pt x="103403" y="34103"/>
                </a:cubicBezTo>
                <a:cubicBezTo>
                  <a:pt x="103403" y="36946"/>
                  <a:pt x="103403" y="38367"/>
                  <a:pt x="103403" y="39788"/>
                </a:cubicBezTo>
                <a:cubicBezTo>
                  <a:pt x="103403" y="42630"/>
                  <a:pt x="104819" y="45471"/>
                  <a:pt x="107653" y="45471"/>
                </a:cubicBezTo>
                <a:cubicBezTo>
                  <a:pt x="109069" y="45471"/>
                  <a:pt x="110485" y="46892"/>
                  <a:pt x="111902" y="48313"/>
                </a:cubicBezTo>
                <a:cubicBezTo>
                  <a:pt x="106236" y="52577"/>
                  <a:pt x="89238" y="59681"/>
                  <a:pt x="83572" y="59681"/>
                </a:cubicBezTo>
                <a:cubicBezTo>
                  <a:pt x="84988" y="56839"/>
                  <a:pt x="86406" y="55419"/>
                  <a:pt x="87822" y="53998"/>
                </a:cubicBezTo>
                <a:cubicBezTo>
                  <a:pt x="92071" y="48313"/>
                  <a:pt x="96321" y="44050"/>
                  <a:pt x="97737" y="36946"/>
                </a:cubicBezTo>
                <a:cubicBezTo>
                  <a:pt x="99154" y="29841"/>
                  <a:pt x="97737" y="22736"/>
                  <a:pt x="92071" y="17052"/>
                </a:cubicBezTo>
                <a:cubicBezTo>
                  <a:pt x="86406" y="9947"/>
                  <a:pt x="75074" y="11368"/>
                  <a:pt x="70824" y="19893"/>
                </a:cubicBezTo>
                <a:cubicBezTo>
                  <a:pt x="69408" y="22736"/>
                  <a:pt x="69408" y="26999"/>
                  <a:pt x="69408" y="29841"/>
                </a:cubicBezTo>
                <a:cubicBezTo>
                  <a:pt x="67991" y="38367"/>
                  <a:pt x="69408" y="46892"/>
                  <a:pt x="67991" y="55419"/>
                </a:cubicBezTo>
                <a:cubicBezTo>
                  <a:pt x="66575" y="59681"/>
                  <a:pt x="66575" y="65366"/>
                  <a:pt x="63741" y="71049"/>
                </a:cubicBezTo>
                <a:cubicBezTo>
                  <a:pt x="55242" y="85259"/>
                  <a:pt x="33995" y="89522"/>
                  <a:pt x="21247" y="75312"/>
                </a:cubicBezTo>
                <a:cubicBezTo>
                  <a:pt x="15582" y="66787"/>
                  <a:pt x="11332" y="58260"/>
                  <a:pt x="9915" y="48313"/>
                </a:cubicBezTo>
                <a:cubicBezTo>
                  <a:pt x="7083" y="38367"/>
                  <a:pt x="7083" y="38367"/>
                  <a:pt x="0" y="312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1" name="Freeform 71"/>
          <p:cNvSpPr/>
          <p:nvPr/>
        </p:nvSpPr>
        <p:spPr>
          <a:xfrm>
            <a:off x="6591300" y="3530600"/>
            <a:ext cx="110305" cy="102310"/>
          </a:xfrm>
          <a:custGeom>
            <a:avLst/>
            <a:gdLst/>
            <a:ahLst/>
            <a:cxnLst/>
            <a:rect l="l" t="t" r="r" b="b"/>
            <a:pathLst>
              <a:path w="110305" h="102310">
                <a:moveTo>
                  <a:pt x="91681" y="56839"/>
                </a:moveTo>
                <a:cubicBezTo>
                  <a:pt x="93114" y="55418"/>
                  <a:pt x="93114" y="53997"/>
                  <a:pt x="93114" y="52575"/>
                </a:cubicBezTo>
                <a:cubicBezTo>
                  <a:pt x="95979" y="44050"/>
                  <a:pt x="94546" y="42629"/>
                  <a:pt x="84518" y="42629"/>
                </a:cubicBezTo>
                <a:cubicBezTo>
                  <a:pt x="77356" y="44050"/>
                  <a:pt x="71625" y="44050"/>
                  <a:pt x="64464" y="45471"/>
                </a:cubicBezTo>
                <a:cubicBezTo>
                  <a:pt x="60166" y="45471"/>
                  <a:pt x="57301" y="45471"/>
                  <a:pt x="53003" y="45471"/>
                </a:cubicBezTo>
                <a:cubicBezTo>
                  <a:pt x="51571" y="46892"/>
                  <a:pt x="50138" y="46892"/>
                  <a:pt x="47273" y="46892"/>
                </a:cubicBezTo>
                <a:cubicBezTo>
                  <a:pt x="50138" y="51156"/>
                  <a:pt x="53003" y="55418"/>
                  <a:pt x="55869" y="58260"/>
                </a:cubicBezTo>
                <a:cubicBezTo>
                  <a:pt x="58734" y="63943"/>
                  <a:pt x="63031" y="68207"/>
                  <a:pt x="67329" y="73891"/>
                </a:cubicBezTo>
                <a:cubicBezTo>
                  <a:pt x="68760" y="75311"/>
                  <a:pt x="70193" y="78153"/>
                  <a:pt x="71625" y="79574"/>
                </a:cubicBezTo>
                <a:cubicBezTo>
                  <a:pt x="75923" y="82417"/>
                  <a:pt x="78788" y="82417"/>
                  <a:pt x="81653" y="78153"/>
                </a:cubicBezTo>
                <a:cubicBezTo>
                  <a:pt x="83086" y="76732"/>
                  <a:pt x="84518" y="75311"/>
                  <a:pt x="85951" y="72470"/>
                </a:cubicBezTo>
                <a:cubicBezTo>
                  <a:pt x="85951" y="78153"/>
                  <a:pt x="80221" y="96627"/>
                  <a:pt x="75923" y="102310"/>
                </a:cubicBezTo>
                <a:cubicBezTo>
                  <a:pt x="75923" y="100889"/>
                  <a:pt x="74491" y="100889"/>
                  <a:pt x="74491" y="100889"/>
                </a:cubicBezTo>
                <a:cubicBezTo>
                  <a:pt x="74491" y="95206"/>
                  <a:pt x="71625" y="90942"/>
                  <a:pt x="68760" y="85259"/>
                </a:cubicBezTo>
                <a:cubicBezTo>
                  <a:pt x="60166" y="75311"/>
                  <a:pt x="53003" y="63943"/>
                  <a:pt x="44408" y="52575"/>
                </a:cubicBezTo>
                <a:cubicBezTo>
                  <a:pt x="42976" y="49734"/>
                  <a:pt x="41543" y="48313"/>
                  <a:pt x="37245" y="46892"/>
                </a:cubicBezTo>
                <a:cubicBezTo>
                  <a:pt x="31515" y="44050"/>
                  <a:pt x="24352" y="41208"/>
                  <a:pt x="18623" y="38367"/>
                </a:cubicBezTo>
                <a:cubicBezTo>
                  <a:pt x="10028" y="35524"/>
                  <a:pt x="8595" y="35524"/>
                  <a:pt x="2865" y="44050"/>
                </a:cubicBezTo>
                <a:cubicBezTo>
                  <a:pt x="2865" y="44050"/>
                  <a:pt x="1433" y="44050"/>
                  <a:pt x="1433" y="45471"/>
                </a:cubicBezTo>
                <a:cubicBezTo>
                  <a:pt x="1433" y="44050"/>
                  <a:pt x="0" y="44050"/>
                  <a:pt x="0" y="42629"/>
                </a:cubicBezTo>
                <a:cubicBezTo>
                  <a:pt x="5730" y="28420"/>
                  <a:pt x="11460" y="15631"/>
                  <a:pt x="17191" y="1421"/>
                </a:cubicBezTo>
                <a:cubicBezTo>
                  <a:pt x="17191" y="1421"/>
                  <a:pt x="17191" y="0"/>
                  <a:pt x="18623" y="0"/>
                </a:cubicBezTo>
                <a:cubicBezTo>
                  <a:pt x="18623" y="1421"/>
                  <a:pt x="18623" y="2842"/>
                  <a:pt x="18623" y="4263"/>
                </a:cubicBezTo>
                <a:cubicBezTo>
                  <a:pt x="17191" y="11368"/>
                  <a:pt x="18623" y="14210"/>
                  <a:pt x="25785" y="17052"/>
                </a:cubicBezTo>
                <a:cubicBezTo>
                  <a:pt x="31515" y="19893"/>
                  <a:pt x="37245" y="22736"/>
                  <a:pt x="42976" y="24157"/>
                </a:cubicBezTo>
                <a:cubicBezTo>
                  <a:pt x="44408" y="25578"/>
                  <a:pt x="47273" y="25578"/>
                  <a:pt x="48706" y="25578"/>
                </a:cubicBezTo>
                <a:cubicBezTo>
                  <a:pt x="64464" y="24157"/>
                  <a:pt x="80221" y="21314"/>
                  <a:pt x="95979" y="19893"/>
                </a:cubicBezTo>
                <a:cubicBezTo>
                  <a:pt x="100277" y="18472"/>
                  <a:pt x="106007" y="17052"/>
                  <a:pt x="108872" y="11368"/>
                </a:cubicBezTo>
                <a:cubicBezTo>
                  <a:pt x="110305" y="12789"/>
                  <a:pt x="110305" y="14210"/>
                  <a:pt x="110305" y="14210"/>
                </a:cubicBezTo>
                <a:cubicBezTo>
                  <a:pt x="106007" y="28420"/>
                  <a:pt x="100277" y="41208"/>
                  <a:pt x="94546" y="55418"/>
                </a:cubicBezTo>
                <a:cubicBezTo>
                  <a:pt x="94546" y="55418"/>
                  <a:pt x="94546" y="55418"/>
                  <a:pt x="91681" y="568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2" name="Freeform 72"/>
          <p:cNvSpPr/>
          <p:nvPr/>
        </p:nvSpPr>
        <p:spPr>
          <a:xfrm>
            <a:off x="6629400" y="3365500"/>
            <a:ext cx="97514" cy="86324"/>
          </a:xfrm>
          <a:custGeom>
            <a:avLst/>
            <a:gdLst/>
            <a:ahLst/>
            <a:cxnLst/>
            <a:rect l="l" t="t" r="r" b="b"/>
            <a:pathLst>
              <a:path w="97514" h="86324">
                <a:moveTo>
                  <a:pt x="7170" y="14152"/>
                </a:moveTo>
                <a:cubicBezTo>
                  <a:pt x="7170" y="15566"/>
                  <a:pt x="7170" y="16981"/>
                  <a:pt x="7170" y="18397"/>
                </a:cubicBezTo>
                <a:cubicBezTo>
                  <a:pt x="8604" y="24058"/>
                  <a:pt x="11472" y="26887"/>
                  <a:pt x="17208" y="28303"/>
                </a:cubicBezTo>
                <a:cubicBezTo>
                  <a:pt x="28680" y="28303"/>
                  <a:pt x="41587" y="29718"/>
                  <a:pt x="53059" y="31133"/>
                </a:cubicBezTo>
                <a:cubicBezTo>
                  <a:pt x="64533" y="31133"/>
                  <a:pt x="76004" y="32549"/>
                  <a:pt x="87476" y="32549"/>
                </a:cubicBezTo>
                <a:cubicBezTo>
                  <a:pt x="88910" y="32549"/>
                  <a:pt x="90345" y="32549"/>
                  <a:pt x="91779" y="32549"/>
                </a:cubicBezTo>
                <a:cubicBezTo>
                  <a:pt x="93213" y="28303"/>
                  <a:pt x="91779" y="24058"/>
                  <a:pt x="90345" y="19812"/>
                </a:cubicBezTo>
                <a:cubicBezTo>
                  <a:pt x="88910" y="14152"/>
                  <a:pt x="87476" y="11321"/>
                  <a:pt x="83175" y="8491"/>
                </a:cubicBezTo>
                <a:cubicBezTo>
                  <a:pt x="78872" y="5660"/>
                  <a:pt x="74571" y="4246"/>
                  <a:pt x="71702" y="1415"/>
                </a:cubicBezTo>
                <a:cubicBezTo>
                  <a:pt x="80306" y="0"/>
                  <a:pt x="88910" y="1415"/>
                  <a:pt x="97514" y="2831"/>
                </a:cubicBezTo>
                <a:cubicBezTo>
                  <a:pt x="96081" y="29718"/>
                  <a:pt x="93213" y="58021"/>
                  <a:pt x="91779" y="86324"/>
                </a:cubicBezTo>
                <a:cubicBezTo>
                  <a:pt x="83175" y="86324"/>
                  <a:pt x="74571" y="86324"/>
                  <a:pt x="65966" y="84908"/>
                </a:cubicBezTo>
                <a:cubicBezTo>
                  <a:pt x="65966" y="83494"/>
                  <a:pt x="65966" y="82079"/>
                  <a:pt x="67400" y="80663"/>
                </a:cubicBezTo>
                <a:cubicBezTo>
                  <a:pt x="67400" y="80663"/>
                  <a:pt x="68834" y="80663"/>
                  <a:pt x="70268" y="80663"/>
                </a:cubicBezTo>
                <a:cubicBezTo>
                  <a:pt x="83175" y="77833"/>
                  <a:pt x="90345" y="70757"/>
                  <a:pt x="90345" y="56606"/>
                </a:cubicBezTo>
                <a:cubicBezTo>
                  <a:pt x="88910" y="55190"/>
                  <a:pt x="87476" y="55190"/>
                  <a:pt x="86042" y="55190"/>
                </a:cubicBezTo>
                <a:cubicBezTo>
                  <a:pt x="65966" y="53776"/>
                  <a:pt x="44455" y="52361"/>
                  <a:pt x="24379" y="50945"/>
                </a:cubicBezTo>
                <a:cubicBezTo>
                  <a:pt x="21511" y="50945"/>
                  <a:pt x="18642" y="49530"/>
                  <a:pt x="17208" y="49530"/>
                </a:cubicBezTo>
                <a:cubicBezTo>
                  <a:pt x="10038" y="49530"/>
                  <a:pt x="5737" y="50945"/>
                  <a:pt x="4303" y="58021"/>
                </a:cubicBezTo>
                <a:cubicBezTo>
                  <a:pt x="4303" y="59436"/>
                  <a:pt x="4303" y="60851"/>
                  <a:pt x="2868" y="63682"/>
                </a:cubicBezTo>
                <a:cubicBezTo>
                  <a:pt x="0" y="58021"/>
                  <a:pt x="2868" y="53776"/>
                  <a:pt x="2868" y="50945"/>
                </a:cubicBezTo>
                <a:cubicBezTo>
                  <a:pt x="2868" y="46700"/>
                  <a:pt x="2868" y="42455"/>
                  <a:pt x="2868" y="38209"/>
                </a:cubicBezTo>
                <a:cubicBezTo>
                  <a:pt x="2868" y="33964"/>
                  <a:pt x="2868" y="29718"/>
                  <a:pt x="4303" y="25472"/>
                </a:cubicBezTo>
                <a:cubicBezTo>
                  <a:pt x="4303" y="21227"/>
                  <a:pt x="2868" y="16981"/>
                  <a:pt x="5737" y="12737"/>
                </a:cubicBezTo>
                <a:cubicBezTo>
                  <a:pt x="5737" y="12737"/>
                  <a:pt x="5737" y="14152"/>
                  <a:pt x="7170" y="141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3" name="Freeform 73"/>
          <p:cNvSpPr/>
          <p:nvPr/>
        </p:nvSpPr>
        <p:spPr>
          <a:xfrm>
            <a:off x="6299200" y="2755900"/>
            <a:ext cx="87923" cy="110303"/>
          </a:xfrm>
          <a:custGeom>
            <a:avLst/>
            <a:gdLst/>
            <a:ahLst/>
            <a:cxnLst/>
            <a:rect l="l" t="t" r="r" b="b"/>
            <a:pathLst>
              <a:path w="87923" h="110303">
                <a:moveTo>
                  <a:pt x="8649" y="110303"/>
                </a:moveTo>
                <a:cubicBezTo>
                  <a:pt x="7207" y="106006"/>
                  <a:pt x="7207" y="104573"/>
                  <a:pt x="7207" y="101708"/>
                </a:cubicBezTo>
                <a:cubicBezTo>
                  <a:pt x="7207" y="74491"/>
                  <a:pt x="7207" y="47273"/>
                  <a:pt x="7207" y="20055"/>
                </a:cubicBezTo>
                <a:cubicBezTo>
                  <a:pt x="7207" y="12893"/>
                  <a:pt x="7207" y="5730"/>
                  <a:pt x="0" y="1433"/>
                </a:cubicBezTo>
                <a:cubicBezTo>
                  <a:pt x="5766" y="0"/>
                  <a:pt x="37475" y="14326"/>
                  <a:pt x="41800" y="20055"/>
                </a:cubicBezTo>
                <a:cubicBezTo>
                  <a:pt x="40358" y="18622"/>
                  <a:pt x="38917" y="18622"/>
                  <a:pt x="36034" y="18622"/>
                </a:cubicBezTo>
                <a:cubicBezTo>
                  <a:pt x="31709" y="17189"/>
                  <a:pt x="30269" y="18622"/>
                  <a:pt x="28828" y="22920"/>
                </a:cubicBezTo>
                <a:cubicBezTo>
                  <a:pt x="28828" y="24352"/>
                  <a:pt x="28828" y="25785"/>
                  <a:pt x="28828" y="27217"/>
                </a:cubicBezTo>
                <a:cubicBezTo>
                  <a:pt x="27386" y="44408"/>
                  <a:pt x="27386" y="61598"/>
                  <a:pt x="27386" y="78788"/>
                </a:cubicBezTo>
                <a:cubicBezTo>
                  <a:pt x="27386" y="78788"/>
                  <a:pt x="27386" y="80221"/>
                  <a:pt x="28828" y="81653"/>
                </a:cubicBezTo>
                <a:cubicBezTo>
                  <a:pt x="28828" y="81653"/>
                  <a:pt x="30269" y="81653"/>
                  <a:pt x="30269" y="81653"/>
                </a:cubicBezTo>
                <a:cubicBezTo>
                  <a:pt x="41800" y="68760"/>
                  <a:pt x="53330" y="57300"/>
                  <a:pt x="64861" y="44408"/>
                </a:cubicBezTo>
                <a:cubicBezTo>
                  <a:pt x="64861" y="44408"/>
                  <a:pt x="64861" y="44408"/>
                  <a:pt x="64861" y="44408"/>
                </a:cubicBezTo>
                <a:cubicBezTo>
                  <a:pt x="70627" y="37245"/>
                  <a:pt x="70627" y="34380"/>
                  <a:pt x="63420" y="30082"/>
                </a:cubicBezTo>
                <a:cubicBezTo>
                  <a:pt x="61979" y="28650"/>
                  <a:pt x="61979" y="28650"/>
                  <a:pt x="61979" y="27217"/>
                </a:cubicBezTo>
                <a:cubicBezTo>
                  <a:pt x="70627" y="28650"/>
                  <a:pt x="79275" y="32948"/>
                  <a:pt x="87923" y="37245"/>
                </a:cubicBezTo>
                <a:cubicBezTo>
                  <a:pt x="86482" y="38678"/>
                  <a:pt x="86482" y="38678"/>
                  <a:pt x="85040" y="38678"/>
                </a:cubicBezTo>
                <a:cubicBezTo>
                  <a:pt x="79275" y="38678"/>
                  <a:pt x="74950" y="41543"/>
                  <a:pt x="70627" y="45841"/>
                </a:cubicBezTo>
                <a:cubicBezTo>
                  <a:pt x="51888" y="65895"/>
                  <a:pt x="33151" y="85950"/>
                  <a:pt x="14413" y="104573"/>
                </a:cubicBezTo>
                <a:cubicBezTo>
                  <a:pt x="12972" y="106006"/>
                  <a:pt x="11530" y="107438"/>
                  <a:pt x="8649" y="11030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4" name="Freeform 74"/>
          <p:cNvSpPr/>
          <p:nvPr/>
        </p:nvSpPr>
        <p:spPr>
          <a:xfrm>
            <a:off x="5511800" y="3073400"/>
            <a:ext cx="100712" cy="87923"/>
          </a:xfrm>
          <a:custGeom>
            <a:avLst/>
            <a:gdLst/>
            <a:ahLst/>
            <a:cxnLst/>
            <a:rect l="l" t="t" r="r" b="b"/>
            <a:pathLst>
              <a:path w="100712" h="87923">
                <a:moveTo>
                  <a:pt x="0" y="46124"/>
                </a:moveTo>
                <a:cubicBezTo>
                  <a:pt x="0" y="38917"/>
                  <a:pt x="15603" y="5766"/>
                  <a:pt x="21278" y="0"/>
                </a:cubicBezTo>
                <a:cubicBezTo>
                  <a:pt x="19859" y="1441"/>
                  <a:pt x="19859" y="2883"/>
                  <a:pt x="19859" y="4324"/>
                </a:cubicBezTo>
                <a:cubicBezTo>
                  <a:pt x="18440" y="12972"/>
                  <a:pt x="19859" y="15855"/>
                  <a:pt x="26951" y="18738"/>
                </a:cubicBezTo>
                <a:cubicBezTo>
                  <a:pt x="45391" y="28828"/>
                  <a:pt x="63831" y="38917"/>
                  <a:pt x="82272" y="47565"/>
                </a:cubicBezTo>
                <a:cubicBezTo>
                  <a:pt x="89364" y="51888"/>
                  <a:pt x="92201" y="50448"/>
                  <a:pt x="96456" y="44682"/>
                </a:cubicBezTo>
                <a:cubicBezTo>
                  <a:pt x="97875" y="43241"/>
                  <a:pt x="99294" y="41800"/>
                  <a:pt x="100712" y="40358"/>
                </a:cubicBezTo>
                <a:cubicBezTo>
                  <a:pt x="99294" y="46124"/>
                  <a:pt x="85109" y="80716"/>
                  <a:pt x="79435" y="87923"/>
                </a:cubicBezTo>
                <a:cubicBezTo>
                  <a:pt x="79435" y="85040"/>
                  <a:pt x="79435" y="83599"/>
                  <a:pt x="79435" y="82158"/>
                </a:cubicBezTo>
                <a:cubicBezTo>
                  <a:pt x="80853" y="74950"/>
                  <a:pt x="79435" y="72067"/>
                  <a:pt x="73760" y="67744"/>
                </a:cubicBezTo>
                <a:cubicBezTo>
                  <a:pt x="55321" y="59096"/>
                  <a:pt x="36881" y="49007"/>
                  <a:pt x="18440" y="40358"/>
                </a:cubicBezTo>
                <a:cubicBezTo>
                  <a:pt x="9929" y="36034"/>
                  <a:pt x="8510" y="36034"/>
                  <a:pt x="1419" y="43241"/>
                </a:cubicBezTo>
                <a:cubicBezTo>
                  <a:pt x="1419" y="44682"/>
                  <a:pt x="1419" y="44682"/>
                  <a:pt x="0" y="46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5" name="Freeform 75"/>
          <p:cNvSpPr/>
          <p:nvPr/>
        </p:nvSpPr>
        <p:spPr>
          <a:xfrm>
            <a:off x="6629400" y="3238500"/>
            <a:ext cx="97514" cy="63945"/>
          </a:xfrm>
          <a:custGeom>
            <a:avLst/>
            <a:gdLst/>
            <a:ahLst/>
            <a:cxnLst/>
            <a:rect l="l" t="t" r="r" b="b"/>
            <a:pathLst>
              <a:path w="97514" h="63945">
                <a:moveTo>
                  <a:pt x="7066" y="63945"/>
                </a:moveTo>
                <a:cubicBezTo>
                  <a:pt x="4239" y="49734"/>
                  <a:pt x="2827" y="34103"/>
                  <a:pt x="0" y="18472"/>
                </a:cubicBezTo>
                <a:cubicBezTo>
                  <a:pt x="0" y="18472"/>
                  <a:pt x="0" y="17052"/>
                  <a:pt x="1414" y="15631"/>
                </a:cubicBezTo>
                <a:cubicBezTo>
                  <a:pt x="2827" y="18472"/>
                  <a:pt x="2827" y="19893"/>
                  <a:pt x="4239" y="21314"/>
                </a:cubicBezTo>
                <a:cubicBezTo>
                  <a:pt x="7066" y="26999"/>
                  <a:pt x="8480" y="28420"/>
                  <a:pt x="15546" y="26999"/>
                </a:cubicBezTo>
                <a:cubicBezTo>
                  <a:pt x="32504" y="24157"/>
                  <a:pt x="49464" y="21314"/>
                  <a:pt x="66424" y="18472"/>
                </a:cubicBezTo>
                <a:cubicBezTo>
                  <a:pt x="70663" y="18472"/>
                  <a:pt x="73490" y="17052"/>
                  <a:pt x="77729" y="17052"/>
                </a:cubicBezTo>
                <a:cubicBezTo>
                  <a:pt x="84795" y="15631"/>
                  <a:pt x="86209" y="12789"/>
                  <a:pt x="87622" y="7104"/>
                </a:cubicBezTo>
                <a:cubicBezTo>
                  <a:pt x="87622" y="5685"/>
                  <a:pt x="87622" y="4263"/>
                  <a:pt x="87622" y="0"/>
                </a:cubicBezTo>
                <a:cubicBezTo>
                  <a:pt x="89036" y="2842"/>
                  <a:pt x="90448" y="4263"/>
                  <a:pt x="90448" y="4263"/>
                </a:cubicBezTo>
                <a:cubicBezTo>
                  <a:pt x="91862" y="19893"/>
                  <a:pt x="94689" y="34103"/>
                  <a:pt x="97514" y="49734"/>
                </a:cubicBezTo>
                <a:cubicBezTo>
                  <a:pt x="96102" y="49734"/>
                  <a:pt x="96102" y="49734"/>
                  <a:pt x="94689" y="49734"/>
                </a:cubicBezTo>
                <a:cubicBezTo>
                  <a:pt x="94689" y="49734"/>
                  <a:pt x="93275" y="48313"/>
                  <a:pt x="93275" y="46892"/>
                </a:cubicBezTo>
                <a:cubicBezTo>
                  <a:pt x="90448" y="39788"/>
                  <a:pt x="87622" y="38367"/>
                  <a:pt x="80556" y="38367"/>
                </a:cubicBezTo>
                <a:cubicBezTo>
                  <a:pt x="60771" y="42629"/>
                  <a:pt x="39572" y="45471"/>
                  <a:pt x="19785" y="49734"/>
                </a:cubicBezTo>
                <a:cubicBezTo>
                  <a:pt x="12719" y="49734"/>
                  <a:pt x="9893" y="52577"/>
                  <a:pt x="9893" y="59681"/>
                </a:cubicBezTo>
                <a:cubicBezTo>
                  <a:pt x="9893" y="61102"/>
                  <a:pt x="8480" y="62523"/>
                  <a:pt x="8480" y="63945"/>
                </a:cubicBezTo>
                <a:cubicBezTo>
                  <a:pt x="8480" y="63945"/>
                  <a:pt x="7066" y="63945"/>
                  <a:pt x="7066" y="6394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6" name="Freeform 76"/>
          <p:cNvSpPr/>
          <p:nvPr/>
        </p:nvSpPr>
        <p:spPr>
          <a:xfrm>
            <a:off x="6172200" y="2730500"/>
            <a:ext cx="59148" cy="99113"/>
          </a:xfrm>
          <a:custGeom>
            <a:avLst/>
            <a:gdLst/>
            <a:ahLst/>
            <a:cxnLst/>
            <a:rect l="l" t="t" r="r" b="b"/>
            <a:pathLst>
              <a:path w="59148" h="99113">
                <a:moveTo>
                  <a:pt x="1408" y="90617"/>
                </a:moveTo>
                <a:cubicBezTo>
                  <a:pt x="2817" y="90617"/>
                  <a:pt x="4225" y="90617"/>
                  <a:pt x="5634" y="90617"/>
                </a:cubicBezTo>
                <a:cubicBezTo>
                  <a:pt x="11266" y="89202"/>
                  <a:pt x="14083" y="87786"/>
                  <a:pt x="14083" y="80706"/>
                </a:cubicBezTo>
                <a:cubicBezTo>
                  <a:pt x="15491" y="73627"/>
                  <a:pt x="16900" y="66547"/>
                  <a:pt x="18308" y="58052"/>
                </a:cubicBezTo>
                <a:cubicBezTo>
                  <a:pt x="19715" y="45309"/>
                  <a:pt x="21124" y="32565"/>
                  <a:pt x="22532" y="19822"/>
                </a:cubicBezTo>
                <a:cubicBezTo>
                  <a:pt x="22532" y="18406"/>
                  <a:pt x="23941" y="16991"/>
                  <a:pt x="23941" y="14159"/>
                </a:cubicBezTo>
                <a:cubicBezTo>
                  <a:pt x="23941" y="7079"/>
                  <a:pt x="22532" y="5664"/>
                  <a:pt x="15491" y="2832"/>
                </a:cubicBezTo>
                <a:cubicBezTo>
                  <a:pt x="14083" y="1416"/>
                  <a:pt x="14083" y="1416"/>
                  <a:pt x="12675" y="0"/>
                </a:cubicBezTo>
                <a:cubicBezTo>
                  <a:pt x="28166" y="1416"/>
                  <a:pt x="43656" y="2832"/>
                  <a:pt x="59148" y="5664"/>
                </a:cubicBezTo>
                <a:cubicBezTo>
                  <a:pt x="59148" y="7079"/>
                  <a:pt x="59148" y="7079"/>
                  <a:pt x="59148" y="7079"/>
                </a:cubicBezTo>
                <a:cubicBezTo>
                  <a:pt x="57739" y="7079"/>
                  <a:pt x="56331" y="8495"/>
                  <a:pt x="54924" y="8495"/>
                </a:cubicBezTo>
                <a:cubicBezTo>
                  <a:pt x="47882" y="8495"/>
                  <a:pt x="45065" y="9911"/>
                  <a:pt x="45065" y="18406"/>
                </a:cubicBezTo>
                <a:cubicBezTo>
                  <a:pt x="42249" y="33981"/>
                  <a:pt x="39432" y="50973"/>
                  <a:pt x="38024" y="66547"/>
                </a:cubicBezTo>
                <a:cubicBezTo>
                  <a:pt x="36615" y="72211"/>
                  <a:pt x="36615" y="77875"/>
                  <a:pt x="35207" y="82122"/>
                </a:cubicBezTo>
                <a:cubicBezTo>
                  <a:pt x="35207" y="90617"/>
                  <a:pt x="36615" y="93449"/>
                  <a:pt x="43656" y="96281"/>
                </a:cubicBezTo>
                <a:cubicBezTo>
                  <a:pt x="45065" y="96281"/>
                  <a:pt x="45065" y="97697"/>
                  <a:pt x="46473" y="97697"/>
                </a:cubicBezTo>
                <a:cubicBezTo>
                  <a:pt x="46473" y="97697"/>
                  <a:pt x="46473" y="97697"/>
                  <a:pt x="46473" y="99113"/>
                </a:cubicBezTo>
                <a:cubicBezTo>
                  <a:pt x="30983" y="97697"/>
                  <a:pt x="15491" y="96281"/>
                  <a:pt x="0" y="93449"/>
                </a:cubicBezTo>
                <a:cubicBezTo>
                  <a:pt x="1408" y="92033"/>
                  <a:pt x="1408" y="92033"/>
                  <a:pt x="1408" y="9061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7" name="Freeform 77"/>
          <p:cNvSpPr/>
          <p:nvPr/>
        </p:nvSpPr>
        <p:spPr>
          <a:xfrm>
            <a:off x="5816600" y="3848100"/>
            <a:ext cx="73536" cy="95915"/>
          </a:xfrm>
          <a:custGeom>
            <a:avLst/>
            <a:gdLst/>
            <a:ahLst/>
            <a:cxnLst/>
            <a:rect l="l" t="t" r="r" b="b"/>
            <a:pathLst>
              <a:path w="73536" h="95915">
                <a:moveTo>
                  <a:pt x="1415" y="73011"/>
                </a:moveTo>
                <a:cubicBezTo>
                  <a:pt x="2828" y="73011"/>
                  <a:pt x="5657" y="73011"/>
                  <a:pt x="7071" y="74442"/>
                </a:cubicBezTo>
                <a:cubicBezTo>
                  <a:pt x="14141" y="75874"/>
                  <a:pt x="18385" y="74442"/>
                  <a:pt x="22626" y="67285"/>
                </a:cubicBezTo>
                <a:cubicBezTo>
                  <a:pt x="29698" y="50105"/>
                  <a:pt x="38183" y="32926"/>
                  <a:pt x="45253" y="17179"/>
                </a:cubicBezTo>
                <a:cubicBezTo>
                  <a:pt x="46667" y="15748"/>
                  <a:pt x="46667" y="14315"/>
                  <a:pt x="46667" y="12884"/>
                </a:cubicBezTo>
                <a:cubicBezTo>
                  <a:pt x="48081" y="7158"/>
                  <a:pt x="46667" y="4295"/>
                  <a:pt x="41011" y="2863"/>
                </a:cubicBezTo>
                <a:cubicBezTo>
                  <a:pt x="39596" y="2863"/>
                  <a:pt x="36768" y="2863"/>
                  <a:pt x="32526" y="1431"/>
                </a:cubicBezTo>
                <a:cubicBezTo>
                  <a:pt x="38183" y="0"/>
                  <a:pt x="62222" y="0"/>
                  <a:pt x="73536" y="1431"/>
                </a:cubicBezTo>
                <a:cubicBezTo>
                  <a:pt x="73536" y="2863"/>
                  <a:pt x="73536" y="4295"/>
                  <a:pt x="72122" y="5726"/>
                </a:cubicBezTo>
                <a:cubicBezTo>
                  <a:pt x="62222" y="28632"/>
                  <a:pt x="52324" y="51537"/>
                  <a:pt x="41011" y="74442"/>
                </a:cubicBezTo>
                <a:cubicBezTo>
                  <a:pt x="36768" y="84464"/>
                  <a:pt x="36768" y="87326"/>
                  <a:pt x="46667" y="93053"/>
                </a:cubicBezTo>
                <a:cubicBezTo>
                  <a:pt x="46667" y="93053"/>
                  <a:pt x="48081" y="94484"/>
                  <a:pt x="48081" y="94484"/>
                </a:cubicBezTo>
                <a:cubicBezTo>
                  <a:pt x="48081" y="94484"/>
                  <a:pt x="48081" y="95915"/>
                  <a:pt x="48081" y="95915"/>
                </a:cubicBezTo>
                <a:cubicBezTo>
                  <a:pt x="48081" y="95915"/>
                  <a:pt x="46667" y="95915"/>
                  <a:pt x="46667" y="95915"/>
                </a:cubicBezTo>
                <a:cubicBezTo>
                  <a:pt x="32526" y="88758"/>
                  <a:pt x="18385" y="83031"/>
                  <a:pt x="2828" y="75874"/>
                </a:cubicBezTo>
                <a:cubicBezTo>
                  <a:pt x="1415" y="75874"/>
                  <a:pt x="1415" y="74442"/>
                  <a:pt x="0" y="74442"/>
                </a:cubicBezTo>
                <a:cubicBezTo>
                  <a:pt x="1415" y="73011"/>
                  <a:pt x="1415" y="73011"/>
                  <a:pt x="1415" y="7301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8" name="Freeform 78"/>
          <p:cNvSpPr/>
          <p:nvPr/>
        </p:nvSpPr>
        <p:spPr>
          <a:xfrm>
            <a:off x="5626100" y="2895600"/>
            <a:ext cx="927189" cy="925590"/>
          </a:xfrm>
          <a:custGeom>
            <a:avLst/>
            <a:gdLst/>
            <a:ahLst/>
            <a:cxnLst/>
            <a:rect l="l" t="t" r="r" b="b"/>
            <a:pathLst>
              <a:path w="927189" h="925590">
                <a:moveTo>
                  <a:pt x="927189" y="462796"/>
                </a:moveTo>
                <a:cubicBezTo>
                  <a:pt x="927189" y="716906"/>
                  <a:pt x="719567" y="925590"/>
                  <a:pt x="463594" y="925590"/>
                </a:cubicBezTo>
                <a:cubicBezTo>
                  <a:pt x="209045" y="925590"/>
                  <a:pt x="0" y="719746"/>
                  <a:pt x="0" y="462796"/>
                </a:cubicBezTo>
                <a:cubicBezTo>
                  <a:pt x="0" y="207264"/>
                  <a:pt x="207622" y="0"/>
                  <a:pt x="463594" y="0"/>
                </a:cubicBezTo>
                <a:cubicBezTo>
                  <a:pt x="719567" y="0"/>
                  <a:pt x="927189" y="208684"/>
                  <a:pt x="927189" y="462796"/>
                </a:cubicBezTo>
                <a:close/>
                <a:moveTo>
                  <a:pt x="426621" y="522418"/>
                </a:moveTo>
                <a:cubicBezTo>
                  <a:pt x="426621" y="525258"/>
                  <a:pt x="426621" y="526678"/>
                  <a:pt x="426621" y="529518"/>
                </a:cubicBezTo>
                <a:cubicBezTo>
                  <a:pt x="426621" y="546552"/>
                  <a:pt x="426621" y="562168"/>
                  <a:pt x="426621" y="579204"/>
                </a:cubicBezTo>
                <a:cubicBezTo>
                  <a:pt x="426621" y="580624"/>
                  <a:pt x="426621" y="582042"/>
                  <a:pt x="426621" y="583462"/>
                </a:cubicBezTo>
                <a:cubicBezTo>
                  <a:pt x="426621" y="591980"/>
                  <a:pt x="422355" y="599078"/>
                  <a:pt x="415244" y="603338"/>
                </a:cubicBezTo>
                <a:cubicBezTo>
                  <a:pt x="412399" y="604756"/>
                  <a:pt x="409556" y="607596"/>
                  <a:pt x="405290" y="609016"/>
                </a:cubicBezTo>
                <a:cubicBezTo>
                  <a:pt x="379692" y="626050"/>
                  <a:pt x="358361" y="648764"/>
                  <a:pt x="339875" y="674318"/>
                </a:cubicBezTo>
                <a:cubicBezTo>
                  <a:pt x="319965" y="704130"/>
                  <a:pt x="307167" y="738200"/>
                  <a:pt x="298634" y="772272"/>
                </a:cubicBezTo>
                <a:cubicBezTo>
                  <a:pt x="297213" y="779370"/>
                  <a:pt x="295791" y="785048"/>
                  <a:pt x="295791" y="792146"/>
                </a:cubicBezTo>
                <a:cubicBezTo>
                  <a:pt x="294368" y="810602"/>
                  <a:pt x="305745" y="824798"/>
                  <a:pt x="324232" y="827636"/>
                </a:cubicBezTo>
                <a:cubicBezTo>
                  <a:pt x="339875" y="830476"/>
                  <a:pt x="358361" y="824798"/>
                  <a:pt x="364049" y="803504"/>
                </a:cubicBezTo>
                <a:cubicBezTo>
                  <a:pt x="364049" y="802084"/>
                  <a:pt x="365472" y="799244"/>
                  <a:pt x="365472" y="797824"/>
                </a:cubicBezTo>
                <a:cubicBezTo>
                  <a:pt x="369738" y="787888"/>
                  <a:pt x="372582" y="776530"/>
                  <a:pt x="375426" y="766592"/>
                </a:cubicBezTo>
                <a:cubicBezTo>
                  <a:pt x="383959" y="742460"/>
                  <a:pt x="395336" y="721166"/>
                  <a:pt x="410978" y="699872"/>
                </a:cubicBezTo>
                <a:cubicBezTo>
                  <a:pt x="419510" y="688514"/>
                  <a:pt x="430887" y="678576"/>
                  <a:pt x="443686" y="671478"/>
                </a:cubicBezTo>
                <a:cubicBezTo>
                  <a:pt x="456484" y="664380"/>
                  <a:pt x="469283" y="664380"/>
                  <a:pt x="482082" y="671478"/>
                </a:cubicBezTo>
                <a:cubicBezTo>
                  <a:pt x="484925" y="672898"/>
                  <a:pt x="489191" y="674318"/>
                  <a:pt x="492036" y="677158"/>
                </a:cubicBezTo>
                <a:cubicBezTo>
                  <a:pt x="504834" y="685674"/>
                  <a:pt x="514789" y="697032"/>
                  <a:pt x="523321" y="709808"/>
                </a:cubicBezTo>
                <a:cubicBezTo>
                  <a:pt x="537541" y="732522"/>
                  <a:pt x="547497" y="756656"/>
                  <a:pt x="554606" y="780790"/>
                </a:cubicBezTo>
                <a:cubicBezTo>
                  <a:pt x="557451" y="789306"/>
                  <a:pt x="560295" y="799244"/>
                  <a:pt x="563140" y="807762"/>
                </a:cubicBezTo>
                <a:cubicBezTo>
                  <a:pt x="567406" y="817700"/>
                  <a:pt x="573094" y="823378"/>
                  <a:pt x="583048" y="826216"/>
                </a:cubicBezTo>
                <a:cubicBezTo>
                  <a:pt x="604379" y="834734"/>
                  <a:pt x="634243" y="819118"/>
                  <a:pt x="629977" y="787888"/>
                </a:cubicBezTo>
                <a:cubicBezTo>
                  <a:pt x="628555" y="777950"/>
                  <a:pt x="625710" y="769432"/>
                  <a:pt x="624289" y="760914"/>
                </a:cubicBezTo>
                <a:cubicBezTo>
                  <a:pt x="615756" y="731102"/>
                  <a:pt x="605801" y="704130"/>
                  <a:pt x="588736" y="678576"/>
                </a:cubicBezTo>
                <a:cubicBezTo>
                  <a:pt x="568828" y="647346"/>
                  <a:pt x="543230" y="623212"/>
                  <a:pt x="511945" y="603338"/>
                </a:cubicBezTo>
                <a:cubicBezTo>
                  <a:pt x="503413" y="599078"/>
                  <a:pt x="499147" y="591980"/>
                  <a:pt x="499147" y="582042"/>
                </a:cubicBezTo>
                <a:cubicBezTo>
                  <a:pt x="499147" y="563588"/>
                  <a:pt x="499147" y="546552"/>
                  <a:pt x="499147" y="528098"/>
                </a:cubicBezTo>
                <a:cubicBezTo>
                  <a:pt x="499147" y="526678"/>
                  <a:pt x="499147" y="525258"/>
                  <a:pt x="500568" y="522418"/>
                </a:cubicBezTo>
                <a:cubicBezTo>
                  <a:pt x="503413" y="522418"/>
                  <a:pt x="504834" y="523838"/>
                  <a:pt x="507679" y="523838"/>
                </a:cubicBezTo>
                <a:cubicBezTo>
                  <a:pt x="534698" y="533776"/>
                  <a:pt x="557451" y="547972"/>
                  <a:pt x="577360" y="567846"/>
                </a:cubicBezTo>
                <a:cubicBezTo>
                  <a:pt x="604379" y="591980"/>
                  <a:pt x="624289" y="620372"/>
                  <a:pt x="644197" y="651604"/>
                </a:cubicBezTo>
                <a:cubicBezTo>
                  <a:pt x="656996" y="674318"/>
                  <a:pt x="669794" y="698452"/>
                  <a:pt x="681171" y="722584"/>
                </a:cubicBezTo>
                <a:cubicBezTo>
                  <a:pt x="684016" y="729682"/>
                  <a:pt x="688282" y="735362"/>
                  <a:pt x="695392" y="741040"/>
                </a:cubicBezTo>
                <a:cubicBezTo>
                  <a:pt x="702502" y="746718"/>
                  <a:pt x="712456" y="750978"/>
                  <a:pt x="722412" y="748138"/>
                </a:cubicBezTo>
                <a:cubicBezTo>
                  <a:pt x="736632" y="743880"/>
                  <a:pt x="745164" y="735362"/>
                  <a:pt x="748008" y="721166"/>
                </a:cubicBezTo>
                <a:cubicBezTo>
                  <a:pt x="750852" y="709808"/>
                  <a:pt x="749431" y="699872"/>
                  <a:pt x="745164" y="689934"/>
                </a:cubicBezTo>
                <a:cubicBezTo>
                  <a:pt x="739475" y="677158"/>
                  <a:pt x="733788" y="665800"/>
                  <a:pt x="728100" y="653024"/>
                </a:cubicBezTo>
                <a:cubicBezTo>
                  <a:pt x="708190" y="609016"/>
                  <a:pt x="682593" y="567846"/>
                  <a:pt x="648463" y="532356"/>
                </a:cubicBezTo>
                <a:cubicBezTo>
                  <a:pt x="614333" y="498286"/>
                  <a:pt x="575937" y="472732"/>
                  <a:pt x="530432" y="457116"/>
                </a:cubicBezTo>
                <a:cubicBezTo>
                  <a:pt x="520478" y="454278"/>
                  <a:pt x="510522" y="451438"/>
                  <a:pt x="499147" y="448598"/>
                </a:cubicBezTo>
                <a:cubicBezTo>
                  <a:pt x="499147" y="442920"/>
                  <a:pt x="499147" y="437242"/>
                  <a:pt x="499147" y="431564"/>
                </a:cubicBezTo>
                <a:cubicBezTo>
                  <a:pt x="497724" y="423046"/>
                  <a:pt x="496302" y="413108"/>
                  <a:pt x="490614" y="406010"/>
                </a:cubicBezTo>
                <a:cubicBezTo>
                  <a:pt x="476394" y="384716"/>
                  <a:pt x="449374" y="384716"/>
                  <a:pt x="435153" y="406010"/>
                </a:cubicBezTo>
                <a:cubicBezTo>
                  <a:pt x="429464" y="414528"/>
                  <a:pt x="428043" y="424466"/>
                  <a:pt x="428043" y="432984"/>
                </a:cubicBezTo>
                <a:cubicBezTo>
                  <a:pt x="426621" y="438662"/>
                  <a:pt x="426621" y="442920"/>
                  <a:pt x="426621" y="448598"/>
                </a:cubicBezTo>
                <a:cubicBezTo>
                  <a:pt x="425199" y="450018"/>
                  <a:pt x="423776" y="450018"/>
                  <a:pt x="420933" y="450018"/>
                </a:cubicBezTo>
                <a:cubicBezTo>
                  <a:pt x="375426" y="461376"/>
                  <a:pt x="334187" y="481250"/>
                  <a:pt x="298634" y="512482"/>
                </a:cubicBezTo>
                <a:cubicBezTo>
                  <a:pt x="271615" y="536616"/>
                  <a:pt x="248862" y="565008"/>
                  <a:pt x="228953" y="596238"/>
                </a:cubicBezTo>
                <a:cubicBezTo>
                  <a:pt x="210466" y="624632"/>
                  <a:pt x="196245" y="655862"/>
                  <a:pt x="182025" y="685674"/>
                </a:cubicBezTo>
                <a:cubicBezTo>
                  <a:pt x="179180" y="695612"/>
                  <a:pt x="176337" y="705550"/>
                  <a:pt x="177758" y="715486"/>
                </a:cubicBezTo>
                <a:cubicBezTo>
                  <a:pt x="179180" y="731102"/>
                  <a:pt x="184869" y="741040"/>
                  <a:pt x="199090" y="746718"/>
                </a:cubicBezTo>
                <a:cubicBezTo>
                  <a:pt x="213310" y="752396"/>
                  <a:pt x="226110" y="746718"/>
                  <a:pt x="234641" y="736782"/>
                </a:cubicBezTo>
                <a:cubicBezTo>
                  <a:pt x="238907" y="732522"/>
                  <a:pt x="241752" y="726844"/>
                  <a:pt x="244596" y="722584"/>
                </a:cubicBezTo>
                <a:cubicBezTo>
                  <a:pt x="257395" y="699872"/>
                  <a:pt x="268771" y="675738"/>
                  <a:pt x="281569" y="654444"/>
                </a:cubicBezTo>
                <a:cubicBezTo>
                  <a:pt x="300057" y="621792"/>
                  <a:pt x="322810" y="591980"/>
                  <a:pt x="349829" y="566428"/>
                </a:cubicBezTo>
                <a:cubicBezTo>
                  <a:pt x="369738" y="547972"/>
                  <a:pt x="392491" y="533776"/>
                  <a:pt x="418088" y="525258"/>
                </a:cubicBezTo>
                <a:cubicBezTo>
                  <a:pt x="420933" y="523838"/>
                  <a:pt x="423776" y="522418"/>
                  <a:pt x="426621" y="522418"/>
                </a:cubicBezTo>
                <a:close/>
                <a:moveTo>
                  <a:pt x="359783" y="158998"/>
                </a:moveTo>
                <a:cubicBezTo>
                  <a:pt x="358361" y="160416"/>
                  <a:pt x="355517" y="160416"/>
                  <a:pt x="354095" y="161836"/>
                </a:cubicBezTo>
                <a:cubicBezTo>
                  <a:pt x="341296" y="166096"/>
                  <a:pt x="328498" y="168934"/>
                  <a:pt x="315699" y="173194"/>
                </a:cubicBezTo>
                <a:cubicBezTo>
                  <a:pt x="265927" y="190228"/>
                  <a:pt x="218999" y="211522"/>
                  <a:pt x="174915" y="239916"/>
                </a:cubicBezTo>
                <a:cubicBezTo>
                  <a:pt x="156427" y="252692"/>
                  <a:pt x="137941" y="266888"/>
                  <a:pt x="120876" y="283924"/>
                </a:cubicBezTo>
                <a:cubicBezTo>
                  <a:pt x="115188" y="289602"/>
                  <a:pt x="109499" y="295280"/>
                  <a:pt x="106655" y="303798"/>
                </a:cubicBezTo>
                <a:cubicBezTo>
                  <a:pt x="100966" y="319414"/>
                  <a:pt x="108077" y="336450"/>
                  <a:pt x="123720" y="342128"/>
                </a:cubicBezTo>
                <a:cubicBezTo>
                  <a:pt x="133675" y="346386"/>
                  <a:pt x="143629" y="346386"/>
                  <a:pt x="153584" y="343548"/>
                </a:cubicBezTo>
                <a:cubicBezTo>
                  <a:pt x="162116" y="340708"/>
                  <a:pt x="167804" y="336450"/>
                  <a:pt x="174915" y="332190"/>
                </a:cubicBezTo>
                <a:cubicBezTo>
                  <a:pt x="190557" y="320834"/>
                  <a:pt x="207622" y="308056"/>
                  <a:pt x="224687" y="298120"/>
                </a:cubicBezTo>
                <a:cubicBezTo>
                  <a:pt x="264505" y="271146"/>
                  <a:pt x="307167" y="249852"/>
                  <a:pt x="354095" y="234236"/>
                </a:cubicBezTo>
                <a:cubicBezTo>
                  <a:pt x="355517" y="234236"/>
                  <a:pt x="358361" y="232818"/>
                  <a:pt x="359783" y="232818"/>
                </a:cubicBezTo>
                <a:cubicBezTo>
                  <a:pt x="359783" y="259790"/>
                  <a:pt x="359783" y="286762"/>
                  <a:pt x="359783" y="312316"/>
                </a:cubicBezTo>
                <a:cubicBezTo>
                  <a:pt x="358361" y="313736"/>
                  <a:pt x="356940" y="313736"/>
                  <a:pt x="355517" y="315154"/>
                </a:cubicBezTo>
                <a:cubicBezTo>
                  <a:pt x="263083" y="350646"/>
                  <a:pt x="186291" y="408850"/>
                  <a:pt x="127987" y="489768"/>
                </a:cubicBezTo>
                <a:cubicBezTo>
                  <a:pt x="115188" y="506804"/>
                  <a:pt x="103811" y="525258"/>
                  <a:pt x="92434" y="543714"/>
                </a:cubicBezTo>
                <a:cubicBezTo>
                  <a:pt x="88168" y="549392"/>
                  <a:pt x="85324" y="555070"/>
                  <a:pt x="85324" y="560748"/>
                </a:cubicBezTo>
                <a:cubicBezTo>
                  <a:pt x="85324" y="579204"/>
                  <a:pt x="96700" y="594820"/>
                  <a:pt x="113765" y="599078"/>
                </a:cubicBezTo>
                <a:cubicBezTo>
                  <a:pt x="127987" y="603338"/>
                  <a:pt x="139362" y="599078"/>
                  <a:pt x="147895" y="586302"/>
                </a:cubicBezTo>
                <a:cubicBezTo>
                  <a:pt x="152161" y="580624"/>
                  <a:pt x="156427" y="573526"/>
                  <a:pt x="160694" y="567846"/>
                </a:cubicBezTo>
                <a:cubicBezTo>
                  <a:pt x="180603" y="539454"/>
                  <a:pt x="203356" y="512482"/>
                  <a:pt x="227531" y="486928"/>
                </a:cubicBezTo>
                <a:cubicBezTo>
                  <a:pt x="251706" y="461376"/>
                  <a:pt x="277303" y="438662"/>
                  <a:pt x="305745" y="420206"/>
                </a:cubicBezTo>
                <a:cubicBezTo>
                  <a:pt x="337030" y="400332"/>
                  <a:pt x="371160" y="384716"/>
                  <a:pt x="406711" y="374778"/>
                </a:cubicBezTo>
                <a:cubicBezTo>
                  <a:pt x="426621" y="369100"/>
                  <a:pt x="432309" y="359164"/>
                  <a:pt x="432309" y="340708"/>
                </a:cubicBezTo>
                <a:cubicBezTo>
                  <a:pt x="432309" y="268308"/>
                  <a:pt x="432309" y="195908"/>
                  <a:pt x="432309" y="124926"/>
                </a:cubicBezTo>
                <a:cubicBezTo>
                  <a:pt x="432309" y="119248"/>
                  <a:pt x="432309" y="114988"/>
                  <a:pt x="430887" y="110730"/>
                </a:cubicBezTo>
                <a:cubicBezTo>
                  <a:pt x="430887" y="105052"/>
                  <a:pt x="429464" y="97954"/>
                  <a:pt x="425199" y="92276"/>
                </a:cubicBezTo>
                <a:cubicBezTo>
                  <a:pt x="416667" y="78078"/>
                  <a:pt x="398179" y="72400"/>
                  <a:pt x="382537" y="79498"/>
                </a:cubicBezTo>
                <a:cubicBezTo>
                  <a:pt x="371160" y="86596"/>
                  <a:pt x="364049" y="96534"/>
                  <a:pt x="361206" y="109310"/>
                </a:cubicBezTo>
                <a:cubicBezTo>
                  <a:pt x="361206" y="114988"/>
                  <a:pt x="361206" y="120668"/>
                  <a:pt x="359783" y="127766"/>
                </a:cubicBezTo>
                <a:cubicBezTo>
                  <a:pt x="359783" y="137702"/>
                  <a:pt x="359783" y="149060"/>
                  <a:pt x="359783" y="158998"/>
                </a:cubicBezTo>
                <a:close/>
                <a:moveTo>
                  <a:pt x="565983" y="158998"/>
                </a:moveTo>
                <a:cubicBezTo>
                  <a:pt x="565983" y="156158"/>
                  <a:pt x="565983" y="153318"/>
                  <a:pt x="565983" y="150480"/>
                </a:cubicBezTo>
                <a:cubicBezTo>
                  <a:pt x="565983" y="139122"/>
                  <a:pt x="565983" y="127766"/>
                  <a:pt x="565983" y="116408"/>
                </a:cubicBezTo>
                <a:cubicBezTo>
                  <a:pt x="564562" y="107890"/>
                  <a:pt x="563140" y="99374"/>
                  <a:pt x="557451" y="92276"/>
                </a:cubicBezTo>
                <a:cubicBezTo>
                  <a:pt x="548918" y="80918"/>
                  <a:pt x="537541" y="75240"/>
                  <a:pt x="523321" y="76660"/>
                </a:cubicBezTo>
                <a:cubicBezTo>
                  <a:pt x="509101" y="79498"/>
                  <a:pt x="500568" y="88016"/>
                  <a:pt x="496302" y="100792"/>
                </a:cubicBezTo>
                <a:cubicBezTo>
                  <a:pt x="494880" y="106472"/>
                  <a:pt x="493458" y="113570"/>
                  <a:pt x="493458" y="120668"/>
                </a:cubicBezTo>
                <a:cubicBezTo>
                  <a:pt x="493458" y="194488"/>
                  <a:pt x="493458" y="268308"/>
                  <a:pt x="493458" y="343548"/>
                </a:cubicBezTo>
                <a:cubicBezTo>
                  <a:pt x="493458" y="343548"/>
                  <a:pt x="493458" y="344966"/>
                  <a:pt x="493458" y="344966"/>
                </a:cubicBezTo>
                <a:cubicBezTo>
                  <a:pt x="493458" y="356324"/>
                  <a:pt x="499147" y="364842"/>
                  <a:pt x="509101" y="369100"/>
                </a:cubicBezTo>
                <a:cubicBezTo>
                  <a:pt x="513367" y="371940"/>
                  <a:pt x="519055" y="373360"/>
                  <a:pt x="524744" y="374778"/>
                </a:cubicBezTo>
                <a:cubicBezTo>
                  <a:pt x="550341" y="383296"/>
                  <a:pt x="575937" y="393234"/>
                  <a:pt x="598691" y="406010"/>
                </a:cubicBezTo>
                <a:cubicBezTo>
                  <a:pt x="638509" y="427304"/>
                  <a:pt x="672639" y="455696"/>
                  <a:pt x="701081" y="488348"/>
                </a:cubicBezTo>
                <a:cubicBezTo>
                  <a:pt x="729521" y="518160"/>
                  <a:pt x="753697" y="550812"/>
                  <a:pt x="776450" y="584882"/>
                </a:cubicBezTo>
                <a:cubicBezTo>
                  <a:pt x="777871" y="586302"/>
                  <a:pt x="779294" y="589140"/>
                  <a:pt x="780716" y="590560"/>
                </a:cubicBezTo>
                <a:cubicBezTo>
                  <a:pt x="786404" y="597658"/>
                  <a:pt x="793515" y="600498"/>
                  <a:pt x="802047" y="600498"/>
                </a:cubicBezTo>
                <a:cubicBezTo>
                  <a:pt x="830489" y="600498"/>
                  <a:pt x="850397" y="570686"/>
                  <a:pt x="834754" y="545132"/>
                </a:cubicBezTo>
                <a:cubicBezTo>
                  <a:pt x="826223" y="530936"/>
                  <a:pt x="819112" y="518160"/>
                  <a:pt x="809158" y="503964"/>
                </a:cubicBezTo>
                <a:cubicBezTo>
                  <a:pt x="750852" y="420206"/>
                  <a:pt x="674060" y="356324"/>
                  <a:pt x="578782" y="317994"/>
                </a:cubicBezTo>
                <a:cubicBezTo>
                  <a:pt x="574516" y="316574"/>
                  <a:pt x="570249" y="315154"/>
                  <a:pt x="565983" y="312316"/>
                </a:cubicBezTo>
                <a:cubicBezTo>
                  <a:pt x="565983" y="285342"/>
                  <a:pt x="565983" y="259790"/>
                  <a:pt x="565983" y="232818"/>
                </a:cubicBezTo>
                <a:cubicBezTo>
                  <a:pt x="567406" y="232818"/>
                  <a:pt x="567406" y="232818"/>
                  <a:pt x="567406" y="232818"/>
                </a:cubicBezTo>
                <a:cubicBezTo>
                  <a:pt x="570249" y="234236"/>
                  <a:pt x="571671" y="234236"/>
                  <a:pt x="573094" y="234236"/>
                </a:cubicBezTo>
                <a:cubicBezTo>
                  <a:pt x="624289" y="251272"/>
                  <a:pt x="672639" y="276826"/>
                  <a:pt x="716723" y="308056"/>
                </a:cubicBezTo>
                <a:cubicBezTo>
                  <a:pt x="729521" y="316574"/>
                  <a:pt x="742320" y="326512"/>
                  <a:pt x="756540" y="335030"/>
                </a:cubicBezTo>
                <a:cubicBezTo>
                  <a:pt x="766496" y="343548"/>
                  <a:pt x="777871" y="346386"/>
                  <a:pt x="790670" y="344966"/>
                </a:cubicBezTo>
                <a:cubicBezTo>
                  <a:pt x="814846" y="343548"/>
                  <a:pt x="827644" y="320834"/>
                  <a:pt x="817690" y="299540"/>
                </a:cubicBezTo>
                <a:cubicBezTo>
                  <a:pt x="813424" y="292442"/>
                  <a:pt x="809158" y="286762"/>
                  <a:pt x="804890" y="282504"/>
                </a:cubicBezTo>
                <a:cubicBezTo>
                  <a:pt x="780716" y="258370"/>
                  <a:pt x="752274" y="239916"/>
                  <a:pt x="723833" y="222880"/>
                </a:cubicBezTo>
                <a:cubicBezTo>
                  <a:pt x="682593" y="200166"/>
                  <a:pt x="639931" y="183130"/>
                  <a:pt x="594425" y="168934"/>
                </a:cubicBezTo>
                <a:cubicBezTo>
                  <a:pt x="585893" y="164676"/>
                  <a:pt x="575937" y="161836"/>
                  <a:pt x="565983" y="15899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9" name="AutoShape 79"/>
          <p:cNvSpPr/>
          <p:nvPr/>
        </p:nvSpPr>
        <p:spPr>
          <a:xfrm>
            <a:off x="381000" y="4127500"/>
            <a:ext cx="11430000" cy="762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ctr">
              <a:lnSpc>
                <a:spcPct val="100000"/>
              </a:lnSpc>
              <a:defRPr/>
            </a:pPr>
            <a:r>
              <a:rPr lang="zh-CN" altLang="en-US" sz="28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事件驱动</a:t>
            </a:r>
            <a:r>
              <a:rPr lang="en-US" sz="28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投资策略与系统</a:t>
            </a:r>
            <a:endParaRPr lang="en-US" sz="1100"/>
          </a:p>
        </p:txBody>
      </p:sp>
      <p:sp>
        <p:nvSpPr>
          <p:cNvPr id="80" name="AutoShape 80"/>
          <p:cNvSpPr/>
          <p:nvPr/>
        </p:nvSpPr>
        <p:spPr>
          <a:xfrm>
            <a:off x="381000" y="4826000"/>
            <a:ext cx="11430000" cy="508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ctr">
              <a:lnSpc>
                <a:spcPct val="108000"/>
              </a:lnSpc>
              <a:defRPr/>
            </a:pPr>
            <a:r>
              <a:rPr lang="en-US" sz="16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提前捕捉下一个市场热点 | 北京大学</a:t>
            </a:r>
            <a:r>
              <a:rPr lang="zh-CN" altLang="en-US" sz="16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期末</a:t>
            </a:r>
            <a:r>
              <a:rPr lang="zh-CN" altLang="en-US" sz="16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a:t>
            </a:r>
            <a:endParaRPr lang="zh-CN" altLang="en-US" sz="16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1" name="AutoShape 81"/>
          <p:cNvSpPr/>
          <p:nvPr/>
        </p:nvSpPr>
        <p:spPr>
          <a:xfrm>
            <a:off x="508000" y="5588000"/>
            <a:ext cx="3556000" cy="6350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0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答辩人：</a:t>
            </a:r>
            <a:endParaRPr lang="zh-CN" alt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2" name="AutoShape 82"/>
          <p:cNvSpPr/>
          <p:nvPr/>
        </p:nvSpPr>
        <p:spPr>
          <a:xfrm>
            <a:off x="4064000" y="5588000"/>
            <a:ext cx="3556000" cy="6350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指导教师：</a:t>
            </a:r>
            <a:endParaRPr lang="en-US" sz="1100"/>
          </a:p>
        </p:txBody>
      </p:sp>
      <p:sp>
        <p:nvSpPr>
          <p:cNvPr id="83" name="AutoShape 83"/>
          <p:cNvSpPr/>
          <p:nvPr/>
        </p:nvSpPr>
        <p:spPr>
          <a:xfrm>
            <a:off x="7747000" y="5588000"/>
            <a:ext cx="3175000" cy="635000"/>
          </a:xfrm>
          <a:prstGeom prst="rect">
            <a:avLst/>
          </a:prstGeom>
          <a:noFill/>
          <a:ln w="12700" cap="flat" cmpd="sng">
            <a:noFill/>
            <a:prstDash val="solid"/>
            <a:round/>
          </a:ln>
        </p:spPr>
        <p:txBody>
          <a:bodyPr vert="horz" wrap="square" lIns="88900" tIns="50800" rIns="88900" bIns="50800" rtlCol="0" anchor="ctr" anchorCtr="0"/>
          <a:lstStyle/>
          <a:p>
            <a:pPr indent="0" algn="r">
              <a:lnSpc>
                <a:spcPct val="100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所在院系：</a:t>
            </a:r>
            <a:r>
              <a:rPr lang="zh-CN" alt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软件与微电子</a:t>
            </a:r>
            <a:r>
              <a:rPr lang="zh-CN" alt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学院</a:t>
            </a:r>
            <a:endParaRPr lang="zh-CN" alt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60400" y="2413000"/>
            <a:ext cx="3225800" cy="1270000"/>
          </a:xfrm>
          <a:prstGeom prst="rect">
            <a:avLst/>
          </a:prstGeom>
          <a:noFill/>
          <a:ln w="12700" cap="flat" cmpd="sng">
            <a:noFill/>
            <a:prstDash val="solid"/>
            <a:round/>
          </a:ln>
        </p:spPr>
        <p:txBody>
          <a:bodyPr vert="horz" wrap="square" lIns="88900" tIns="50800" rIns="88900" bIns="50800" rtlCol="0" anchor="t" anchorCtr="0"/>
          <a:lstStyle/>
          <a:p>
            <a:pPr indent="0" algn="l">
              <a:lnSpc>
                <a:spcPct val="92000"/>
              </a:lnSpc>
              <a:defRPr/>
            </a:pPr>
            <a:r>
              <a:rPr lang="en-US" sz="64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a:t>
            </a:r>
            <a:endParaRPr lang="en-US" sz="1100"/>
          </a:p>
        </p:txBody>
      </p:sp>
      <p:sp>
        <p:nvSpPr>
          <p:cNvPr id="3" name="AutoShape 3"/>
          <p:cNvSpPr/>
          <p:nvPr/>
        </p:nvSpPr>
        <p:spPr>
          <a:xfrm>
            <a:off x="762000" y="3937000"/>
            <a:ext cx="3048000" cy="762000"/>
          </a:xfrm>
          <a:prstGeom prst="rect">
            <a:avLst/>
          </a:prstGeom>
          <a:noFill/>
          <a:ln w="12700" cap="flat" cmpd="sng">
            <a:noFill/>
            <a:prstDash val="solid"/>
            <a:round/>
          </a:ln>
        </p:spPr>
        <p:txBody>
          <a:bodyPr vert="horz" wrap="square" lIns="88900" tIns="50800" rIns="88900" bIns="50800" rtlCol="0" anchor="t" anchorCtr="0"/>
          <a:lstStyle/>
          <a:p>
            <a:pPr indent="0" algn="l">
              <a:lnSpc>
                <a:spcPct val="108000"/>
              </a:lnSpc>
              <a:defRPr/>
            </a:pPr>
            <a:r>
              <a:rPr lang="en-US" sz="2000" b="0" i="0" u="none" strike="noStrike" spc="200">
                <a:solidFill>
                  <a:srgbClr val="595959"/>
                </a:solidFill>
                <a:latin typeface="Arial" panose="020B0604020202020204"/>
                <a:ea typeface="Arial" panose="020B0604020202020204"/>
                <a:cs typeface="Arial" panose="020B0604020202020204"/>
                <a:sym typeface="Arial" panose="020B0604020202020204"/>
              </a:rPr>
              <a:t>CONTENTS</a:t>
            </a:r>
            <a:endParaRPr lang="en-US" sz="1100"/>
          </a:p>
          <a:p>
            <a:pPr indent="0" algn="l">
              <a:lnSpc>
                <a:spcPct val="108000"/>
              </a:lnSpc>
            </a:pPr>
            <a:r>
              <a:rPr lang="en-US" sz="12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策略构建的四步进阶指南</a:t>
            </a:r>
            <a:endParaRPr lang="en-US" sz="12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4254500" y="635000"/>
            <a:ext cx="7493000" cy="5588000"/>
          </a:xfrm>
          <a:prstGeom prst="roundRect">
            <a:avLst>
              <a:gd name="adj" fmla="val 2727"/>
            </a:avLst>
          </a:prstGeom>
          <a:solidFill>
            <a:srgbClr val="A80F1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4572000" y="1016000"/>
            <a:ext cx="889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FFFFFF">
                    <a:alpha val="90196"/>
                  </a:srgbClr>
                </a:solidFill>
                <a:latin typeface="Arial" panose="020B0604020202020204"/>
                <a:ea typeface="Arial" panose="020B0604020202020204"/>
                <a:cs typeface="Arial" panose="020B0604020202020204"/>
                <a:sym typeface="Arial" panose="020B0604020202020204"/>
              </a:rPr>
              <a:t>01</a:t>
            </a:r>
            <a:endParaRPr lang="en-US" sz="1100"/>
          </a:p>
        </p:txBody>
      </p:sp>
      <p:sp>
        <p:nvSpPr>
          <p:cNvPr id="7" name="AutoShape 7"/>
          <p:cNvSpPr/>
          <p:nvPr/>
        </p:nvSpPr>
        <p:spPr>
          <a:xfrm>
            <a:off x="5588000" y="1016000"/>
            <a:ext cx="5715000" cy="952500"/>
          </a:xfrm>
          <a:prstGeom prst="rect">
            <a:avLst/>
          </a:prstGeom>
          <a:noFill/>
          <a:ln w="12700" cap="flat" cmpd="sng">
            <a:noFill/>
            <a:prstDash val="solid"/>
            <a:round/>
          </a:ln>
        </p:spPr>
        <p:txBody>
          <a:bodyPr vert="horz" wrap="square" lIns="0" tIns="63500" rIns="0" bIns="0" rtlCol="0" anchor="t" anchorCtr="0"/>
          <a:lstStyle/>
          <a:p>
            <a:pPr indent="0" algn="l">
              <a:lnSpc>
                <a:spcPct val="100000"/>
              </a:lnSpc>
              <a:defRPr/>
            </a:pPr>
            <a:r>
              <a:rPr lang="en-US" sz="1800" b="1" i="0" u="none" strike="noStrike">
                <a:solidFill>
                  <a:srgbClr val="FFF0DC"/>
                </a:solidFill>
                <a:latin typeface="Noto Sans SC" panose="020B0200000000000000" charset="-122"/>
                <a:ea typeface="Noto Sans SC" panose="020B0200000000000000" charset="-122"/>
                <a:cs typeface="Noto Sans SC" panose="020B0200000000000000" charset="-122"/>
                <a:sym typeface="Noto Sans SC" panose="020B0200000000000000" charset="-122"/>
              </a:rPr>
              <a:t>理论基石 / Theoretical Foundation</a:t>
            </a:r>
            <a:endParaRPr lang="en-US" sz="1100"/>
          </a:p>
          <a:p>
            <a:pPr indent="0" algn="l">
              <a:lnSpc>
                <a:spcPct val="117000"/>
              </a:lnSpc>
              <a:spcBef>
                <a:spcPts val="600"/>
              </a:spcBef>
            </a:pPr>
            <a:r>
              <a:rPr lang="en-US" sz="1300" b="0"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洞察市场运行的底层规律，理解“为何我们能提前布局”，为后续的系统搭建建立稳固的认知框架。</a:t>
            </a:r>
            <a:endParaRPr lang="en-US" sz="1300" b="0"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8" name="Connector 8"/>
          <p:cNvCxnSpPr/>
          <p:nvPr/>
        </p:nvCxnSpPr>
        <p:spPr>
          <a:xfrm rot="-7639">
            <a:off x="5588007" y="2089150"/>
            <a:ext cx="5715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9" name="AutoShape 9"/>
          <p:cNvSpPr/>
          <p:nvPr/>
        </p:nvSpPr>
        <p:spPr>
          <a:xfrm>
            <a:off x="4572000" y="2286000"/>
            <a:ext cx="889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FFFFFF">
                    <a:alpha val="90196"/>
                  </a:srgbClr>
                </a:solidFill>
                <a:latin typeface="Arial" panose="020B0604020202020204"/>
                <a:ea typeface="Arial" panose="020B0604020202020204"/>
                <a:cs typeface="Arial" panose="020B0604020202020204"/>
                <a:sym typeface="Arial" panose="020B0604020202020204"/>
              </a:rPr>
              <a:t>02</a:t>
            </a:r>
            <a:endParaRPr lang="en-US" sz="1100"/>
          </a:p>
        </p:txBody>
      </p:sp>
      <p:sp>
        <p:nvSpPr>
          <p:cNvPr id="10" name="AutoShape 10"/>
          <p:cNvSpPr/>
          <p:nvPr/>
        </p:nvSpPr>
        <p:spPr>
          <a:xfrm>
            <a:off x="5588000" y="2286000"/>
            <a:ext cx="5715000" cy="952500"/>
          </a:xfrm>
          <a:prstGeom prst="rect">
            <a:avLst/>
          </a:prstGeom>
          <a:noFill/>
          <a:ln w="12700" cap="flat" cmpd="sng">
            <a:noFill/>
            <a:prstDash val="solid"/>
            <a:round/>
          </a:ln>
        </p:spPr>
        <p:txBody>
          <a:bodyPr vert="horz" wrap="square" lIns="0" tIns="63500" rIns="0" bIns="0" rtlCol="0" anchor="t" anchorCtr="0"/>
          <a:lstStyle/>
          <a:p>
            <a:pPr indent="0" algn="l">
              <a:lnSpc>
                <a:spcPct val="100000"/>
              </a:lnSpc>
              <a:defRPr/>
            </a:pPr>
            <a:r>
              <a:rPr lang="en-US" sz="1800" b="1" i="0" u="none" strike="noStrike">
                <a:solidFill>
                  <a:srgbClr val="FFF0DC"/>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系统设计 / System Design</a:t>
            </a:r>
            <a:endParaRPr lang="en-US" sz="1100"/>
          </a:p>
          <a:p>
            <a:pPr indent="0" algn="l">
              <a:lnSpc>
                <a:spcPct val="117000"/>
              </a:lnSpc>
              <a:spcBef>
                <a:spcPts val="600"/>
              </a:spcBef>
            </a:pPr>
            <a:r>
              <a:rPr lang="en-US" sz="1300" b="0"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拒绝盲目跟风，手把手教你从0到1搭建专属的“热点捕手”系统，明确数据来源、筛选标准与执行流程。</a:t>
            </a:r>
            <a:endParaRPr lang="en-US" sz="1300" b="0"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1" name="Connector 11"/>
          <p:cNvCxnSpPr/>
          <p:nvPr/>
        </p:nvCxnSpPr>
        <p:spPr>
          <a:xfrm rot="-7639">
            <a:off x="5588007" y="3359150"/>
            <a:ext cx="5715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2" name="AutoShape 12"/>
          <p:cNvSpPr/>
          <p:nvPr/>
        </p:nvSpPr>
        <p:spPr>
          <a:xfrm>
            <a:off x="4572000" y="3556000"/>
            <a:ext cx="889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FFFFFF">
                    <a:alpha val="90196"/>
                  </a:srgbClr>
                </a:solidFill>
                <a:latin typeface="Arial" panose="020B0604020202020204"/>
                <a:ea typeface="Arial" panose="020B0604020202020204"/>
                <a:cs typeface="Arial" panose="020B0604020202020204"/>
                <a:sym typeface="Arial" panose="020B0604020202020204"/>
              </a:rPr>
              <a:t>03</a:t>
            </a:r>
            <a:endParaRPr lang="en-US" sz="1100"/>
          </a:p>
        </p:txBody>
      </p:sp>
      <p:sp>
        <p:nvSpPr>
          <p:cNvPr id="13" name="AutoShape 13"/>
          <p:cNvSpPr/>
          <p:nvPr/>
        </p:nvSpPr>
        <p:spPr>
          <a:xfrm>
            <a:off x="5588000" y="3556000"/>
            <a:ext cx="5715000" cy="952500"/>
          </a:xfrm>
          <a:prstGeom prst="rect">
            <a:avLst/>
          </a:prstGeom>
          <a:noFill/>
          <a:ln w="12700" cap="flat" cmpd="sng">
            <a:noFill/>
            <a:prstDash val="solid"/>
            <a:round/>
          </a:ln>
        </p:spPr>
        <p:txBody>
          <a:bodyPr vert="horz" wrap="square" lIns="0" tIns="63500" rIns="0" bIns="0" rtlCol="0" anchor="t" anchorCtr="0"/>
          <a:lstStyle/>
          <a:p>
            <a:pPr indent="0" algn="l">
              <a:lnSpc>
                <a:spcPct val="100000"/>
              </a:lnSpc>
              <a:defRPr/>
            </a:pPr>
            <a:r>
              <a:rPr lang="en-US" sz="1800" b="1" i="0" u="none" strike="noStrike">
                <a:solidFill>
                  <a:srgbClr val="FFF0DC"/>
                </a:solidFill>
                <a:latin typeface="Noto Sans SC" panose="020B0200000000000000" charset="-122"/>
                <a:ea typeface="Noto Sans SC" panose="020B0200000000000000" charset="-122"/>
                <a:cs typeface="Noto Sans SC" panose="020B0200000000000000" charset="-122"/>
                <a:sym typeface="Noto Sans SC" panose="020B0200000000000000" charset="-122"/>
              </a:rPr>
              <a:t>回测分析 / Backtesting Analysis</a:t>
            </a:r>
            <a:endParaRPr lang="en-US" sz="1100"/>
          </a:p>
          <a:p>
            <a:pPr indent="0" algn="l">
              <a:lnSpc>
                <a:spcPct val="117000"/>
              </a:lnSpc>
              <a:spcBef>
                <a:spcPts val="600"/>
              </a:spcBef>
            </a:pPr>
            <a:r>
              <a:rPr lang="en-US" sz="1300" b="0"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用历史数据检验策略的有效性，通过科学的回测分析，排除幸存者偏差，验证策略在不同市场环境下的表现。</a:t>
            </a:r>
            <a:endParaRPr lang="en-US" sz="1300" b="0"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4" name="Connector 14"/>
          <p:cNvCxnSpPr/>
          <p:nvPr/>
        </p:nvCxnSpPr>
        <p:spPr>
          <a:xfrm rot="-7639">
            <a:off x="5588007" y="4565650"/>
            <a:ext cx="5715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5" name="AutoShape 15"/>
          <p:cNvSpPr/>
          <p:nvPr/>
        </p:nvSpPr>
        <p:spPr>
          <a:xfrm>
            <a:off x="4572000" y="4826000"/>
            <a:ext cx="889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FFFFFF">
                    <a:alpha val="90196"/>
                  </a:srgbClr>
                </a:solidFill>
                <a:latin typeface="Arial" panose="020B0604020202020204"/>
                <a:ea typeface="Arial" panose="020B0604020202020204"/>
                <a:cs typeface="Arial" panose="020B0604020202020204"/>
                <a:sym typeface="Arial" panose="020B0604020202020204"/>
              </a:rPr>
              <a:t>04</a:t>
            </a:r>
            <a:endParaRPr lang="en-US" sz="1100"/>
          </a:p>
        </p:txBody>
      </p:sp>
      <p:sp>
        <p:nvSpPr>
          <p:cNvPr id="16" name="AutoShape 16"/>
          <p:cNvSpPr/>
          <p:nvPr/>
        </p:nvSpPr>
        <p:spPr>
          <a:xfrm>
            <a:off x="5588000" y="4826000"/>
            <a:ext cx="5715000" cy="952500"/>
          </a:xfrm>
          <a:prstGeom prst="rect">
            <a:avLst/>
          </a:prstGeom>
          <a:noFill/>
          <a:ln w="12700" cap="flat" cmpd="sng">
            <a:noFill/>
            <a:prstDash val="solid"/>
            <a:round/>
          </a:ln>
        </p:spPr>
        <p:txBody>
          <a:bodyPr vert="horz" wrap="square" lIns="0" tIns="63500" rIns="0" bIns="0" rtlCol="0" anchor="t" anchorCtr="0"/>
          <a:lstStyle/>
          <a:p>
            <a:pPr indent="0" algn="l">
              <a:lnSpc>
                <a:spcPct val="100000"/>
              </a:lnSpc>
              <a:defRPr/>
            </a:pPr>
            <a:r>
              <a:rPr lang="en-US" sz="1800" b="1" i="0" u="none" strike="noStrike">
                <a:solidFill>
                  <a:srgbClr val="FFF0DC"/>
                </a:solidFill>
                <a:latin typeface="Noto Sans SC" panose="020B0200000000000000" charset="-122"/>
                <a:ea typeface="Noto Sans SC" panose="020B0200000000000000" charset="-122"/>
                <a:cs typeface="Noto Sans SC" panose="020B0200000000000000" charset="-122"/>
                <a:sym typeface="Noto Sans SC" panose="020B0200000000000000" charset="-122"/>
              </a:rPr>
              <a:t>迭代优化 / Iterative Optimization</a:t>
            </a:r>
            <a:endParaRPr lang="en-US" sz="1100"/>
          </a:p>
          <a:p>
            <a:pPr indent="0" algn="l">
              <a:lnSpc>
                <a:spcPct val="117000"/>
              </a:lnSpc>
              <a:spcBef>
                <a:spcPts val="600"/>
              </a:spcBef>
            </a:pPr>
            <a:r>
              <a:rPr lang="en-US" sz="1300" b="0"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建立风险控制机制，根据市场反馈动态调整参数，让你的策略系统在实战中持续进化，保持长期生命力。</a:t>
            </a:r>
            <a:endParaRPr lang="en-US" sz="1300" b="0"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4953000" cy="6858000"/>
          </a:xfrm>
          <a:prstGeom prst="roundRect">
            <a:avLst>
              <a:gd name="adj" fmla="val 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800100" y="2755900"/>
            <a:ext cx="3263900" cy="927100"/>
          </a:xfrm>
          <a:prstGeom prst="rect">
            <a:avLst/>
          </a:prstGeom>
          <a:noFill/>
          <a:ln w="12700" cap="flat" cmpd="sng">
            <a:noFill/>
            <a:prstDash val="solid"/>
            <a:round/>
          </a:ln>
        </p:spPr>
        <p:txBody>
          <a:bodyPr vert="horz" wrap="square" lIns="88900" tIns="50800" rIns="88900" bIns="50800" rtlCol="0" anchor="t" anchorCtr="0"/>
          <a:lstStyle/>
          <a:p>
            <a:pPr indent="0" algn="l">
              <a:lnSpc>
                <a:spcPct val="100000"/>
              </a:lnSpc>
              <a:defRPr/>
            </a:pPr>
            <a:r>
              <a:rPr lang="en-US" sz="5400" b="0" i="0" u="none" strike="noStrike" spc="100">
                <a:solidFill>
                  <a:srgbClr val="FFFFFF"/>
                </a:solidFill>
                <a:latin typeface="Arial" panose="020B0604020202020204"/>
                <a:ea typeface="Arial" panose="020B0604020202020204"/>
                <a:cs typeface="Arial" panose="020B0604020202020204"/>
                <a:sym typeface="Arial" panose="020B0604020202020204"/>
              </a:rPr>
              <a:t>PART 01</a:t>
            </a:r>
            <a:endParaRPr lang="en-US" sz="1100"/>
          </a:p>
        </p:txBody>
      </p:sp>
      <p:sp>
        <p:nvSpPr>
          <p:cNvPr id="5" name="AutoShape 5"/>
          <p:cNvSpPr/>
          <p:nvPr/>
        </p:nvSpPr>
        <p:spPr>
          <a:xfrm rot="5400000">
            <a:off x="4076700" y="3124200"/>
            <a:ext cx="190500" cy="165100"/>
          </a:xfrm>
          <a:prstGeom prst="triangle">
            <a:avLst>
              <a:gd name="adj" fmla="val 5000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6769100" y="2654300"/>
            <a:ext cx="3530600" cy="825500"/>
          </a:xfrm>
          <a:prstGeom prst="rect">
            <a:avLst/>
          </a:prstGeom>
          <a:noFill/>
          <a:ln w="12700" cap="flat" cmpd="sng">
            <a:noFill/>
            <a:prstDash val="solid"/>
            <a:round/>
          </a:ln>
        </p:spPr>
        <p:txBody>
          <a:bodyPr vert="horz" wrap="square" lIns="88900" tIns="50800" rIns="88900" bIns="50800" rtlCol="0" anchor="t" anchorCtr="0"/>
          <a:lstStyle/>
          <a:p>
            <a:pPr indent="0" algn="dist">
              <a:lnSpc>
                <a:spcPct val="100000"/>
              </a:lnSpc>
              <a:defRPr/>
            </a:pPr>
            <a:r>
              <a:rPr lang="en-US" sz="48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理论基石</a:t>
            </a:r>
            <a:endParaRPr lang="en-US" sz="1100"/>
          </a:p>
        </p:txBody>
      </p:sp>
      <p:sp>
        <p:nvSpPr>
          <p:cNvPr id="7" name="AutoShape 7"/>
          <p:cNvSpPr/>
          <p:nvPr/>
        </p:nvSpPr>
        <p:spPr>
          <a:xfrm>
            <a:off x="6769100" y="3454400"/>
            <a:ext cx="3530600" cy="304800"/>
          </a:xfrm>
          <a:prstGeom prst="rect">
            <a:avLst/>
          </a:prstGeom>
          <a:noFill/>
          <a:ln w="12700" cap="flat" cmpd="sng">
            <a:noFill/>
            <a:prstDash val="solid"/>
            <a:round/>
          </a:ln>
        </p:spPr>
        <p:txBody>
          <a:bodyPr vert="horz" wrap="square" lIns="88900" tIns="50800" rIns="88900" bIns="50800" rtlCol="0" anchor="t" anchorCtr="0"/>
          <a:lstStyle/>
          <a:p>
            <a:pPr indent="0" algn="dist">
              <a:lnSpc>
                <a:spcPct val="100000"/>
              </a:lnSpc>
              <a:defRPr/>
            </a:pPr>
            <a:r>
              <a:rPr lang="en-US" sz="1400" b="0" i="0" u="none" strike="noStrike" spc="100">
                <a:solidFill>
                  <a:srgbClr val="A6A6A6"/>
                </a:solidFill>
                <a:latin typeface="Arial" panose="020B0604020202020204"/>
                <a:ea typeface="Arial" panose="020B0604020202020204"/>
                <a:cs typeface="Arial" panose="020B0604020202020204"/>
                <a:sym typeface="Arial" panose="020B0604020202020204"/>
              </a:rPr>
              <a:t>Background Information</a:t>
            </a:r>
            <a:endParaRPr lang="en-US" sz="1100"/>
          </a:p>
        </p:txBody>
      </p:sp>
      <p:sp>
        <p:nvSpPr>
          <p:cNvPr id="8" name="Freeform 8"/>
          <p:cNvSpPr/>
          <p:nvPr/>
        </p:nvSpPr>
        <p:spPr>
          <a:xfrm>
            <a:off x="11328400" y="6477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0744200" y="6477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1087100" y="6477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252200" y="6477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0668000" y="6477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0833100" y="6477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0909300" y="6477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1391900" y="6477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0617200" y="6477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010900" y="6477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188700" y="6477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544300" y="6477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1480800" y="6477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07700" y="6477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455400" y="6477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150600" y="6477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442700" y="3302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137900" y="3556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0604500" y="3683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0744200" y="3937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0922000" y="4572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417300" y="5080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960100" y="3937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985500" y="3175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1430000" y="3810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1036300" y="5207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1303000" y="5080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1430000" y="4445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096500" y="2921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147300" y="3556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452100" y="3810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109200" y="4699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414000" y="3429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109200" y="5207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274300" y="6858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121900" y="5715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147300" y="3810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375900" y="6731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185400" y="3429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299700" y="3048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325100" y="6858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236200" y="3175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77500" y="4318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477500" y="5715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490200" y="5207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3" name="Freeform 53"/>
          <p:cNvSpPr/>
          <p:nvPr/>
        </p:nvSpPr>
        <p:spPr>
          <a:xfrm>
            <a:off x="10388600" y="3175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4" name="Freeform 54"/>
          <p:cNvSpPr/>
          <p:nvPr/>
        </p:nvSpPr>
        <p:spPr>
          <a:xfrm>
            <a:off x="10121900" y="4191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5" name="Freeform 55"/>
          <p:cNvSpPr/>
          <p:nvPr/>
        </p:nvSpPr>
        <p:spPr>
          <a:xfrm>
            <a:off x="10490200" y="4826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6" name="Freeform 56"/>
          <p:cNvSpPr/>
          <p:nvPr/>
        </p:nvSpPr>
        <p:spPr>
          <a:xfrm>
            <a:off x="10337800" y="3048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7" name="Freeform 57"/>
          <p:cNvSpPr/>
          <p:nvPr/>
        </p:nvSpPr>
        <p:spPr>
          <a:xfrm>
            <a:off x="10223500" y="6731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8" name="Freeform 58"/>
          <p:cNvSpPr/>
          <p:nvPr/>
        </p:nvSpPr>
        <p:spPr>
          <a:xfrm>
            <a:off x="10160000" y="3683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med" len="med"/>
            <a:tailEnd type="none" w="med" len="med"/>
          </a:ln>
        </p:spPr>
      </p:cxnSp>
      <p:sp>
        <p:nvSpPr>
          <p:cNvPr id="55" name="AutoShape 55"/>
          <p:cNvSpPr/>
          <p:nvPr/>
        </p:nvSpPr>
        <p:spPr>
          <a:xfrm>
            <a:off x="444500" y="6388100"/>
            <a:ext cx="1549400" cy="279400"/>
          </a:xfrm>
          <a:prstGeom prst="rect">
            <a:avLst/>
          </a:prstGeom>
          <a:noFill/>
          <a:ln w="12700" cap="flat" cmpd="sng">
            <a:noFill/>
            <a:prstDash val="solid"/>
            <a:round/>
          </a:ln>
        </p:spPr>
        <p:txBody>
          <a:bodyPr vert="horz" wrap="square" lIns="88900" tIns="50800" rIns="88900" bIns="50800" rtlCol="0" anchor="t" anchorCtr="0"/>
          <a:lstStyle/>
          <a:p>
            <a:pPr indent="0" algn="l">
              <a:lnSpc>
                <a:spcPct val="100000"/>
              </a:lnSpc>
              <a:defRPr/>
            </a:pP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思想自由 兼容并包</a:t>
            </a:r>
            <a:endParaRPr lang="en-US" sz="1100"/>
          </a:p>
        </p:txBody>
      </p:sp>
      <p:sp>
        <p:nvSpPr>
          <p:cNvPr id="56" name="AutoShape 56"/>
          <p:cNvSpPr/>
          <p:nvPr/>
        </p:nvSpPr>
        <p:spPr>
          <a:xfrm>
            <a:off x="444500" y="241300"/>
            <a:ext cx="9525000" cy="762000"/>
          </a:xfrm>
          <a:prstGeom prst="rect">
            <a:avLst/>
          </a:prstGeom>
          <a:noFill/>
          <a:ln w="12700" cap="flat" cmpd="sng">
            <a:noFill/>
            <a:prstDash val="solid"/>
            <a:round/>
          </a:ln>
        </p:spPr>
        <p:txBody>
          <a:bodyPr vert="horz" wrap="square" lIns="88900" tIns="50800" rIns="88900" bIns="50800" rtlCol="0" anchor="ctr" anchorCtr="0"/>
          <a:lstStyle/>
          <a:p>
            <a:pPr indent="0" algn="l">
              <a:lnSpc>
                <a:spcPct val="92000"/>
              </a:lnSpc>
              <a:defRPr/>
            </a:pPr>
            <a:r>
              <a:rPr lang="en-US" sz="2200" b="1" i="0" u="none" strike="noStrike">
                <a:solidFill>
                  <a:srgbClr val="9A0001"/>
                </a:solidFill>
                <a:latin typeface="Arial" panose="020B0604020202020204"/>
                <a:ea typeface="Arial" panose="020B0604020202020204"/>
                <a:cs typeface="Arial" panose="020B0604020202020204"/>
                <a:sym typeface="Arial" panose="020B0604020202020204"/>
              </a:rPr>
              <a:t>1.1</a:t>
            </a:r>
            <a:r>
              <a:rPr lang="en-US" sz="22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行为金融学：利用市场的非理性</a:t>
            </a:r>
            <a:endParaRPr lang="en-US" sz="1100"/>
          </a:p>
        </p:txBody>
      </p:sp>
      <p:sp>
        <p:nvSpPr>
          <p:cNvPr id="57" name="AutoShape 57"/>
          <p:cNvSpPr/>
          <p:nvPr/>
        </p:nvSpPr>
        <p:spPr>
          <a:xfrm>
            <a:off x="9004300" y="6388100"/>
            <a:ext cx="2743200" cy="292100"/>
          </a:xfrm>
          <a:prstGeom prst="rect">
            <a:avLst/>
          </a:prstGeom>
          <a:noFill/>
          <a:ln w="12700" cap="flat" cmpd="sng">
            <a:noFill/>
            <a:prstDash val="solid"/>
            <a:round/>
          </a:ln>
        </p:spPr>
        <p:txBody>
          <a:bodyPr vert="horz" wrap="square" lIns="88900" tIns="50800" rIns="88900" bIns="50800" rtlCol="0" anchor="ctr" anchorCtr="0"/>
          <a:lstStyle/>
          <a:p>
            <a:pPr indent="0" algn="r">
              <a:lnSpc>
                <a:spcPct val="100000"/>
              </a:lnSpc>
              <a:defRPr/>
            </a:pPr>
            <a:r>
              <a:rPr lang="en-US" sz="1200" b="0" i="0" u="none" strike="noStrike">
                <a:solidFill>
                  <a:srgbClr val="808080"/>
                </a:solidFill>
                <a:latin typeface="Arial" panose="020B0604020202020204"/>
                <a:ea typeface="Arial" panose="020B0604020202020204"/>
                <a:cs typeface="Arial" panose="020B0604020202020204"/>
                <a:sym typeface="Arial" panose="020B0604020202020204"/>
              </a:rPr>
              <a:t>&lt; &gt;</a:t>
            </a:r>
            <a:endParaRPr lang="en-US" sz="1100"/>
          </a:p>
        </p:txBody>
      </p:sp>
      <p:pic>
        <p:nvPicPr>
          <p:cNvPr id="58" name="Picture 58"/>
          <p:cNvPicPr>
            <a:picLocks noChangeAspect="1"/>
          </p:cNvPicPr>
          <p:nvPr/>
        </p:nvPicPr>
        <p:blipFill>
          <a:blip r:embed="rId1"/>
          <a:srcRect t="27222" b="27222"/>
          <a:stretch>
            <a:fillRect/>
          </a:stretch>
        </p:blipFill>
        <p:spPr>
          <a:xfrm>
            <a:off x="0" y="1193800"/>
            <a:ext cx="12192000" cy="3124200"/>
          </a:xfrm>
          <a:prstGeom prst="rect">
            <a:avLst/>
          </a:prstGeom>
          <a:noFill/>
          <a:ln w="25400" cap="flat" cmpd="sng">
            <a:noFill/>
            <a:prstDash val="solid"/>
            <a:round/>
          </a:ln>
        </p:spPr>
      </p:pic>
      <p:sp>
        <p:nvSpPr>
          <p:cNvPr id="59" name="AutoShape 59"/>
          <p:cNvSpPr/>
          <p:nvPr/>
        </p:nvSpPr>
        <p:spPr>
          <a:xfrm>
            <a:off x="0" y="1193800"/>
            <a:ext cx="12192000" cy="3124200"/>
          </a:xfrm>
          <a:prstGeom prst="roundRect">
            <a:avLst>
              <a:gd name="adj" fmla="val 0"/>
            </a:avLst>
          </a:prstGeom>
          <a:solidFill>
            <a:srgbClr val="9A0001">
              <a:alpha val="60000"/>
            </a:srgbClr>
          </a:solidFill>
          <a:ln w="25400" cap="flat" cmpd="sng">
            <a:noFill/>
            <a:prstDash val="solid"/>
            <a:round/>
          </a:ln>
        </p:spPr>
        <p:txBody>
          <a:bodyPr vert="horz" wrap="square" lIns="63500" tIns="63500" rIns="63500" bIns="63500" rtlCol="0" anchor="ctr"/>
          <a:lstStyle/>
          <a:p>
            <a:pPr algn="ctr">
              <a:defRPr/>
            </a:pPr>
          </a:p>
        </p:txBody>
      </p:sp>
      <p:sp>
        <p:nvSpPr>
          <p:cNvPr id="60" name="AutoShape 60"/>
          <p:cNvSpPr/>
          <p:nvPr/>
        </p:nvSpPr>
        <p:spPr>
          <a:xfrm>
            <a:off x="508000" y="1587500"/>
            <a:ext cx="11176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核心洞察：市场并非总是理性的，认知偏差是获利的基石</a:t>
            </a:r>
            <a:endParaRPr lang="en-US" sz="1100"/>
          </a:p>
        </p:txBody>
      </p:sp>
      <p:sp>
        <p:nvSpPr>
          <p:cNvPr id="61" name="AutoShape 61"/>
          <p:cNvSpPr/>
          <p:nvPr/>
        </p:nvSpPr>
        <p:spPr>
          <a:xfrm>
            <a:off x="508000" y="2286000"/>
            <a:ext cx="11176000" cy="152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F0F0F0"/>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金融学假设投资者是完全理性的，但现实中，恐惧、贪婪与盲从主导了市场的大部分波动。行为金融学揭示了市场参与者普遍存在的认知偏差和心理误区——这些正是我们量化策略可以精准捕捉并利用的薄弱环节，从而在博弈中占据主动。</a:t>
            </a:r>
            <a:endParaRPr lang="en-US" sz="1100"/>
          </a:p>
        </p:txBody>
      </p:sp>
      <p:sp>
        <p:nvSpPr>
          <p:cNvPr id="62" name="AutoShape 62"/>
          <p:cNvSpPr/>
          <p:nvPr/>
        </p:nvSpPr>
        <p:spPr>
          <a:xfrm>
            <a:off x="762000" y="4445000"/>
            <a:ext cx="10414000" cy="558800"/>
          </a:xfrm>
          <a:prstGeom prst="roundRect">
            <a:avLst>
              <a:gd name="adj" fmla="val 0"/>
            </a:avLst>
          </a:prstGeom>
          <a:solidFill>
            <a:srgbClr val="9A0001">
              <a:alpha val="100000"/>
            </a:srgbClr>
          </a:solidFill>
          <a:ln w="25400" cap="flat" cmpd="sng">
            <a:noFill/>
            <a:prstDash val="solid"/>
            <a:round/>
          </a:ln>
        </p:spPr>
        <p:txBody>
          <a:bodyPr vert="horz" wrap="square" lIns="190500" tIns="38100" rIns="190500" bIns="38100" rtlCol="0" anchor="ctr" anchorCtr="0"/>
          <a:lstStyle/>
          <a:p>
            <a:pPr indent="0" algn="l">
              <a:lnSpc>
                <a:spcPct val="100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三大核心认知偏差与应对策略：从理论到实战的落地指南</a:t>
            </a:r>
            <a:endParaRPr lang="en-US" sz="1100"/>
          </a:p>
        </p:txBody>
      </p:sp>
      <p:sp>
        <p:nvSpPr>
          <p:cNvPr id="63" name="AutoShape 63"/>
          <p:cNvSpPr/>
          <p:nvPr/>
        </p:nvSpPr>
        <p:spPr>
          <a:xfrm>
            <a:off x="762000" y="5080000"/>
            <a:ext cx="10414000" cy="1397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羊群效应：</a:t>
            </a: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利用大众的跟风心理，在“羊群”形成前提前入场布局，在狂热阶段果断止盈离场，避免成为最后接盘的人。</a:t>
            </a:r>
            <a:endParaRPr lang="en-US" sz="1100"/>
          </a:p>
          <a:p>
            <a:pPr indent="0" algn="l">
              <a:lnSpc>
                <a:spcPct val="117000"/>
              </a:lnSpc>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注意力偏差：</a:t>
            </a: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捕捉“注意力盲区”，关注那些确定性高但尚未进入公众视野的事件，在市场反应滞后的时间窗口完成建仓。</a:t>
            </a:r>
            <a:endPar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过度反应与反应不足：</a:t>
            </a: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建立量化模型，精准识别市场对新信息的反应阶段，重点布局“即将到来的重大事件”的反应不足期，规避过度反应带来的追高风险。</a:t>
            </a:r>
            <a:endPar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round/>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round/>
            <a:headEnd type="none" w="med" len="med"/>
            <a:tailEnd type="none" w="med" len="med"/>
          </a:ln>
        </p:spPr>
      </p:cxnSp>
      <p:sp>
        <p:nvSpPr>
          <p:cNvPr id="55" name="AutoShape 55"/>
          <p:cNvSpPr/>
          <p:nvPr/>
        </p:nvSpPr>
        <p:spPr>
          <a:xfrm>
            <a:off x="444500" y="6388100"/>
            <a:ext cx="1549400" cy="279400"/>
          </a:xfrm>
          <a:prstGeom prst="rect">
            <a:avLst/>
          </a:prstGeom>
          <a:noFill/>
          <a:ln w="12700" cap="flat" cmpd="sng">
            <a:noFill/>
            <a:prstDash val="solid"/>
            <a:round/>
          </a:ln>
        </p:spPr>
        <p:txBody>
          <a:bodyPr vert="horz" wrap="square" lIns="88900" tIns="50800" rIns="88900" bIns="50800" rtlCol="0" anchor="t" anchorCtr="0"/>
          <a:lstStyle/>
          <a:p>
            <a:pPr indent="0" algn="l">
              <a:lnSpc>
                <a:spcPct val="125000"/>
              </a:lnSpc>
              <a:defRPr/>
            </a:pPr>
            <a:r>
              <a:rPr lang="en-US" sz="12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认知迭代价值发现</a:t>
            </a:r>
            <a:endParaRPr lang="en-US" sz="1100"/>
          </a:p>
        </p:txBody>
      </p:sp>
      <p:sp>
        <p:nvSpPr>
          <p:cNvPr id="56" name="AutoShape 56"/>
          <p:cNvSpPr/>
          <p:nvPr/>
        </p:nvSpPr>
        <p:spPr>
          <a:xfrm>
            <a:off x="9004300" y="6388100"/>
            <a:ext cx="2743200" cy="292100"/>
          </a:xfrm>
          <a:prstGeom prst="rect">
            <a:avLst/>
          </a:prstGeom>
          <a:noFill/>
          <a:ln w="12700" cap="flat" cmpd="sng">
            <a:noFill/>
            <a:prstDash val="solid"/>
            <a:round/>
          </a:ln>
        </p:spPr>
        <p:txBody>
          <a:bodyPr vert="horz" wrap="square" lIns="88900" tIns="50800" rIns="88900" bIns="50800" rtlCol="0" anchor="ctr" anchorCtr="0"/>
          <a:lstStyle/>
          <a:p>
            <a:pPr indent="0" algn="r">
              <a:lnSpc>
                <a:spcPct val="125000"/>
              </a:lnSpc>
              <a:defRPr/>
            </a:pPr>
            <a:r>
              <a:rPr lang="en-US" sz="1200" b="0" i="0" u="none" strike="noStrike">
                <a:solidFill>
                  <a:srgbClr val="808080"/>
                </a:solidFill>
                <a:latin typeface="Arial" panose="020B0604020202020204"/>
                <a:ea typeface="Arial" panose="020B0604020202020204"/>
                <a:cs typeface="Arial" panose="020B0604020202020204"/>
                <a:sym typeface="Arial" panose="020B0604020202020204"/>
              </a:rPr>
              <a:t>&lt; 03 / 24 &gt;</a:t>
            </a:r>
            <a:endParaRPr lang="en-US" sz="1100"/>
          </a:p>
        </p:txBody>
      </p:sp>
      <p:sp>
        <p:nvSpPr>
          <p:cNvPr id="57" name="AutoShape 57"/>
          <p:cNvSpPr/>
          <p:nvPr/>
        </p:nvSpPr>
        <p:spPr>
          <a:xfrm>
            <a:off x="444500" y="317500"/>
            <a:ext cx="10160000" cy="6350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25000"/>
              </a:lnSpc>
              <a:defRPr/>
            </a:pPr>
            <a:r>
              <a:rPr lang="en-US" sz="22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1.2 预期差理论：利润的本质来源</a:t>
            </a:r>
            <a:endParaRPr lang="en-US" sz="1100"/>
          </a:p>
          <a:p>
            <a:pPr indent="0" algn="l">
              <a:lnSpc>
                <a:spcPct val="125000"/>
              </a:lnSpc>
            </a:pPr>
            <a:r>
              <a:rPr lang="en-US" sz="1400" b="1"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从“共识”到“现实”，寻找被低估的价值锚点</a:t>
            </a:r>
            <a:endParaRPr lang="en-US" sz="1400" b="1"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8" name="AutoShape 58"/>
          <p:cNvSpPr/>
          <p:nvPr/>
        </p:nvSpPr>
        <p:spPr>
          <a:xfrm>
            <a:off x="635000" y="1397000"/>
            <a:ext cx="4318000" cy="4445000"/>
          </a:xfrm>
          <a:prstGeom prst="roundRect">
            <a:avLst>
              <a:gd name="adj" fmla="val 3529"/>
            </a:avLst>
          </a:prstGeom>
          <a:solidFill>
            <a:srgbClr val="F9F5FF">
              <a:alpha val="95000"/>
            </a:srgbClr>
          </a:solidFill>
          <a:ln w="12700" cap="flat" cmpd="sng">
            <a:solidFill>
              <a:srgbClr val="9A0001">
                <a:alpha val="15000"/>
              </a:srgbClr>
            </a:solidFill>
            <a:prstDash val="solid"/>
            <a:round/>
          </a:ln>
        </p:spPr>
        <p:txBody>
          <a:bodyPr vert="horz" wrap="square" lIns="63500" tIns="63500" rIns="63500" bIns="63500" rtlCol="0" anchor="ctr"/>
          <a:lstStyle/>
          <a:p>
            <a:pPr algn="ctr">
              <a:defRPr/>
            </a:pPr>
          </a:p>
        </p:txBody>
      </p:sp>
      <p:pic>
        <p:nvPicPr>
          <p:cNvPr id="59" name="Picture 5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1714500"/>
            <a:ext cx="1016000" cy="1016000"/>
          </a:xfrm>
          <a:prstGeom prst="rect">
            <a:avLst/>
          </a:prstGeom>
        </p:spPr>
      </p:pic>
      <p:sp>
        <p:nvSpPr>
          <p:cNvPr id="60" name="AutoShape 60"/>
          <p:cNvSpPr/>
          <p:nvPr/>
        </p:nvSpPr>
        <p:spPr>
          <a:xfrm>
            <a:off x="2032000" y="1841500"/>
            <a:ext cx="304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投资的第一性原理</a:t>
            </a:r>
            <a:endParaRPr lang="en-US" sz="1100"/>
          </a:p>
          <a:p>
            <a:pPr indent="0" algn="l">
              <a:lnSpc>
                <a:spcPct val="125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Expectation Gap Theory</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1" name="AutoShape 61"/>
          <p:cNvSpPr/>
          <p:nvPr/>
        </p:nvSpPr>
        <p:spPr>
          <a:xfrm>
            <a:off x="889000" y="2921000"/>
            <a:ext cx="3937000" cy="2286000"/>
          </a:xfrm>
          <a:prstGeom prst="rect">
            <a:avLst/>
          </a:prstGeom>
          <a:noFill/>
          <a:ln w="12700" cap="flat" cmpd="sng">
            <a:noFill/>
            <a:prstDash val="solid"/>
            <a:round/>
          </a:ln>
        </p:spPr>
        <p:txBody>
          <a:bodyPr vert="horz" wrap="square" lIns="0" tIns="0" rIns="0" bIns="0" rtlCol="0" anchor="ctr" anchorCtr="0"/>
          <a:lstStyle/>
          <a:p>
            <a:pPr indent="0" algn="l">
              <a:lnSpc>
                <a:spcPct val="133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股票价格并非企业当下价值的直接体现，而是市场参与者对其未来发展的“集体心理预期”。</a:t>
            </a:r>
            <a:endParaRPr lang="en-US" sz="1100"/>
          </a:p>
          <a:p>
            <a:pPr indent="0" algn="l">
              <a:lnSpc>
                <a:spcPct val="125000"/>
              </a:lnSpc>
            </a:pPr>
            <a:b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endPar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33000"/>
              </a:lnSpc>
            </a:pPr>
            <a:r>
              <a:rPr lang="en-US" sz="14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核心洞察：</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当现实的经营成果、行业趋势或突发事件，与市场初期的普遍共识发生剧烈背离时，资产价格将迎来剧烈的重估，这正是超额收益诞生的土壤。</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2" name="AutoShape 62"/>
          <p:cNvSpPr/>
          <p:nvPr/>
        </p:nvSpPr>
        <p:spPr>
          <a:xfrm>
            <a:off x="889000" y="4953000"/>
            <a:ext cx="3937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1"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“我们不预测未来，我们只寻找那些未来大概率会比大家想象中更好的公司。”</a:t>
            </a:r>
            <a:endParaRPr lang="en-US" sz="1100"/>
          </a:p>
        </p:txBody>
      </p:sp>
      <p:sp>
        <p:nvSpPr>
          <p:cNvPr id="63" name="AutoShape 63"/>
          <p:cNvSpPr/>
          <p:nvPr/>
        </p:nvSpPr>
        <p:spPr>
          <a:xfrm>
            <a:off x="5270500" y="1397000"/>
            <a:ext cx="6223000" cy="1079500"/>
          </a:xfrm>
          <a:prstGeom prst="roundRect">
            <a:avLst>
              <a:gd name="adj" fmla="val 9411"/>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4" name="AutoShape 64"/>
          <p:cNvSpPr/>
          <p:nvPr/>
        </p:nvSpPr>
        <p:spPr>
          <a:xfrm>
            <a:off x="5397500" y="1524000"/>
            <a:ext cx="5969000" cy="952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 什么是“预期差”？</a:t>
            </a:r>
            <a:endParaRPr lang="en-US" sz="1100"/>
          </a:p>
          <a:p>
            <a:pPr indent="0" algn="l">
              <a:lnSpc>
                <a:spcPct val="108000"/>
              </a:lnSpc>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指市场当前对某一事件或公司的“普遍预期”，与未来即将发生的“实际结果”之间存在的显著差异。它是现代金融市场中，驱动资产价格短期大幅波动的最核心动力，也是我们获取非对称收益的关键路径。</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5" name="AutoShape 65"/>
          <p:cNvSpPr/>
          <p:nvPr/>
        </p:nvSpPr>
        <p:spPr>
          <a:xfrm>
            <a:off x="5270500" y="2667000"/>
            <a:ext cx="3022600" cy="1841500"/>
          </a:xfrm>
          <a:prstGeom prst="roundRect">
            <a:avLst>
              <a:gd name="adj" fmla="val 5517"/>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pPr>
          </a:p>
        </p:txBody>
      </p:sp>
      <p:sp>
        <p:nvSpPr>
          <p:cNvPr id="66" name="AutoShape 66"/>
          <p:cNvSpPr/>
          <p:nvPr/>
        </p:nvSpPr>
        <p:spPr>
          <a:xfrm>
            <a:off x="5397500" y="2794000"/>
            <a:ext cx="2794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 定价的本质：预期的镜像</a:t>
            </a:r>
            <a:endParaRPr lang="en-US" sz="1100"/>
          </a:p>
          <a:p>
            <a:pPr indent="0" algn="l">
              <a:lnSpc>
                <a:spcPct val="117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股价锚定的不是现在的PE/PB，而是投资者对未来现金流的折现预期。即便当下业绩优秀，若已被市场充分计价，也难以产生超额回报。</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7" name="AutoShape 67"/>
          <p:cNvSpPr/>
          <p:nvPr/>
        </p:nvSpPr>
        <p:spPr>
          <a:xfrm>
            <a:off x="8407400" y="2667000"/>
            <a:ext cx="3022600" cy="1841500"/>
          </a:xfrm>
          <a:prstGeom prst="roundRect">
            <a:avLst>
              <a:gd name="adj" fmla="val 5517"/>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p>
        </p:txBody>
      </p:sp>
      <p:sp>
        <p:nvSpPr>
          <p:cNvPr id="68" name="AutoShape 68"/>
          <p:cNvSpPr/>
          <p:nvPr/>
        </p:nvSpPr>
        <p:spPr>
          <a:xfrm>
            <a:off x="8534400" y="2794000"/>
            <a:ext cx="2794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 利润来源：现实碾压预期</a:t>
            </a:r>
            <a:endParaRPr lang="en-US" sz="1100"/>
          </a:p>
          <a:p>
            <a:pPr indent="0" algn="l">
              <a:lnSpc>
                <a:spcPct val="117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当公司的实际增长、技术突破或政策红利远超市场预期时，资金会迅速入场修正定价。我们的策略，就是提前埋伏这些“未被定价”的积极变化。</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9" name="AutoShape 69"/>
          <p:cNvSpPr/>
          <p:nvPr/>
        </p:nvSpPr>
        <p:spPr>
          <a:xfrm>
            <a:off x="5270500" y="4699000"/>
            <a:ext cx="6159500" cy="1587500"/>
          </a:xfrm>
          <a:prstGeom prst="roundRect">
            <a:avLst>
              <a:gd name="adj" fmla="val 640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70" name="AutoShape 70"/>
          <p:cNvSpPr/>
          <p:nvPr/>
        </p:nvSpPr>
        <p:spPr>
          <a:xfrm>
            <a:off x="5397500" y="4826000"/>
            <a:ext cx="5969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4F46E5"/>
                </a:solidFill>
                <a:latin typeface="Noto Sans SC" panose="020B0200000000000000" charset="-122"/>
                <a:ea typeface="Noto Sans SC" panose="020B0200000000000000" charset="-122"/>
                <a:cs typeface="Noto Sans SC" panose="020B0200000000000000" charset="-122"/>
                <a:sym typeface="Noto Sans SC" panose="020B0200000000000000" charset="-122"/>
              </a:rPr>
              <a:t>⚽ 实战案例：2025 世界杯概念股的预期差</a:t>
            </a:r>
            <a:endParaRPr lang="en-US" sz="1100"/>
          </a:p>
          <a:p>
            <a:pPr indent="0" algn="l">
              <a:lnSpc>
                <a:spcPct val="117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市场初期仅将其视为短期的“体育营销”事件，预期停留在赛事期间的流量曝光。但随着赛事临近，赞助商的订单爆发、品牌全球化带来的长期用户沉淀，这些“未被市场定价”的长期价值，将带来巨大的预期差机会，推动股价走出独立行情。</a:t>
            </a:r>
            <a:endPar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med" len="med"/>
            <a:tailEnd type="none" w="med" len="med"/>
          </a:ln>
        </p:spPr>
      </p:cxnSp>
      <p:sp>
        <p:nvSpPr>
          <p:cNvPr id="55" name="AutoShape 55"/>
          <p:cNvSpPr/>
          <p:nvPr/>
        </p:nvSpPr>
        <p:spPr>
          <a:xfrm>
            <a:off x="444500" y="6388100"/>
            <a:ext cx="1549400" cy="279400"/>
          </a:xfrm>
          <a:prstGeom prst="rect">
            <a:avLst/>
          </a:prstGeom>
          <a:noFill/>
          <a:ln w="12700" cap="flat" cmpd="sng">
            <a:noFill/>
            <a:prstDash val="solid"/>
            <a:round/>
          </a:ln>
        </p:spPr>
        <p:txBody>
          <a:bodyPr vert="horz" wrap="square" lIns="88900" tIns="50800" rIns="88900" bIns="50800" rtlCol="0" anchor="t" anchorCtr="0"/>
          <a:lstStyle/>
          <a:p>
            <a:pPr indent="0" algn="l">
              <a:lnSpc>
                <a:spcPct val="100000"/>
              </a:lnSpc>
              <a:defRPr/>
            </a:pP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策略洞察</a:t>
            </a:r>
            <a:r>
              <a:rPr lang="en-US" sz="1200" b="0" i="0" u="none" strike="noStrike">
                <a:solidFill>
                  <a:srgbClr val="808080"/>
                </a:solidFill>
                <a:latin typeface="Arial" panose="020B0604020202020204"/>
                <a:ea typeface="Arial" panose="020B0604020202020204"/>
                <a:cs typeface="Arial" panose="020B0604020202020204"/>
                <a:sym typeface="Arial" panose="020B0604020202020204"/>
              </a:rPr>
              <a:t>|</a:t>
            </a: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价值发现</a:t>
            </a:r>
            <a:endParaRPr lang="en-US" sz="1100"/>
          </a:p>
        </p:txBody>
      </p:sp>
      <p:sp>
        <p:nvSpPr>
          <p:cNvPr id="56" name="AutoShape 56"/>
          <p:cNvSpPr/>
          <p:nvPr/>
        </p:nvSpPr>
        <p:spPr>
          <a:xfrm>
            <a:off x="444500" y="317500"/>
            <a:ext cx="10160000" cy="6985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0000"/>
              </a:lnSpc>
              <a:defRPr/>
            </a:pPr>
            <a:r>
              <a:rPr lang="en-US" sz="22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1.3 事件驱动策略：寻找确定性的催化剂</a:t>
            </a:r>
            <a:endParaRPr lang="en-US" sz="1100"/>
          </a:p>
          <a:p>
            <a:pPr indent="0" algn="l">
              <a:lnSpc>
                <a:spcPct val="100000"/>
              </a:lnSpc>
            </a:pPr>
            <a:r>
              <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将抽象的“预期差”具象化为可观察、可分析的具体事件，在市场反应前提前布局</a:t>
            </a:r>
            <a:endPar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7" name="AutoShape 57"/>
          <p:cNvSpPr/>
          <p:nvPr/>
        </p:nvSpPr>
        <p:spPr>
          <a:xfrm>
            <a:off x="9004300" y="6388100"/>
            <a:ext cx="2743200" cy="292100"/>
          </a:xfrm>
          <a:prstGeom prst="rect">
            <a:avLst/>
          </a:prstGeom>
          <a:noFill/>
          <a:ln w="12700" cap="flat" cmpd="sng">
            <a:noFill/>
            <a:prstDash val="solid"/>
            <a:round/>
          </a:ln>
        </p:spPr>
        <p:txBody>
          <a:bodyPr vert="horz" wrap="square" lIns="88900" tIns="50800" rIns="88900" bIns="50800" rtlCol="0" anchor="ctr" anchorCtr="0"/>
          <a:lstStyle/>
          <a:p>
            <a:pPr indent="0" algn="r">
              <a:lnSpc>
                <a:spcPct val="125000"/>
              </a:lnSpc>
              <a:defRPr/>
            </a:pPr>
            <a:r>
              <a:rPr lang="en-US" sz="1200" b="0" i="0" u="none" strike="noStrike">
                <a:solidFill>
                  <a:srgbClr val="808080"/>
                </a:solidFill>
                <a:latin typeface="Arial" panose="020B0604020202020204"/>
                <a:ea typeface="Arial" panose="020B0604020202020204"/>
                <a:cs typeface="Arial" panose="020B0604020202020204"/>
                <a:sym typeface="Arial" panose="020B0604020202020204"/>
              </a:rPr>
              <a:t>&lt; 03 / 12 &gt;</a:t>
            </a:r>
            <a:endParaRPr lang="en-US" sz="1100"/>
          </a:p>
        </p:txBody>
      </p:sp>
      <p:sp>
        <p:nvSpPr>
          <p:cNvPr id="58" name="AutoShape 58"/>
          <p:cNvSpPr/>
          <p:nvPr/>
        </p:nvSpPr>
        <p:spPr>
          <a:xfrm>
            <a:off x="635000" y="1397000"/>
            <a:ext cx="2413000" cy="1651000"/>
          </a:xfrm>
          <a:prstGeom prst="roundRect">
            <a:avLst>
              <a:gd name="adj" fmla="val 7692"/>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59" name="AutoShape 59"/>
          <p:cNvSpPr/>
          <p:nvPr/>
        </p:nvSpPr>
        <p:spPr>
          <a:xfrm>
            <a:off x="635000" y="1397000"/>
            <a:ext cx="2413000" cy="165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a:p>
            <a:pPr indent="0" algn="ctr">
              <a:lnSpc>
                <a:spcPct val="125000"/>
              </a:lnSpc>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宏观导向</a:t>
            </a:r>
            <a:endPar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0" name="AutoShape 60"/>
          <p:cNvSpPr/>
          <p:nvPr/>
        </p:nvSpPr>
        <p:spPr>
          <a:xfrm>
            <a:off x="635000" y="3175000"/>
            <a:ext cx="2413000" cy="508000"/>
          </a:xfrm>
          <a:prstGeom prst="rect">
            <a:avLst/>
          </a:prstGeom>
          <a:noFill/>
          <a:ln w="12700" cap="flat" cmpd="sng">
            <a:noFill/>
            <a:prstDash val="solid"/>
            <a:round/>
          </a:ln>
        </p:spPr>
        <p:txBody>
          <a:bodyPr vert="horz" wrap="square" lIns="88900" tIns="50800" rIns="88900" bIns="50800" rtlCol="0" anchor="t" anchorCtr="0"/>
          <a:lstStyle/>
          <a:p>
            <a:pPr indent="0" algn="ctr">
              <a:lnSpc>
                <a:spcPct val="125000"/>
              </a:lnSpc>
              <a:defRPr/>
            </a:pPr>
            <a:r>
              <a:rPr lang="en-US" sz="16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宏观政策驱动</a:t>
            </a:r>
            <a:endParaRPr lang="en-US" sz="1100"/>
          </a:p>
        </p:txBody>
      </p:sp>
      <p:sp>
        <p:nvSpPr>
          <p:cNvPr id="61" name="AutoShape 61"/>
          <p:cNvSpPr/>
          <p:nvPr/>
        </p:nvSpPr>
        <p:spPr>
          <a:xfrm>
            <a:off x="635000" y="3683000"/>
            <a:ext cx="2413000" cy="381000"/>
          </a:xfrm>
          <a:prstGeom prst="rect">
            <a:avLst/>
          </a:prstGeom>
          <a:noFill/>
          <a:ln w="12700" cap="flat" cmpd="sng">
            <a:noFill/>
            <a:prstDash val="solid"/>
            <a:round/>
          </a:ln>
        </p:spPr>
        <p:txBody>
          <a:bodyPr vert="horz" wrap="square" lIns="88900" tIns="25400" rIns="88900" bIns="25400" rtlCol="0" anchor="t" anchorCtr="0"/>
          <a:lstStyle/>
          <a:p>
            <a:pPr indent="0" algn="ctr">
              <a:lnSpc>
                <a:spcPct val="125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国家战略风向标 · 行业顶层设计</a:t>
            </a:r>
            <a:endParaRPr lang="en-US" sz="1100"/>
          </a:p>
        </p:txBody>
      </p:sp>
      <p:sp>
        <p:nvSpPr>
          <p:cNvPr id="62" name="AutoShape 62"/>
          <p:cNvSpPr/>
          <p:nvPr/>
        </p:nvSpPr>
        <p:spPr>
          <a:xfrm>
            <a:off x="635000" y="4318000"/>
            <a:ext cx="2413000" cy="15240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关注国家层面发布的行业发展规划、重大改革措施。这类政策往往是市场长期走势的核心指引，能带来确定性的行业红利与估值重塑机会。</a:t>
            </a:r>
            <a:endParaRPr lang="en-US" sz="1100"/>
          </a:p>
        </p:txBody>
      </p:sp>
      <p:cxnSp>
        <p:nvCxnSpPr>
          <p:cNvPr id="63" name="Connector 63"/>
          <p:cNvCxnSpPr/>
          <p:nvPr/>
        </p:nvCxnSpPr>
        <p:spPr>
          <a:xfrm rot="5390450">
            <a:off x="914400" y="3676659"/>
            <a:ext cx="4572000" cy="12700"/>
          </a:xfrm>
          <a:prstGeom prst="line">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64" name="AutoShape 64"/>
          <p:cNvSpPr/>
          <p:nvPr/>
        </p:nvSpPr>
        <p:spPr>
          <a:xfrm>
            <a:off x="3302000" y="1397000"/>
            <a:ext cx="2413000" cy="1651000"/>
          </a:xfrm>
          <a:prstGeom prst="roundRect">
            <a:avLst>
              <a:gd name="adj" fmla="val 7692"/>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65" name="AutoShape 65"/>
          <p:cNvSpPr/>
          <p:nvPr/>
        </p:nvSpPr>
        <p:spPr>
          <a:xfrm>
            <a:off x="3302000" y="1397000"/>
            <a:ext cx="2413000" cy="165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a:p>
            <a:pPr indent="0" algn="ctr">
              <a:lnSpc>
                <a:spcPct val="125000"/>
              </a:lnSpc>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流量风口</a:t>
            </a:r>
            <a:endPar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6" name="AutoShape 66"/>
          <p:cNvSpPr/>
          <p:nvPr/>
        </p:nvSpPr>
        <p:spPr>
          <a:xfrm>
            <a:off x="3302000" y="3175000"/>
            <a:ext cx="2413000" cy="508000"/>
          </a:xfrm>
          <a:prstGeom prst="rect">
            <a:avLst/>
          </a:prstGeom>
          <a:noFill/>
          <a:ln w="12700" cap="flat" cmpd="sng">
            <a:noFill/>
            <a:prstDash val="solid"/>
            <a:round/>
          </a:ln>
        </p:spPr>
        <p:txBody>
          <a:bodyPr vert="horz" wrap="square" lIns="88900" tIns="50800" rIns="88900" bIns="50800" rtlCol="0" anchor="t" anchorCtr="0"/>
          <a:lstStyle/>
          <a:p>
            <a:pPr indent="0" algn="ctr">
              <a:lnSpc>
                <a:spcPct val="125000"/>
              </a:lnSpc>
              <a:defRPr/>
            </a:pPr>
            <a:r>
              <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大型国际赛事</a:t>
            </a:r>
            <a:endParaRPr lang="en-US" sz="1100"/>
          </a:p>
        </p:txBody>
      </p:sp>
      <p:sp>
        <p:nvSpPr>
          <p:cNvPr id="67" name="AutoShape 67"/>
          <p:cNvSpPr/>
          <p:nvPr/>
        </p:nvSpPr>
        <p:spPr>
          <a:xfrm>
            <a:off x="3302000" y="3683000"/>
            <a:ext cx="2413000" cy="381000"/>
          </a:xfrm>
          <a:prstGeom prst="rect">
            <a:avLst/>
          </a:prstGeom>
          <a:noFill/>
          <a:ln w="12700" cap="flat" cmpd="sng">
            <a:noFill/>
            <a:prstDash val="solid"/>
            <a:round/>
          </a:ln>
        </p:spPr>
        <p:txBody>
          <a:bodyPr vert="horz" wrap="square" lIns="88900" tIns="25400" rIns="88900" bIns="25400" rtlCol="0" anchor="t" anchorCtr="0"/>
          <a:lstStyle/>
          <a:p>
            <a:pPr indent="0" algn="ctr">
              <a:lnSpc>
                <a:spcPct val="125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全球流量引爆点 · 短期爆发增长</a:t>
            </a:r>
            <a:endParaRPr lang="en-US" sz="1100"/>
          </a:p>
        </p:txBody>
      </p:sp>
      <p:sp>
        <p:nvSpPr>
          <p:cNvPr id="68" name="AutoShape 68"/>
          <p:cNvSpPr/>
          <p:nvPr/>
        </p:nvSpPr>
        <p:spPr>
          <a:xfrm>
            <a:off x="3302000" y="4318000"/>
            <a:ext cx="2413000" cy="15240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聚焦世界杯、奥运会等全球级体育盛会。这类事件自带巨大的流量与消费关注度，能直接带动文旅、消费、传媒及相关产业链的短期爆发式行情。</a:t>
            </a:r>
            <a:endParaRPr lang="en-US" sz="1100"/>
          </a:p>
        </p:txBody>
      </p:sp>
      <p:cxnSp>
        <p:nvCxnSpPr>
          <p:cNvPr id="69" name="Connector 69"/>
          <p:cNvCxnSpPr/>
          <p:nvPr/>
        </p:nvCxnSpPr>
        <p:spPr>
          <a:xfrm rot="5390450">
            <a:off x="3556000" y="3676659"/>
            <a:ext cx="4572000" cy="12700"/>
          </a:xfrm>
          <a:prstGeom prst="line">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70" name="AutoShape 70"/>
          <p:cNvSpPr/>
          <p:nvPr/>
        </p:nvSpPr>
        <p:spPr>
          <a:xfrm>
            <a:off x="6032500" y="1397000"/>
            <a:ext cx="2667000" cy="2349500"/>
          </a:xfrm>
          <a:prstGeom prst="roundRect">
            <a:avLst>
              <a:gd name="adj" fmla="val 4324"/>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1" name="AutoShape 71"/>
          <p:cNvSpPr/>
          <p:nvPr/>
        </p:nvSpPr>
        <p:spPr>
          <a:xfrm>
            <a:off x="6096000" y="1524000"/>
            <a:ext cx="2540000" cy="2159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5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 颠覆性技术突破</a:t>
            </a:r>
            <a:endParaRPr lang="en-US" sz="1100"/>
          </a:p>
          <a:p>
            <a:pPr indent="0" algn="l">
              <a:lnSpc>
                <a:spcPct val="100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产业变革新引擎：</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AI大模型的重磅发布、新能源领域的革命性技术落地，往往会重塑整个行业的竞争格局，是催生海量中长线投资机会的核心催化剂。</a:t>
            </a:r>
            <a:endPar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2" name="AutoShape 72"/>
          <p:cNvSpPr/>
          <p:nvPr/>
        </p:nvSpPr>
        <p:spPr>
          <a:xfrm>
            <a:off x="6032500" y="3937000"/>
            <a:ext cx="2667000" cy="2349500"/>
          </a:xfrm>
          <a:prstGeom prst="roundRect">
            <a:avLst>
              <a:gd name="adj" fmla="val 4324"/>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p>
        </p:txBody>
      </p:sp>
      <p:sp>
        <p:nvSpPr>
          <p:cNvPr id="73" name="AutoShape 73"/>
          <p:cNvSpPr/>
          <p:nvPr/>
        </p:nvSpPr>
        <p:spPr>
          <a:xfrm>
            <a:off x="6096000" y="4064000"/>
            <a:ext cx="2540000" cy="2159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 公司重大行为</a:t>
            </a:r>
            <a:endParaRPr lang="en-US" sz="1100"/>
          </a:p>
          <a:p>
            <a:pPr indent="0" algn="l">
              <a:lnSpc>
                <a:spcPct val="100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价值重估信号弹：</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业绩预告大幅超预期、签订千亿级重大合同、高管大额增持等行为，是公司内在价值被市场低估的直接体现，是捕捉“预期差”的最佳时机。</a:t>
            </a:r>
            <a:endPar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74" name="Connector 74"/>
          <p:cNvCxnSpPr/>
          <p:nvPr/>
        </p:nvCxnSpPr>
        <p:spPr>
          <a:xfrm rot="5390450">
            <a:off x="6604000" y="3676659"/>
            <a:ext cx="4572000" cy="12700"/>
          </a:xfrm>
          <a:prstGeom prst="line">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75" name="AutoShape 75"/>
          <p:cNvSpPr/>
          <p:nvPr/>
        </p:nvSpPr>
        <p:spPr>
          <a:xfrm>
            <a:off x="9080500" y="1397000"/>
            <a:ext cx="2667000" cy="4889500"/>
          </a:xfrm>
          <a:prstGeom prst="roundRect">
            <a:avLst>
              <a:gd name="adj" fmla="val 3809"/>
            </a:avLst>
          </a:prstGeom>
          <a:solidFill>
            <a:srgbClr val="FFFBEB">
              <a:alpha val="100000"/>
            </a:srgbClr>
          </a:solidFill>
          <a:ln w="12700" cap="flat" cmpd="sng">
            <a:solidFill>
              <a:srgbClr val="FBBF24">
                <a:alpha val="50000"/>
              </a:srgbClr>
            </a:solidFill>
            <a:prstDash val="solid"/>
            <a:round/>
          </a:ln>
        </p:spPr>
        <p:txBody>
          <a:bodyPr vert="horz" wrap="square" lIns="63500" tIns="63500" rIns="63500" bIns="63500" rtlCol="0" anchor="ctr"/>
          <a:lstStyle/>
          <a:p>
            <a:pPr algn="ctr">
              <a:defRPr/>
            </a:pPr>
          </a:p>
        </p:txBody>
      </p:sp>
      <p:sp>
        <p:nvSpPr>
          <p:cNvPr id="76" name="AutoShape 76"/>
          <p:cNvSpPr/>
          <p:nvPr/>
        </p:nvSpPr>
        <p:spPr>
          <a:xfrm>
            <a:off x="9144000" y="1651000"/>
            <a:ext cx="2540000" cy="4572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B45309"/>
                </a:solidFill>
                <a:latin typeface="Noto Sans SC" panose="020B0200000000000000" charset="-122"/>
                <a:ea typeface="Noto Sans SC" panose="020B0200000000000000" charset="-122"/>
                <a:cs typeface="Noto Sans SC" panose="020B0200000000000000" charset="-122"/>
                <a:sym typeface="Noto Sans SC" panose="020B0200000000000000" charset="-122"/>
              </a:rPr>
              <a:t>💡 策略核心心法</a:t>
            </a:r>
            <a:endParaRPr lang="en-US" sz="1100"/>
          </a:p>
          <a:p>
            <a:pPr indent="0" algn="l">
              <a:lnSpc>
                <a:spcPct val="100000"/>
              </a:lnSpc>
            </a:pP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endPar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普通投资者在事件发生后“追热点”，而我们的核心工作，是在市场充分消化事件影响之前，提前识别出这些高确定性、强影响力的关键节点。</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pP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endPar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通过将“预期差”具象化，我们能够更精准地把握市场脉搏，实现低风险的价值捕捉。</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pP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endPar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3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 做催化剂的发现者，而非追高的接盘侠 ”</a:t>
            </a:r>
            <a:endParaRPr lang="en-US" sz="13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4953000" cy="6858000"/>
          </a:xfrm>
          <a:prstGeom prst="roundRect">
            <a:avLst>
              <a:gd name="adj" fmla="val 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800100" y="2755900"/>
            <a:ext cx="3263900" cy="927100"/>
          </a:xfrm>
          <a:prstGeom prst="rect">
            <a:avLst/>
          </a:prstGeom>
          <a:noFill/>
          <a:ln w="12700" cap="flat" cmpd="sng">
            <a:noFill/>
            <a:prstDash val="solid"/>
            <a:round/>
          </a:ln>
        </p:spPr>
        <p:txBody>
          <a:bodyPr vert="horz" wrap="square" lIns="88900" tIns="50800" rIns="88900" bIns="50800" rtlCol="0" anchor="t" anchorCtr="0"/>
          <a:lstStyle/>
          <a:p>
            <a:pPr indent="0" algn="l">
              <a:lnSpc>
                <a:spcPct val="100000"/>
              </a:lnSpc>
              <a:defRPr/>
            </a:pPr>
            <a:r>
              <a:rPr lang="en-US" sz="5400" b="0" i="0" u="none" strike="noStrike" spc="100">
                <a:solidFill>
                  <a:srgbClr val="FFFFFF"/>
                </a:solidFill>
                <a:latin typeface="Arial" panose="020B0604020202020204"/>
                <a:ea typeface="Arial" panose="020B0604020202020204"/>
                <a:cs typeface="Arial" panose="020B0604020202020204"/>
                <a:sym typeface="Arial" panose="020B0604020202020204"/>
              </a:rPr>
              <a:t>PART 02</a:t>
            </a:r>
            <a:endParaRPr lang="en-US" sz="1100"/>
          </a:p>
        </p:txBody>
      </p:sp>
      <p:sp>
        <p:nvSpPr>
          <p:cNvPr id="5" name="AutoShape 5"/>
          <p:cNvSpPr/>
          <p:nvPr/>
        </p:nvSpPr>
        <p:spPr>
          <a:xfrm rot="5400000">
            <a:off x="4076700" y="3124200"/>
            <a:ext cx="190500" cy="165100"/>
          </a:xfrm>
          <a:prstGeom prst="triangle">
            <a:avLst>
              <a:gd name="adj" fmla="val 5000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6769100" y="2654300"/>
            <a:ext cx="3530600" cy="825500"/>
          </a:xfrm>
          <a:prstGeom prst="rect">
            <a:avLst/>
          </a:prstGeom>
          <a:noFill/>
          <a:ln w="12700" cap="flat" cmpd="sng">
            <a:noFill/>
            <a:prstDash val="solid"/>
            <a:round/>
          </a:ln>
        </p:spPr>
        <p:txBody>
          <a:bodyPr vert="horz" wrap="square" lIns="88900" tIns="50800" rIns="88900" bIns="50800" rtlCol="0" anchor="t" anchorCtr="0"/>
          <a:lstStyle/>
          <a:p>
            <a:pPr indent="0" algn="dist">
              <a:lnSpc>
                <a:spcPct val="100000"/>
              </a:lnSpc>
              <a:defRPr/>
            </a:pPr>
            <a:r>
              <a:rPr lang="en-US" sz="48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系统设计</a:t>
            </a:r>
            <a:endParaRPr lang="en-US" sz="1100"/>
          </a:p>
        </p:txBody>
      </p:sp>
      <p:sp>
        <p:nvSpPr>
          <p:cNvPr id="7" name="AutoShape 7"/>
          <p:cNvSpPr/>
          <p:nvPr/>
        </p:nvSpPr>
        <p:spPr>
          <a:xfrm>
            <a:off x="6769100" y="3454400"/>
            <a:ext cx="3530600" cy="304800"/>
          </a:xfrm>
          <a:prstGeom prst="rect">
            <a:avLst/>
          </a:prstGeom>
          <a:noFill/>
          <a:ln w="12700" cap="flat" cmpd="sng">
            <a:noFill/>
            <a:prstDash val="solid"/>
            <a:round/>
          </a:ln>
        </p:spPr>
        <p:txBody>
          <a:bodyPr vert="horz" wrap="square" lIns="88900" tIns="50800" rIns="88900" bIns="50800" rtlCol="0" anchor="t" anchorCtr="0"/>
          <a:lstStyle/>
          <a:p>
            <a:pPr indent="0" algn="dist">
              <a:lnSpc>
                <a:spcPct val="100000"/>
              </a:lnSpc>
              <a:defRPr/>
            </a:pPr>
            <a:r>
              <a:rPr lang="en-US" sz="1400" b="0" i="0" u="none" strike="noStrike" spc="100">
                <a:solidFill>
                  <a:srgbClr val="A6A6A6"/>
                </a:solidFill>
                <a:latin typeface="Arial" panose="020B0604020202020204"/>
                <a:ea typeface="Arial" panose="020B0604020202020204"/>
                <a:cs typeface="Arial" panose="020B0604020202020204"/>
                <a:sym typeface="Arial" panose="020B0604020202020204"/>
              </a:rPr>
              <a:t>System Design</a:t>
            </a:r>
            <a:endParaRPr lang="en-US" sz="1100"/>
          </a:p>
        </p:txBody>
      </p:sp>
      <p:sp>
        <p:nvSpPr>
          <p:cNvPr id="8" name="Freeform 8"/>
          <p:cNvSpPr/>
          <p:nvPr/>
        </p:nvSpPr>
        <p:spPr>
          <a:xfrm>
            <a:off x="11328400" y="6477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0744200" y="6477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1087100" y="6477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252200" y="6477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0668000" y="6477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0833100" y="6477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0909300" y="6477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1391900" y="6477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0617200" y="6477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010900" y="6477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188700" y="6477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544300" y="6477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1480800" y="6477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07700" y="6477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455400" y="6477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150600" y="6477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442700" y="3302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137900" y="3556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0604500" y="3683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0744200" y="3937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0922000" y="4572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417300" y="5080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960100" y="3937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985500" y="3175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1430000" y="3810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1036300" y="5207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1303000" y="5080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1430000" y="4445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096500" y="2921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147300" y="3556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452100" y="3810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109200" y="4699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414000" y="3429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109200" y="5207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274300" y="6858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121900" y="5715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147300" y="3810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375900" y="6731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185400" y="3429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299700" y="3048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325100" y="6858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236200" y="3175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77500" y="4318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477500" y="5715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490200" y="5207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3" name="Freeform 53"/>
          <p:cNvSpPr/>
          <p:nvPr/>
        </p:nvSpPr>
        <p:spPr>
          <a:xfrm>
            <a:off x="10388600" y="3175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4" name="Freeform 54"/>
          <p:cNvSpPr/>
          <p:nvPr/>
        </p:nvSpPr>
        <p:spPr>
          <a:xfrm>
            <a:off x="10121900" y="4191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5" name="Freeform 55"/>
          <p:cNvSpPr/>
          <p:nvPr/>
        </p:nvSpPr>
        <p:spPr>
          <a:xfrm>
            <a:off x="10490200" y="4826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6" name="Freeform 56"/>
          <p:cNvSpPr/>
          <p:nvPr/>
        </p:nvSpPr>
        <p:spPr>
          <a:xfrm>
            <a:off x="10337800" y="3048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7" name="Freeform 57"/>
          <p:cNvSpPr/>
          <p:nvPr/>
        </p:nvSpPr>
        <p:spPr>
          <a:xfrm>
            <a:off x="10223500" y="6731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8" name="Freeform 58"/>
          <p:cNvSpPr/>
          <p:nvPr/>
        </p:nvSpPr>
        <p:spPr>
          <a:xfrm>
            <a:off x="10160000" y="3683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med" len="med"/>
            <a:tailEnd type="none" w="med" len="med"/>
          </a:ln>
        </p:spPr>
      </p:cxnSp>
      <p:sp>
        <p:nvSpPr>
          <p:cNvPr id="55" name="AutoShape 55"/>
          <p:cNvSpPr/>
          <p:nvPr/>
        </p:nvSpPr>
        <p:spPr>
          <a:xfrm>
            <a:off x="444500" y="6388100"/>
            <a:ext cx="1549400" cy="279400"/>
          </a:xfrm>
          <a:prstGeom prst="rect">
            <a:avLst/>
          </a:prstGeom>
          <a:noFill/>
          <a:ln w="12700" cap="flat" cmpd="sng">
            <a:noFill/>
            <a:prstDash val="solid"/>
            <a:round/>
          </a:ln>
        </p:spPr>
        <p:txBody>
          <a:bodyPr vert="horz" wrap="square" lIns="88900" tIns="50800" rIns="88900" bIns="50800" rtlCol="0" anchor="t" anchorCtr="0"/>
          <a:lstStyle/>
          <a:p>
            <a:pPr indent="0" algn="l">
              <a:lnSpc>
                <a:spcPct val="100000"/>
              </a:lnSpc>
              <a:defRPr/>
            </a:pP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策略先行</a:t>
            </a:r>
            <a:r>
              <a:rPr lang="en-US" sz="1200" b="0" i="0" u="none" strike="noStrike">
                <a:solidFill>
                  <a:srgbClr val="808080"/>
                </a:solidFill>
                <a:latin typeface="Arial" panose="020B0604020202020204"/>
                <a:ea typeface="Arial" panose="020B0604020202020204"/>
                <a:cs typeface="Arial" panose="020B0604020202020204"/>
                <a:sym typeface="Arial" panose="020B0604020202020204"/>
              </a:rPr>
              <a:t>|</a:t>
            </a: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精准研判</a:t>
            </a:r>
            <a:endParaRPr lang="en-US" sz="1100"/>
          </a:p>
        </p:txBody>
      </p:sp>
      <p:sp>
        <p:nvSpPr>
          <p:cNvPr id="56" name="AutoShape 56"/>
          <p:cNvSpPr/>
          <p:nvPr/>
        </p:nvSpPr>
        <p:spPr>
          <a:xfrm>
            <a:off x="444500" y="241300"/>
            <a:ext cx="9525000" cy="762000"/>
          </a:xfrm>
          <a:prstGeom prst="rect">
            <a:avLst/>
          </a:prstGeom>
          <a:noFill/>
          <a:ln w="12700" cap="flat" cmpd="sng">
            <a:noFill/>
            <a:prstDash val="solid"/>
            <a:round/>
          </a:ln>
        </p:spPr>
        <p:txBody>
          <a:bodyPr vert="horz" wrap="square" lIns="88900" tIns="50800" rIns="88900" bIns="50800" rtlCol="0" anchor="ctr" anchorCtr="0"/>
          <a:lstStyle/>
          <a:p>
            <a:pPr indent="0" algn="l">
              <a:lnSpc>
                <a:spcPct val="92000"/>
              </a:lnSpc>
              <a:defRPr/>
            </a:pPr>
            <a:r>
              <a:rPr lang="en-US" sz="2200" b="1" i="0" u="none" strike="noStrike">
                <a:solidFill>
                  <a:srgbClr val="9A0001"/>
                </a:solidFill>
                <a:latin typeface="Arial" panose="020B0604020202020204"/>
                <a:ea typeface="Arial" panose="020B0604020202020204"/>
                <a:cs typeface="Arial" panose="020B0604020202020204"/>
                <a:sym typeface="Arial" panose="020B0604020202020204"/>
              </a:rPr>
              <a:t>2.1</a:t>
            </a:r>
            <a:r>
              <a:rPr lang="en-US" sz="20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第一步：事件识别与分级 —— 建立你的“事件雷达”</a:t>
            </a:r>
            <a:endParaRPr lang="en-US" sz="1100"/>
          </a:p>
          <a:p>
            <a:pPr indent="0" algn="l">
              <a:lnSpc>
                <a:spcPct val="100000"/>
              </a:lnSpc>
            </a:pPr>
            <a:r>
              <a:rPr lang="en-US" sz="12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从被动接收到主动扫描，打造高价值投资线索的源头活水</a:t>
            </a:r>
            <a:endParaRPr lang="en-US" sz="12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7" name="AutoShape 57"/>
          <p:cNvSpPr/>
          <p:nvPr/>
        </p:nvSpPr>
        <p:spPr>
          <a:xfrm>
            <a:off x="9004300" y="6388100"/>
            <a:ext cx="2743200" cy="292100"/>
          </a:xfrm>
          <a:prstGeom prst="rect">
            <a:avLst/>
          </a:prstGeom>
          <a:noFill/>
          <a:ln w="12700" cap="flat" cmpd="sng">
            <a:noFill/>
            <a:prstDash val="solid"/>
            <a:round/>
          </a:ln>
        </p:spPr>
        <p:txBody>
          <a:bodyPr vert="horz" wrap="square" lIns="88900" tIns="50800" rIns="88900" bIns="50800" rtlCol="0" anchor="ctr" anchorCtr="0"/>
          <a:lstStyle/>
          <a:p>
            <a:pPr indent="0" algn="r">
              <a:lnSpc>
                <a:spcPct val="100000"/>
              </a:lnSpc>
              <a:defRPr/>
            </a:pPr>
            <a:r>
              <a:rPr lang="en-US" sz="1200" b="0" i="0" u="none" strike="noStrike">
                <a:solidFill>
                  <a:srgbClr val="808080"/>
                </a:solidFill>
                <a:latin typeface="Arial" panose="020B0604020202020204"/>
                <a:ea typeface="Arial" panose="020B0604020202020204"/>
                <a:cs typeface="Arial" panose="020B0604020202020204"/>
                <a:sym typeface="Arial" panose="020B0604020202020204"/>
              </a:rPr>
              <a:t>PART 02 &gt;</a:t>
            </a:r>
            <a:endParaRPr lang="en-US" sz="1100"/>
          </a:p>
        </p:txBody>
      </p:sp>
      <p:pic>
        <p:nvPicPr>
          <p:cNvPr id="58" name="Picture 58"/>
          <p:cNvPicPr>
            <a:picLocks noChangeAspect="1"/>
          </p:cNvPicPr>
          <p:nvPr/>
        </p:nvPicPr>
        <p:blipFill>
          <a:blip r:embed="rId1"/>
          <a:srcRect t="30555" b="30555"/>
          <a:stretch>
            <a:fillRect/>
          </a:stretch>
        </p:blipFill>
        <p:spPr>
          <a:xfrm>
            <a:off x="0" y="1193800"/>
            <a:ext cx="12192000" cy="2667000"/>
          </a:xfrm>
          <a:prstGeom prst="rect">
            <a:avLst/>
          </a:prstGeom>
          <a:noFill/>
          <a:ln w="25400" cap="flat" cmpd="sng">
            <a:noFill/>
            <a:prstDash val="solid"/>
            <a:round/>
          </a:ln>
        </p:spPr>
      </p:pic>
      <p:sp>
        <p:nvSpPr>
          <p:cNvPr id="59" name="AutoShape 59"/>
          <p:cNvSpPr/>
          <p:nvPr/>
        </p:nvSpPr>
        <p:spPr>
          <a:xfrm>
            <a:off x="7366000" y="1193800"/>
            <a:ext cx="4572000" cy="2667000"/>
          </a:xfrm>
          <a:prstGeom prst="roundRect">
            <a:avLst>
              <a:gd name="adj" fmla="val 0"/>
            </a:avLst>
          </a:prstGeom>
          <a:solidFill>
            <a:srgbClr val="1F2937">
              <a:alpha val="75000"/>
            </a:srgbClr>
          </a:solidFill>
          <a:ln w="25400" cap="flat" cmpd="sng">
            <a:noFill/>
            <a:prstDash val="solid"/>
            <a:round/>
          </a:ln>
        </p:spPr>
        <p:txBody>
          <a:bodyPr vert="horz" wrap="square" lIns="63500" tIns="63500" rIns="63500" bIns="63500" rtlCol="0" anchor="ctr"/>
          <a:lstStyle/>
          <a:p>
            <a:pPr algn="ctr">
              <a:defRPr/>
            </a:pPr>
          </a:p>
        </p:txBody>
      </p:sp>
      <p:sp>
        <p:nvSpPr>
          <p:cNvPr id="60" name="AutoShape 60"/>
          <p:cNvSpPr/>
          <p:nvPr/>
        </p:nvSpPr>
        <p:spPr>
          <a:xfrm>
            <a:off x="7620000" y="1397000"/>
            <a:ext cx="4064000" cy="381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600" b="1" i="0" u="none" strike="noStrike">
                <a:solidFill>
                  <a:srgbClr val="F59E0B"/>
                </a:solidFill>
                <a:latin typeface="微软雅黑" panose="020B0503020204020204" charset="-122"/>
                <a:ea typeface="微软雅黑" panose="020B0503020204020204" charset="-122"/>
                <a:cs typeface="微软雅黑" panose="020B0503020204020204" charset="-122"/>
                <a:sym typeface="微软雅黑" panose="020B0503020204020204" charset="-122"/>
              </a:rPr>
              <a:t>📡 核心逻辑：从“被动等待”到“主动捕捉”</a:t>
            </a:r>
            <a:endParaRPr lang="en-US" sz="1100"/>
          </a:p>
        </p:txBody>
      </p:sp>
      <p:sp>
        <p:nvSpPr>
          <p:cNvPr id="61" name="AutoShape 61"/>
          <p:cNvSpPr/>
          <p:nvPr/>
        </p:nvSpPr>
        <p:spPr>
          <a:xfrm>
            <a:off x="7620000" y="1905000"/>
            <a:ext cx="4191000" cy="1651000"/>
          </a:xfrm>
          <a:prstGeom prst="rect">
            <a:avLst/>
          </a:prstGeom>
          <a:noFill/>
          <a:ln w="12700" cap="flat" cmpd="sng">
            <a:noFill/>
            <a:prstDash val="solid"/>
            <a:round/>
          </a:ln>
        </p:spPr>
        <p:txBody>
          <a:bodyPr vert="horz" wrap="square" lIns="0" tIns="0" rIns="0" bIns="0" rtlCol="0" anchor="t" anchorCtr="0"/>
          <a:lstStyle/>
          <a:p>
            <a:pPr indent="0" algn="just">
              <a:lnSpc>
                <a:spcPct val="125000"/>
              </a:lnSpc>
              <a:defRPr/>
            </a:pPr>
            <a:r>
              <a:rPr lang="en-US" sz="1300" b="0" i="0" u="none" strike="noStrike">
                <a:solidFill>
                  <a:srgbClr val="E5E7EB"/>
                </a:solidFill>
                <a:latin typeface="微软雅黑" panose="020B0503020204020204" charset="-122"/>
                <a:ea typeface="微软雅黑" panose="020B0503020204020204" charset="-122"/>
                <a:cs typeface="微软雅黑" panose="020B0503020204020204" charset="-122"/>
                <a:sym typeface="微软雅黑" panose="020B0503020204020204" charset="-122"/>
              </a:rPr>
              <a:t>不再盲目跟风，而是建立一套标准化的“事件雷达”系统。我们需要持续监控全球信息源，将海量信息按照“确定性”与“影响力”两个维度进行分级，筛选出真正能引爆市场的高价值事件，为后续的策略制定提供精准依据。</a:t>
            </a:r>
            <a:endParaRPr lang="en-US" sz="1100"/>
          </a:p>
          <a:p>
            <a:pPr indent="0" algn="just">
              <a:lnSpc>
                <a:spcPct val="125000"/>
              </a:lnSpc>
            </a:pPr>
            <a:r>
              <a:rPr lang="en-US" sz="1200" b="0" i="0" u="none" strike="noStrike">
                <a:solidFill>
                  <a:srgbClr val="9CA3AF"/>
                </a:solidFill>
                <a:latin typeface="微软雅黑" panose="020B0503020204020204" charset="-122"/>
                <a:ea typeface="微软雅黑" panose="020B0503020204020204" charset="-122"/>
                <a:cs typeface="微软雅黑" panose="020B0503020204020204" charset="-122"/>
                <a:sym typeface="微软雅黑" panose="020B0503020204020204" charset="-122"/>
              </a:rPr>
              <a:t>“在信息过载的时代，学会过滤噪音比获取信息更重要。”</a:t>
            </a:r>
            <a:endParaRPr lang="en-US" sz="1200" b="0" i="0" u="none" strike="noStrike">
              <a:solidFill>
                <a:srgbClr val="9CA3A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2" name="AutoShape 62"/>
          <p:cNvSpPr/>
          <p:nvPr/>
        </p:nvSpPr>
        <p:spPr>
          <a:xfrm>
            <a:off x="1371600" y="4191000"/>
            <a:ext cx="9613900" cy="508000"/>
          </a:xfrm>
          <a:prstGeom prst="roundRect">
            <a:avLst>
              <a:gd name="adj" fmla="val 0"/>
            </a:avLst>
          </a:prstGeom>
          <a:solidFill>
            <a:srgbClr val="F3E8FF">
              <a:alpha val="100000"/>
            </a:srgbClr>
          </a:solidFill>
          <a:ln cap="flat" cmpd="sng">
            <a:solidFill>
              <a:srgbClr val="CFBAE6">
                <a:alpha val="100000"/>
              </a:srgbClr>
            </a:solidFill>
            <a:prstDash val="solid"/>
            <a:round/>
          </a:ln>
        </p:spPr>
        <p:txBody>
          <a:bodyPr vert="horz" wrap="square" lIns="127000" tIns="38100" rIns="63500" bIns="38100" rtlCol="0" anchor="ctr" anchorCtr="0"/>
          <a:lstStyle/>
          <a:p>
            <a:pPr indent="0" algn="l">
              <a:lnSpc>
                <a:spcPct val="100000"/>
              </a:lnSpc>
              <a:defRPr/>
            </a:pPr>
            <a:r>
              <a:rPr lang="en-US" sz="1600" b="1" i="0" u="none" strike="noStrike">
                <a:solidFill>
                  <a:srgbClr val="6B21A8"/>
                </a:solidFill>
                <a:latin typeface="微软雅黑" panose="020B0503020204020204" charset="-122"/>
                <a:ea typeface="微软雅黑" panose="020B0503020204020204" charset="-122"/>
                <a:cs typeface="微软雅黑" panose="020B0503020204020204" charset="-122"/>
                <a:sym typeface="微软雅黑" panose="020B0503020204020204" charset="-122"/>
              </a:rPr>
              <a:t>💎 实战指南：三级事件分类体系 + 经典案例解析</a:t>
            </a:r>
            <a:endParaRPr lang="en-US" sz="1100"/>
          </a:p>
        </p:txBody>
      </p:sp>
      <p:sp>
        <p:nvSpPr>
          <p:cNvPr id="63" name="AutoShape 63"/>
          <p:cNvSpPr/>
          <p:nvPr/>
        </p:nvSpPr>
        <p:spPr>
          <a:xfrm>
            <a:off x="1371600" y="4826000"/>
            <a:ext cx="9613900" cy="15875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1" i="0" u="none" strike="noStrike">
                <a:solidFill>
                  <a:srgbClr val="1F2937"/>
                </a:solidFill>
                <a:latin typeface="微软雅黑" panose="020B0503020204020204" charset="-122"/>
                <a:ea typeface="微软雅黑" panose="020B0503020204020204" charset="-122"/>
                <a:cs typeface="微软雅黑" panose="020B0503020204020204" charset="-122"/>
                <a:sym typeface="微软雅黑" panose="020B0503020204020204" charset="-122"/>
              </a:rPr>
              <a:t>【三级分类标准】：</a:t>
            </a:r>
            <a:r>
              <a:rPr lang="en-US" sz="1300" b="0" i="0" u="none" strike="noStrike">
                <a:solidFill>
                  <a:srgbClr val="1F2937"/>
                </a:solidFill>
                <a:latin typeface="微软雅黑" panose="020B0503020204020204" charset="-122"/>
                <a:ea typeface="微软雅黑" panose="020B0503020204020204" charset="-122"/>
                <a:cs typeface="微软雅黑" panose="020B0503020204020204" charset="-122"/>
                <a:sym typeface="微软雅黑" panose="020B0503020204020204" charset="-122"/>
              </a:rPr>
              <a:t>一级事件（高确定/大影响）如宏观政策、国际赛事；二级事件（中确定/局部影响）如产业趋势、公司重大动作；三级事件（低确定/短期）如社会热点、市场传闻。</a:t>
            </a:r>
            <a:endParaRPr lang="en-US" sz="1100"/>
          </a:p>
          <a:p>
            <a:pPr indent="0" algn="l">
              <a:lnSpc>
                <a:spcPct val="117000"/>
              </a:lnSpc>
            </a:pPr>
            <a:r>
              <a:rPr lang="en-US" sz="1300" b="1" i="0" u="none" strike="noStrike">
                <a:solidFill>
                  <a:srgbClr val="1F2937"/>
                </a:solidFill>
                <a:latin typeface="微软雅黑" panose="020B0503020204020204" charset="-122"/>
                <a:ea typeface="微软雅黑" panose="020B0503020204020204" charset="-122"/>
                <a:cs typeface="微软雅黑" panose="020B0503020204020204" charset="-122"/>
                <a:sym typeface="微软雅黑" panose="020B0503020204020204" charset="-122"/>
              </a:rPr>
              <a:t>【经典案例：2026世界杯】：</a:t>
            </a:r>
            <a:r>
              <a:rPr lang="en-US" sz="1300" b="0" i="0" u="none" strike="noStrike">
                <a:solidFill>
                  <a:srgbClr val="1F2937"/>
                </a:solidFill>
                <a:latin typeface="微软雅黑" panose="020B0503020204020204" charset="-122"/>
                <a:ea typeface="微软雅黑" panose="020B0503020204020204" charset="-122"/>
                <a:cs typeface="微软雅黑" panose="020B0503020204020204" charset="-122"/>
                <a:sym typeface="微软雅黑" panose="020B0503020204020204" charset="-122"/>
              </a:rPr>
              <a:t>在2025年底，这是典型的</a:t>
            </a:r>
            <a:r>
              <a:rPr lang="en-US" sz="1300" b="1" i="0" u="none" strike="noStrike">
                <a:solidFill>
                  <a:srgbClr val="1F2937"/>
                </a:solidFill>
                <a:latin typeface="微软雅黑" panose="020B0503020204020204" charset="-122"/>
                <a:ea typeface="微软雅黑" panose="020B0503020204020204" charset="-122"/>
                <a:cs typeface="微软雅黑" panose="020B0503020204020204" charset="-122"/>
                <a:sym typeface="微软雅黑" panose="020B0503020204020204" charset="-122"/>
              </a:rPr>
              <a:t>一级事件</a:t>
            </a:r>
            <a:r>
              <a:rPr lang="en-US" sz="1300" b="0" i="0" u="none" strike="noStrike">
                <a:solidFill>
                  <a:srgbClr val="1F2937"/>
                </a:solidFill>
                <a:latin typeface="微软雅黑" panose="020B0503020204020204" charset="-122"/>
                <a:ea typeface="微软雅黑" panose="020B0503020204020204" charset="-122"/>
                <a:cs typeface="微软雅黑" panose="020B0503020204020204" charset="-122"/>
                <a:sym typeface="微软雅黑" panose="020B0503020204020204" charset="-122"/>
              </a:rPr>
              <a:t>。通过国际足联官网等权威信源可确认，其时间、地点、影响力均高度确定，是布局体育、旅游、消费板块的绝佳前瞻机会，值得重点跟踪。</a:t>
            </a:r>
            <a:endParaRPr lang="en-US" sz="1300" b="0" i="0" u="none" strike="noStrike">
              <a:solidFill>
                <a:srgbClr val="1F2937"/>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44500" y="381000"/>
            <a:ext cx="1117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2.2 第二步：市场热度量化</a:t>
            </a:r>
            <a:r>
              <a:rPr lang="en-US" sz="18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寻找“大众觉醒前”的最佳入场点</a:t>
            </a:r>
            <a:endParaRPr lang="en-US" sz="1100"/>
          </a:p>
        </p:txBody>
      </p:sp>
      <p:sp>
        <p:nvSpPr>
          <p:cNvPr id="3" name="AutoShape 3"/>
          <p:cNvSpPr/>
          <p:nvPr/>
        </p:nvSpPr>
        <p:spPr>
          <a:xfrm>
            <a:off x="444500" y="1016000"/>
            <a:ext cx="1117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拒绝“拍脑袋”猜市场，通过构建多维度的【舆情热度指数（POHI）】，让市场情绪可视化，精准捕捉从“潜伏期”到“狂热期”的关键拐点。</a:t>
            </a:r>
            <a:endParaRPr lang="en-US" sz="1100"/>
          </a:p>
        </p:txBody>
      </p:sp>
      <p:sp>
        <p:nvSpPr>
          <p:cNvPr id="4" name="AutoShape 4"/>
          <p:cNvSpPr/>
          <p:nvPr/>
        </p:nvSpPr>
        <p:spPr>
          <a:xfrm>
            <a:off x="444500" y="1651000"/>
            <a:ext cx="4826000" cy="4191000"/>
          </a:xfrm>
          <a:prstGeom prst="roundRect">
            <a:avLst>
              <a:gd name="adj" fmla="val 3030"/>
            </a:avLst>
          </a:prstGeom>
          <a:solidFill>
            <a:srgbClr val="ECF2FF">
              <a:alpha val="100000"/>
            </a:srgbClr>
          </a:solidFill>
          <a:ln cap="flat" cmpd="sng">
            <a:solidFill>
              <a:srgbClr val="BDCAE6">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698500" y="19050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核心逻辑：从“事件识别”到“时机把控”</a:t>
            </a:r>
            <a:endParaRPr lang="en-US" sz="1100"/>
          </a:p>
        </p:txBody>
      </p:sp>
      <p:sp>
        <p:nvSpPr>
          <p:cNvPr id="6" name="AutoShape 6"/>
          <p:cNvSpPr/>
          <p:nvPr/>
        </p:nvSpPr>
        <p:spPr>
          <a:xfrm>
            <a:off x="698500" y="2540000"/>
            <a:ext cx="4318000" cy="177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识别出潜在的投资事件后，最致命的错误是“过早入场”或“追高接盘”。我们的核心目标，是找到大众开始广泛讨论前的“时间窗口”。</a:t>
            </a:r>
            <a:endParaRPr lang="en-US" sz="1100"/>
          </a:p>
          <a:p>
            <a:pPr indent="0" algn="l">
              <a:lnSpc>
                <a:spcPct val="125000"/>
              </a:lnSpc>
            </a:pPr>
          </a:p>
          <a:p>
            <a:pPr indent="0" algn="l">
              <a:lnSpc>
                <a:spcPct val="125000"/>
              </a:lnSpc>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因此，我们不依赖主观判断，而是通过整合全网数据构建</a:t>
            </a: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舆情热度指数（POHI）</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，将模糊的“市场热度”转化为可监测、可量化的客观指标，作为入场和离场的决策依据。</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698500" y="4572000"/>
            <a:ext cx="4318000" cy="1016000"/>
          </a:xfrm>
          <a:prstGeom prst="roundRect">
            <a:avLst>
              <a:gd name="adj" fmla="val 6250"/>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889000" y="46990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 策略铁律：</a:t>
            </a:r>
            <a:endParaRPr lang="en-US" sz="1100"/>
          </a:p>
          <a:p>
            <a:pPr indent="0" algn="l">
              <a:lnSpc>
                <a:spcPct val="125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在热度指数“陡峭拉升”时果断布局，在指数达到“历史峰值”时坚决止盈，不恋战，不贪婪。</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5524500" y="1651000"/>
            <a:ext cx="5969000" cy="2032000"/>
          </a:xfrm>
          <a:prstGeom prst="roundRect">
            <a:avLst>
              <a:gd name="adj" fmla="val 6250"/>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15000" y="1841500"/>
            <a:ext cx="304800" cy="304800"/>
          </a:xfrm>
          <a:prstGeom prst="rect">
            <a:avLst/>
          </a:prstGeom>
        </p:spPr>
      </p:pic>
      <p:sp>
        <p:nvSpPr>
          <p:cNvPr id="11" name="AutoShape 11"/>
          <p:cNvSpPr/>
          <p:nvPr/>
        </p:nvSpPr>
        <p:spPr>
          <a:xfrm>
            <a:off x="6096000" y="1803400"/>
            <a:ext cx="520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 数据来源：三大维度的交叉验证</a:t>
            </a:r>
            <a:endParaRPr lang="en-US" sz="1100"/>
          </a:p>
        </p:txBody>
      </p:sp>
      <p:sp>
        <p:nvSpPr>
          <p:cNvPr id="12" name="AutoShape 12"/>
          <p:cNvSpPr/>
          <p:nvPr/>
        </p:nvSpPr>
        <p:spPr>
          <a:xfrm>
            <a:off x="5715000" y="2286000"/>
            <a:ext cx="5588000" cy="1270000"/>
          </a:xfrm>
          <a:prstGeom prst="rect">
            <a:avLst/>
          </a:prstGeom>
          <a:noFill/>
          <a:ln w="12700" cap="flat" cmpd="sng">
            <a:noFill/>
            <a:prstDash val="solid"/>
            <a:round/>
          </a:ln>
        </p:spPr>
        <p:txBody>
          <a:bodyPr vert="horz" wrap="square" lIns="0" tIns="0" rIns="0" bIns="0" rtlCol="0" anchor="ctr" anchorCtr="0"/>
          <a:lstStyle/>
          <a:p>
            <a:pPr marL="152400" indent="-152400" algn="l">
              <a:lnSpc>
                <a:spcPct val="108000"/>
              </a:lnSpc>
              <a:buClr>
                <a:srgbClr val="374151"/>
              </a:buClr>
              <a:buChar char="•"/>
              <a:defRPr/>
            </a:pPr>
            <a:r>
              <a:rPr lang="en-US" sz="1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搜索趋势：</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百度指数、谷歌趋势的关键词搜索量，反映用户的主动关注意愿。</a:t>
            </a:r>
            <a:endParaRPr lang="en-US" sz="1100"/>
          </a:p>
          <a:p>
            <a:pPr marL="152400" indent="-152400" algn="l">
              <a:lnSpc>
                <a:spcPct val="108000"/>
              </a:lnSpc>
              <a:buClr>
                <a:srgbClr val="374151"/>
              </a:buClr>
              <a:buChar char="•"/>
            </a:pPr>
            <a:r>
              <a:rPr lang="en-US" sz="1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社媒声量：</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微博、雪球、股吧等平台的讨论帖数与互动量，捕捉投资者情绪。</a:t>
            </a:r>
            <a:endPar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52400" indent="-152400" algn="l">
              <a:lnSpc>
                <a:spcPct val="108000"/>
              </a:lnSpc>
              <a:buClr>
                <a:srgbClr val="374151"/>
              </a:buClr>
              <a:buChar char="•"/>
            </a:pPr>
            <a:r>
              <a:rPr lang="en-US" sz="1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新闻报道：</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主流财经媒体的报道频率与篇幅，判断事件的官方曝光度。</a:t>
            </a:r>
            <a:endPar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5524500" y="3937000"/>
            <a:ext cx="5969000" cy="2095500"/>
          </a:xfrm>
          <a:prstGeom prst="roundRect">
            <a:avLst>
              <a:gd name="adj" fmla="val 6060"/>
            </a:avLst>
          </a:prstGeom>
          <a:solidFill>
            <a:srgbClr val="FFFB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15000" y="4127500"/>
            <a:ext cx="304800" cy="304800"/>
          </a:xfrm>
          <a:prstGeom prst="rect">
            <a:avLst/>
          </a:prstGeom>
        </p:spPr>
      </p:pic>
      <p:sp>
        <p:nvSpPr>
          <p:cNvPr id="15" name="AutoShape 15"/>
          <p:cNvSpPr/>
          <p:nvPr/>
        </p:nvSpPr>
        <p:spPr>
          <a:xfrm>
            <a:off x="6096000" y="4089400"/>
            <a:ext cx="520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B45309"/>
                </a:solidFill>
                <a:latin typeface="Noto Sans SC" panose="020B0200000000000000" charset="-122"/>
                <a:ea typeface="Noto Sans SC" panose="020B0200000000000000" charset="-122"/>
                <a:cs typeface="Noto Sans SC" panose="020B0200000000000000" charset="-122"/>
                <a:sym typeface="Noto Sans SC" panose="020B0200000000000000" charset="-122"/>
              </a:rPr>
              <a:t>🚦 关键信号：市场情绪的三个阶段</a:t>
            </a:r>
            <a:endParaRPr lang="en-US" sz="1100"/>
          </a:p>
        </p:txBody>
      </p:sp>
      <p:sp>
        <p:nvSpPr>
          <p:cNvPr id="16" name="AutoShape 16"/>
          <p:cNvSpPr/>
          <p:nvPr/>
        </p:nvSpPr>
        <p:spPr>
          <a:xfrm>
            <a:off x="5715000" y="45720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潜伏期：</a:t>
            </a: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POHI指数处于历史低位，市场关注度低，适合观察与研究。</a:t>
            </a:r>
            <a:endParaRPr lang="en-US" sz="1100"/>
          </a:p>
          <a:p>
            <a:pPr indent="0" algn="l">
              <a:lnSpc>
                <a:spcPct val="117000"/>
              </a:lnSpc>
            </a:pPr>
            <a:r>
              <a:rPr lang="en-US" sz="12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 狂热期：</a:t>
            </a: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指数达峰值，人人热议，是明确的获利了结信号。</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8636000" y="4572000"/>
            <a:ext cx="2730500" cy="1270000"/>
          </a:xfrm>
          <a:prstGeom prst="roundRect">
            <a:avLst>
              <a:gd name="adj" fmla="val 5000"/>
            </a:avLst>
          </a:prstGeom>
          <a:solidFill>
            <a:srgbClr val="FEF3C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763000" y="4635500"/>
            <a:ext cx="26035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1" i="0" u="none" strike="noStrike">
                <a:solidFill>
                  <a:srgbClr val="92400E"/>
                </a:solidFill>
                <a:latin typeface="Noto Sans SC" panose="020B0200000000000000" charset="-122"/>
                <a:ea typeface="Noto Sans SC" panose="020B0200000000000000" charset="-122"/>
                <a:cs typeface="Noto Sans SC" panose="020B0200000000000000" charset="-122"/>
                <a:sym typeface="Noto Sans SC" panose="020B0200000000000000" charset="-122"/>
              </a:rPr>
              <a:t>🏆 启动期（黄金布局点）：</a:t>
            </a:r>
            <a:endParaRPr lang="en-US" sz="1100"/>
          </a:p>
          <a:p>
            <a:pPr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POHI指数从低位陡峭拉升并突破关键阈值，热度升温但未全民狂欢，是最佳入场时机。</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9" name="Connector 19"/>
          <p:cNvCxnSpPr/>
          <p:nvPr/>
        </p:nvCxnSpPr>
        <p:spPr>
          <a:xfrm rot="-3862">
            <a:off x="444504" y="6089650"/>
            <a:ext cx="11303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0" name="AutoShape 20"/>
          <p:cNvSpPr/>
          <p:nvPr/>
        </p:nvSpPr>
        <p:spPr>
          <a:xfrm>
            <a:off x="444500" y="6223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思想自由 · 兼容并包 —— 以数据驱动决策，拒绝情绪化交易</a:t>
            </a:r>
            <a:endParaRPr lang="en-US" sz="1100"/>
          </a:p>
        </p:txBody>
      </p:sp>
      <p:sp>
        <p:nvSpPr>
          <p:cNvPr id="21" name="AutoShape 21"/>
          <p:cNvSpPr/>
          <p:nvPr/>
        </p:nvSpPr>
        <p:spPr>
          <a:xfrm>
            <a:off x="10414000" y="6223000"/>
            <a:ext cx="1270000" cy="381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200" b="0" i="0" u="none" strike="noStrike">
                <a:solidFill>
                  <a:srgbClr val="9CA3AF"/>
                </a:solidFill>
                <a:latin typeface="Arial" panose="020B0604020202020204"/>
                <a:ea typeface="Arial" panose="020B0604020202020204"/>
                <a:cs typeface="Arial" panose="020B0604020202020204"/>
                <a:sym typeface="Arial" panose="020B0604020202020204"/>
              </a:rPr>
              <a:t>&lt; 02 / 05 &gt;</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lg" len="lg"/>
            <a:tailEnd type="none" w="lg" len="lg"/>
          </a:ln>
        </p:spPr>
      </p:cxnSp>
      <p:sp>
        <p:nvSpPr>
          <p:cNvPr id="55" name="AutoShape 55"/>
          <p:cNvSpPr/>
          <p:nvPr/>
        </p:nvSpPr>
        <p:spPr>
          <a:xfrm>
            <a:off x="444500" y="317500"/>
            <a:ext cx="10160000" cy="6985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25000"/>
              </a:lnSpc>
              <a:defRPr/>
            </a:pPr>
            <a:r>
              <a:rPr lang="en-US" sz="20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2.3 第三步：标的筛选与评分（锁定龙头股）</a:t>
            </a:r>
            <a:endParaRPr lang="en-US" sz="1100"/>
          </a:p>
          <a:p>
            <a:pPr indent="0" algn="l">
              <a:lnSpc>
                <a:spcPct val="125000"/>
              </a:lnSpc>
            </a:pPr>
            <a:r>
              <a:rPr lang="en-US" sz="1400" b="1"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从海量热点中，用科学模型精准锁定最具上涨潜力的核心资产</a:t>
            </a:r>
            <a:endParaRPr lang="en-US" sz="1400" b="1"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6" name="AutoShape 56"/>
          <p:cNvSpPr/>
          <p:nvPr/>
        </p:nvSpPr>
        <p:spPr>
          <a:xfrm>
            <a:off x="571500" y="1397000"/>
            <a:ext cx="4318000" cy="4445000"/>
          </a:xfrm>
          <a:prstGeom prst="roundRect">
            <a:avLst>
              <a:gd name="adj" fmla="val 3529"/>
            </a:avLst>
          </a:prstGeom>
          <a:solidFill>
            <a:srgbClr val="F8F9FA">
              <a:alpha val="95000"/>
            </a:srgbClr>
          </a:solidFill>
          <a:ln cap="flat" cmpd="sng">
            <a:solidFill>
              <a:srgbClr val="C8D4E1">
                <a:alpha val="95000"/>
              </a:srgbClr>
            </a:solid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p>
        </p:txBody>
      </p:sp>
      <p:pic>
        <p:nvPicPr>
          <p:cNvPr id="57" name="Picture 5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9000" y="1778000"/>
            <a:ext cx="1016000" cy="1016000"/>
          </a:xfrm>
          <a:prstGeom prst="rect">
            <a:avLst/>
          </a:prstGeom>
        </p:spPr>
      </p:pic>
      <p:sp>
        <p:nvSpPr>
          <p:cNvPr id="58" name="AutoShape 58"/>
          <p:cNvSpPr/>
          <p:nvPr/>
        </p:nvSpPr>
        <p:spPr>
          <a:xfrm>
            <a:off x="2032000" y="1905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量化评分模型</a:t>
            </a:r>
            <a:endParaRPr lang="en-US" sz="1100"/>
          </a:p>
          <a:p>
            <a:pPr indent="0" algn="l">
              <a:lnSpc>
                <a:spcPct val="125000"/>
              </a:lnSpc>
            </a:pPr>
            <a:r>
              <a:rPr lang="en-US" sz="13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拒绝盲目跟风，数据驱动决策</a:t>
            </a:r>
            <a:endParaRPr lang="en-US" sz="13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9" name="AutoShape 59"/>
          <p:cNvSpPr/>
          <p:nvPr/>
        </p:nvSpPr>
        <p:spPr>
          <a:xfrm>
            <a:off x="889000" y="3175000"/>
            <a:ext cx="3810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找到热点板块后，我们需要从中筛选出真正的龙头股。避免陷入“伪热点”的陷阱，核心在于建立一套严谨的量化评估体系。</a:t>
            </a:r>
            <a:endParaRPr lang="en-US" sz="1100"/>
          </a:p>
          <a:p>
            <a:pPr indent="0" algn="l">
              <a:lnSpc>
                <a:spcPct val="125000"/>
              </a:lnSpc>
            </a:pPr>
            <a:b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br>
            <a:endPar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我们将从业务相关性、业绩弹性、安全估值三个核心维度出发，对每一个候选标的进行全方位的“体检”，从而构建高胜率的投资组合。</a:t>
            </a:r>
            <a:endPar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0" name="AutoShape 60"/>
          <p:cNvSpPr/>
          <p:nvPr/>
        </p:nvSpPr>
        <p:spPr>
          <a:xfrm>
            <a:off x="5207000" y="1397000"/>
            <a:ext cx="3111500" cy="2159000"/>
          </a:xfrm>
          <a:prstGeom prst="roundRect">
            <a:avLst>
              <a:gd name="adj" fmla="val 5882"/>
            </a:avLst>
          </a:prstGeom>
          <a:solidFill>
            <a:srgbClr val="EFF6FF">
              <a:alpha val="90000"/>
            </a:srgbClr>
          </a:solidFill>
          <a:ln cap="flat" cmpd="sng">
            <a:solidFill>
              <a:srgbClr val="C0D0E6">
                <a:alpha val="90000"/>
              </a:srgbClr>
            </a:solidFill>
            <a:prstDash val="solid"/>
            <a:round/>
          </a:ln>
        </p:spPr>
        <p:txBody>
          <a:bodyPr vert="horz" wrap="square" lIns="63500" tIns="63500" rIns="63500" bIns="63500" rtlCol="0" anchor="ctr"/>
          <a:lstStyle/>
          <a:p>
            <a:pPr algn="ctr">
              <a:defRPr/>
            </a:pPr>
          </a:p>
        </p:txBody>
      </p:sp>
      <p:pic>
        <p:nvPicPr>
          <p:cNvPr id="61" name="Picture 6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397500" y="1587500"/>
            <a:ext cx="406400" cy="406400"/>
          </a:xfrm>
          <a:prstGeom prst="rect">
            <a:avLst/>
          </a:prstGeom>
        </p:spPr>
      </p:pic>
      <p:sp>
        <p:nvSpPr>
          <p:cNvPr id="62" name="AutoShape 62"/>
          <p:cNvSpPr/>
          <p:nvPr/>
        </p:nvSpPr>
        <p:spPr>
          <a:xfrm>
            <a:off x="5842000" y="1587500"/>
            <a:ext cx="23495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相关性 Relevance</a:t>
            </a:r>
            <a:endParaRPr lang="en-US" sz="1100"/>
          </a:p>
        </p:txBody>
      </p:sp>
      <p:sp>
        <p:nvSpPr>
          <p:cNvPr id="63" name="AutoShape 63"/>
          <p:cNvSpPr/>
          <p:nvPr/>
        </p:nvSpPr>
        <p:spPr>
          <a:xfrm>
            <a:off x="5397500" y="2159000"/>
            <a:ext cx="2794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评估业务与事件的绑定深度。优先选择官方赞助商，其次是核心供应商，坚决规避无实质业务支撑的纯概念炒作。</a:t>
            </a:r>
            <a:endParaRPr lang="en-US" sz="1100"/>
          </a:p>
        </p:txBody>
      </p:sp>
      <p:sp>
        <p:nvSpPr>
          <p:cNvPr id="64" name="AutoShape 64"/>
          <p:cNvSpPr/>
          <p:nvPr/>
        </p:nvSpPr>
        <p:spPr>
          <a:xfrm>
            <a:off x="8445500" y="1397000"/>
            <a:ext cx="3111500" cy="2159000"/>
          </a:xfrm>
          <a:prstGeom prst="roundRect">
            <a:avLst>
              <a:gd name="adj" fmla="val 5882"/>
            </a:avLst>
          </a:prstGeom>
          <a:solidFill>
            <a:srgbClr val="FFF7ED">
              <a:alpha val="90000"/>
            </a:srgbClr>
          </a:solidFill>
          <a:ln cap="flat" cmpd="sng">
            <a:solidFill>
              <a:srgbClr val="E6D4BE">
                <a:alpha val="90000"/>
              </a:srgbClr>
            </a:solidFill>
            <a:prstDash val="solid"/>
            <a:round/>
          </a:ln>
        </p:spPr>
        <p:txBody>
          <a:bodyPr vert="horz" wrap="square" lIns="63500" tIns="63500" rIns="63500" bIns="63500" rtlCol="0" anchor="ctr"/>
          <a:lstStyle/>
          <a:p>
            <a:pPr algn="ctr">
              <a:defRPr/>
            </a:pPr>
          </a:p>
        </p:txBody>
      </p:sp>
      <p:pic>
        <p:nvPicPr>
          <p:cNvPr id="65" name="Picture 6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36000" y="1587500"/>
            <a:ext cx="406400" cy="406400"/>
          </a:xfrm>
          <a:prstGeom prst="rect">
            <a:avLst/>
          </a:prstGeom>
        </p:spPr>
      </p:pic>
      <p:sp>
        <p:nvSpPr>
          <p:cNvPr id="66" name="AutoShape 66"/>
          <p:cNvSpPr/>
          <p:nvPr/>
        </p:nvSpPr>
        <p:spPr>
          <a:xfrm>
            <a:off x="9080500" y="1587500"/>
            <a:ext cx="23495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弹性 Elasticity</a:t>
            </a:r>
            <a:endParaRPr lang="en-US" sz="1100"/>
          </a:p>
        </p:txBody>
      </p:sp>
      <p:sp>
        <p:nvSpPr>
          <p:cNvPr id="67" name="AutoShape 67"/>
          <p:cNvSpPr/>
          <p:nvPr/>
        </p:nvSpPr>
        <p:spPr>
          <a:xfrm>
            <a:off x="8636000" y="2159000"/>
            <a:ext cx="2794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测算事件带来的业绩增量。重点关注订单驱动型企业，其次是品牌价值提升带来的溢价，最后是短期销量催化带来的边际改善。</a:t>
            </a:r>
            <a:endParaRPr lang="en-US" sz="1100"/>
          </a:p>
        </p:txBody>
      </p:sp>
      <p:sp>
        <p:nvSpPr>
          <p:cNvPr id="68" name="AutoShape 68"/>
          <p:cNvSpPr/>
          <p:nvPr/>
        </p:nvSpPr>
        <p:spPr>
          <a:xfrm>
            <a:off x="5207000" y="3683000"/>
            <a:ext cx="6350000" cy="1460500"/>
          </a:xfrm>
          <a:prstGeom prst="roundRect">
            <a:avLst>
              <a:gd name="adj" fmla="val 8695"/>
            </a:avLst>
          </a:prstGeom>
          <a:solidFill>
            <a:srgbClr val="F0FDF4">
              <a:alpha val="90000"/>
            </a:srgbClr>
          </a:solidFill>
          <a:ln cap="flat" cmpd="sng">
            <a:solidFill>
              <a:srgbClr val="C1E4CC">
                <a:alpha val="90000"/>
              </a:srgbClr>
            </a:solidFill>
            <a:prstDash val="solid"/>
            <a:round/>
          </a:ln>
        </p:spPr>
        <p:txBody>
          <a:bodyPr vert="horz" wrap="square" lIns="63500" tIns="63500" rIns="63500" bIns="63500" rtlCol="0" anchor="ctr"/>
          <a:lstStyle/>
          <a:p>
            <a:pPr algn="ctr">
              <a:defRPr/>
            </a:pPr>
          </a:p>
        </p:txBody>
      </p:sp>
      <p:pic>
        <p:nvPicPr>
          <p:cNvPr id="69" name="Picture 6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397500" y="3873500"/>
            <a:ext cx="406400" cy="406400"/>
          </a:xfrm>
          <a:prstGeom prst="rect">
            <a:avLst/>
          </a:prstGeom>
        </p:spPr>
      </p:pic>
      <p:sp>
        <p:nvSpPr>
          <p:cNvPr id="70" name="AutoShape 70"/>
          <p:cNvSpPr/>
          <p:nvPr/>
        </p:nvSpPr>
        <p:spPr>
          <a:xfrm>
            <a:off x="5842000" y="3873500"/>
            <a:ext cx="5461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估值 Valuation —— 守住安全边际的最后一道防线</a:t>
            </a:r>
            <a:endParaRPr lang="en-US" sz="1100"/>
          </a:p>
        </p:txBody>
      </p:sp>
      <p:sp>
        <p:nvSpPr>
          <p:cNvPr id="71" name="AutoShape 71"/>
          <p:cNvSpPr/>
          <p:nvPr/>
        </p:nvSpPr>
        <p:spPr>
          <a:xfrm>
            <a:off x="5397500" y="4445000"/>
            <a:ext cx="5969000" cy="698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判断当前股价是否已透支未来预期。优选处于历史低位或合理区间的标的，避开已被市场过度追捧、估值严重偏高的股票，确保在热点退潮时仍有安全垫。</a:t>
            </a:r>
            <a:endParaRPr lang="en-US" sz="1100"/>
          </a:p>
        </p:txBody>
      </p:sp>
      <p:sp>
        <p:nvSpPr>
          <p:cNvPr id="72" name="AutoShape 72"/>
          <p:cNvSpPr/>
          <p:nvPr/>
        </p:nvSpPr>
        <p:spPr>
          <a:xfrm>
            <a:off x="5207000" y="5270500"/>
            <a:ext cx="6350000" cy="762000"/>
          </a:xfrm>
          <a:prstGeom prst="roundRect">
            <a:avLst>
              <a:gd name="adj" fmla="val 16666"/>
            </a:avLst>
          </a:prstGeom>
          <a:solidFill>
            <a:srgbClr val="9A0001">
              <a:alpha val="8000"/>
            </a:srgbClr>
          </a:solidFill>
          <a:ln w="25400" cap="flat" cmpd="sng">
            <a:noFill/>
            <a:prstDash val="solid"/>
            <a:round/>
          </a:ln>
        </p:spPr>
        <p:txBody>
          <a:bodyPr vert="horz" wrap="square" lIns="63500" tIns="63500" rIns="63500" bIns="63500" rtlCol="0" anchor="ctr"/>
          <a:lstStyle/>
          <a:p>
            <a:pPr algn="ctr">
              <a:defRPr/>
            </a:pPr>
          </a:p>
        </p:txBody>
      </p:sp>
      <p:sp>
        <p:nvSpPr>
          <p:cNvPr id="73" name="AutoShape 73"/>
          <p:cNvSpPr/>
          <p:nvPr/>
        </p:nvSpPr>
        <p:spPr>
          <a:xfrm>
            <a:off x="5397500" y="5359400"/>
            <a:ext cx="609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 策略落地：</a:t>
            </a:r>
            <a:r>
              <a:rPr lang="en-US" sz="13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通过模型对标的综合打分，筛选出3-5只综合得分最高的股票作为核心组合，以数据支撑替代主观臆断，提升投资胜率。</a:t>
            </a:r>
            <a:endParaRPr lang="en-US" sz="1100"/>
          </a:p>
        </p:txBody>
      </p:sp>
      <p:sp>
        <p:nvSpPr>
          <p:cNvPr id="74" name="AutoShape 74"/>
          <p:cNvSpPr/>
          <p:nvPr/>
        </p:nvSpPr>
        <p:spPr>
          <a:xfrm>
            <a:off x="444500" y="6159500"/>
            <a:ext cx="3810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投资策略模型 | 科学筛选，理性投资</a:t>
            </a:r>
            <a:endParaRPr lang="en-US" sz="1100"/>
          </a:p>
        </p:txBody>
      </p:sp>
      <p:sp>
        <p:nvSpPr>
          <p:cNvPr id="75" name="AutoShape 75"/>
          <p:cNvSpPr/>
          <p:nvPr/>
        </p:nvSpPr>
        <p:spPr>
          <a:xfrm>
            <a:off x="9080500" y="6159500"/>
            <a:ext cx="2540000" cy="2794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PAGE 05 &gt;</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4953000" cy="6858000"/>
          </a:xfrm>
          <a:prstGeom prst="roundRect">
            <a:avLst>
              <a:gd name="adj" fmla="val 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800100" y="2755900"/>
            <a:ext cx="3556000" cy="1143000"/>
          </a:xfrm>
          <a:prstGeom prst="rect">
            <a:avLst/>
          </a:prstGeom>
          <a:noFill/>
          <a:ln w="12700" cap="flat" cmpd="sng">
            <a:noFill/>
            <a:prstDash val="solid"/>
            <a:round/>
          </a:ln>
        </p:spPr>
        <p:txBody>
          <a:bodyPr vert="horz" wrap="square" lIns="88900" tIns="50800" rIns="88900" bIns="50800" rtlCol="0" anchor="t" anchorCtr="0"/>
          <a:lstStyle/>
          <a:p>
            <a:pPr indent="0" algn="l">
              <a:lnSpc>
                <a:spcPct val="100000"/>
              </a:lnSpc>
              <a:defRPr/>
            </a:pPr>
            <a:r>
              <a:rPr lang="en-US" sz="5400" b="0" i="0" u="none" strike="noStrike" spc="100">
                <a:solidFill>
                  <a:srgbClr val="FFFFFF"/>
                </a:solidFill>
                <a:latin typeface="Arial" panose="020B0604020202020204"/>
                <a:ea typeface="Arial" panose="020B0604020202020204"/>
                <a:cs typeface="Arial" panose="020B0604020202020204"/>
                <a:sym typeface="Arial" panose="020B0604020202020204"/>
              </a:rPr>
              <a:t>PART 03</a:t>
            </a:r>
            <a:endParaRPr lang="en-US" sz="1100"/>
          </a:p>
        </p:txBody>
      </p:sp>
      <p:sp>
        <p:nvSpPr>
          <p:cNvPr id="5" name="AutoShape 5"/>
          <p:cNvSpPr/>
          <p:nvPr/>
        </p:nvSpPr>
        <p:spPr>
          <a:xfrm rot="5400000">
            <a:off x="4076700" y="3124200"/>
            <a:ext cx="190500" cy="165100"/>
          </a:xfrm>
          <a:prstGeom prst="triangle">
            <a:avLst>
              <a:gd name="adj" fmla="val 5000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6477000" y="2654300"/>
            <a:ext cx="4445000" cy="1016000"/>
          </a:xfrm>
          <a:prstGeom prst="rect">
            <a:avLst/>
          </a:prstGeom>
          <a:noFill/>
          <a:ln w="12700" cap="flat" cmpd="sng">
            <a:noFill/>
            <a:prstDash val="solid"/>
            <a:round/>
          </a:ln>
        </p:spPr>
        <p:txBody>
          <a:bodyPr vert="horz" wrap="square" lIns="88900" tIns="50800" rIns="88900" bIns="50800" rtlCol="0" anchor="t" anchorCtr="0"/>
          <a:lstStyle/>
          <a:p>
            <a:pPr indent="0" algn="l">
              <a:lnSpc>
                <a:spcPct val="100000"/>
              </a:lnSpc>
              <a:defRPr/>
            </a:pPr>
            <a:r>
              <a:rPr lang="en-US" sz="48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回测分析</a:t>
            </a:r>
            <a:endParaRPr lang="en-US" sz="1100"/>
          </a:p>
        </p:txBody>
      </p:sp>
      <p:sp>
        <p:nvSpPr>
          <p:cNvPr id="7" name="AutoShape 7"/>
          <p:cNvSpPr/>
          <p:nvPr/>
        </p:nvSpPr>
        <p:spPr>
          <a:xfrm>
            <a:off x="6477000" y="3683000"/>
            <a:ext cx="4445000" cy="508000"/>
          </a:xfrm>
          <a:prstGeom prst="rect">
            <a:avLst/>
          </a:prstGeom>
          <a:noFill/>
          <a:ln w="12700" cap="flat" cmpd="sng">
            <a:noFill/>
            <a:prstDash val="solid"/>
            <a:round/>
          </a:ln>
        </p:spPr>
        <p:txBody>
          <a:bodyPr vert="horz" wrap="square" lIns="88900" tIns="50800" rIns="88900" bIns="50800" rtlCol="0" anchor="t" anchorCtr="0"/>
          <a:lstStyle/>
          <a:p>
            <a:pPr indent="0" algn="l">
              <a:lnSpc>
                <a:spcPct val="100000"/>
              </a:lnSpc>
              <a:defRPr/>
            </a:pPr>
            <a:r>
              <a:rPr lang="en-US" sz="1600" b="0" i="0" u="none" strike="noStrike" spc="100">
                <a:solidFill>
                  <a:srgbClr val="646464"/>
                </a:solidFill>
                <a:latin typeface="Arial" panose="020B0604020202020204"/>
                <a:ea typeface="Arial" panose="020B0604020202020204"/>
                <a:cs typeface="Arial" panose="020B0604020202020204"/>
                <a:sym typeface="Arial" panose="020B0604020202020204"/>
              </a:rPr>
              <a:t>Backtesting Analysis</a:t>
            </a:r>
            <a:endParaRPr lang="en-US" sz="1100"/>
          </a:p>
        </p:txBody>
      </p:sp>
      <p:sp>
        <p:nvSpPr>
          <p:cNvPr id="8" name="Freeform 8"/>
          <p:cNvSpPr/>
          <p:nvPr/>
        </p:nvSpPr>
        <p:spPr>
          <a:xfrm>
            <a:off x="11328400" y="6477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0744200" y="6477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1087100" y="6477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252200" y="6477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0668000" y="6477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0833100" y="6477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0909300" y="6477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1391900" y="6477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0617200" y="6477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010900" y="6477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188700" y="6477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544300" y="6477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1480800" y="6477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07700" y="6477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455400" y="6477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150600" y="6477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442700" y="3302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137900" y="3556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0604500" y="3683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0744200" y="3937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0922000" y="4572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417300" y="5080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960100" y="3937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985500" y="3175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1430000" y="3810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1036300" y="5207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1303000" y="5080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1430000" y="4445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096500" y="2921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147300" y="3556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452100" y="3810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109200" y="4699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414000" y="3429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109200" y="5207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274300" y="6858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121900" y="5715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147300" y="3810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375900" y="6731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185400" y="3429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299700" y="3048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325100" y="6858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236200" y="3175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77500" y="4318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477500" y="5715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490200" y="5207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3" name="Freeform 53"/>
          <p:cNvSpPr/>
          <p:nvPr/>
        </p:nvSpPr>
        <p:spPr>
          <a:xfrm>
            <a:off x="10388600" y="3175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4" name="Freeform 54"/>
          <p:cNvSpPr/>
          <p:nvPr/>
        </p:nvSpPr>
        <p:spPr>
          <a:xfrm>
            <a:off x="10121900" y="4191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5" name="Freeform 55"/>
          <p:cNvSpPr/>
          <p:nvPr/>
        </p:nvSpPr>
        <p:spPr>
          <a:xfrm>
            <a:off x="10490200" y="4826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6" name="Freeform 56"/>
          <p:cNvSpPr/>
          <p:nvPr/>
        </p:nvSpPr>
        <p:spPr>
          <a:xfrm>
            <a:off x="10337800" y="3048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7" name="Freeform 57"/>
          <p:cNvSpPr/>
          <p:nvPr/>
        </p:nvSpPr>
        <p:spPr>
          <a:xfrm>
            <a:off x="10223500" y="6731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8" name="Freeform 58"/>
          <p:cNvSpPr/>
          <p:nvPr/>
        </p:nvSpPr>
        <p:spPr>
          <a:xfrm>
            <a:off x="10160000" y="3683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med" len="med"/>
            <a:tailEnd type="none" w="med" len="med"/>
          </a:ln>
        </p:spPr>
      </p:cxnSp>
      <p:sp>
        <p:nvSpPr>
          <p:cNvPr id="55" name="AutoShape 55"/>
          <p:cNvSpPr/>
          <p:nvPr/>
        </p:nvSpPr>
        <p:spPr>
          <a:xfrm>
            <a:off x="444500" y="241300"/>
            <a:ext cx="9525000" cy="7620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0000"/>
              </a:lnSpc>
              <a:defRPr/>
            </a:pPr>
            <a:r>
              <a:rPr lang="en-US" sz="20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3.1 方法论：事件研究法（Event Study Methodology）</a:t>
            </a:r>
            <a:endParaRPr lang="en-US" sz="1100"/>
          </a:p>
          <a:p>
            <a:pPr indent="0" algn="l">
              <a:lnSpc>
                <a:spcPct val="100000"/>
              </a:lnSpc>
            </a:pPr>
            <a:r>
              <a:rPr lang="en-US" sz="14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采用金融领域标准实证分析框架，量化特定事件对资产价格的短期与长期异常波动影响。</a:t>
            </a:r>
            <a:endParaRPr lang="en-US" sz="14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56" name="Picture 56"/>
          <p:cNvPicPr>
            <a:picLocks noChangeAspect="1"/>
          </p:cNvPicPr>
          <p:nvPr/>
        </p:nvPicPr>
        <p:blipFill>
          <a:blip r:embed="rId1"/>
          <a:srcRect t="27222" b="27222"/>
          <a:stretch>
            <a:fillRect/>
          </a:stretch>
        </p:blipFill>
        <p:spPr>
          <a:xfrm>
            <a:off x="0" y="1193800"/>
            <a:ext cx="12192000" cy="3124200"/>
          </a:xfrm>
          <a:prstGeom prst="rect">
            <a:avLst/>
          </a:prstGeom>
          <a:noFill/>
          <a:ln w="25400" cap="flat" cmpd="sng">
            <a:noFill/>
            <a:prstDash val="solid"/>
            <a:round/>
          </a:ln>
        </p:spPr>
      </p:pic>
      <p:sp>
        <p:nvSpPr>
          <p:cNvPr id="57" name="AutoShape 57"/>
          <p:cNvSpPr/>
          <p:nvPr/>
        </p:nvSpPr>
        <p:spPr>
          <a:xfrm>
            <a:off x="6985000" y="1193800"/>
            <a:ext cx="4826000" cy="3124200"/>
          </a:xfrm>
          <a:prstGeom prst="roundRect">
            <a:avLst>
              <a:gd name="adj" fmla="val 0"/>
            </a:avLst>
          </a:prstGeom>
          <a:solidFill>
            <a:srgbClr val="9A0001">
              <a:alpha val="75000"/>
            </a:srgbClr>
          </a:solidFill>
          <a:ln w="25400" cap="flat" cmpd="sng">
            <a:noFill/>
            <a:prstDash val="solid"/>
            <a:round/>
          </a:ln>
        </p:spPr>
        <p:txBody>
          <a:bodyPr vert="horz" wrap="square" lIns="63500" tIns="63500" rIns="63500" bIns="63500" rtlCol="0" anchor="ctr"/>
          <a:lstStyle/>
          <a:p>
            <a:pPr algn="ctr">
              <a:defRPr/>
            </a:pPr>
          </a:p>
        </p:txBody>
      </p:sp>
      <p:sp>
        <p:nvSpPr>
          <p:cNvPr id="58" name="AutoShape 58"/>
          <p:cNvSpPr/>
          <p:nvPr/>
        </p:nvSpPr>
        <p:spPr>
          <a:xfrm>
            <a:off x="7239000" y="1524000"/>
            <a:ext cx="43180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核心逻辑：从“历史”看“未来”</a:t>
            </a:r>
            <a:endParaRPr lang="en-US" sz="1100"/>
          </a:p>
        </p:txBody>
      </p:sp>
      <p:sp>
        <p:nvSpPr>
          <p:cNvPr id="59" name="AutoShape 59"/>
          <p:cNvSpPr/>
          <p:nvPr/>
        </p:nvSpPr>
        <p:spPr>
          <a:xfrm>
            <a:off x="7239000" y="2159000"/>
            <a:ext cx="4318000" cy="1905000"/>
          </a:xfrm>
          <a:prstGeom prst="rect">
            <a:avLst/>
          </a:prstGeom>
          <a:noFill/>
          <a:ln w="12700" cap="flat" cmpd="sng">
            <a:noFill/>
            <a:prstDash val="solid"/>
            <a:round/>
          </a:ln>
        </p:spPr>
        <p:txBody>
          <a:bodyPr vert="horz" wrap="square" lIns="0" tIns="0" rIns="0" bIns="0" rtlCol="0" anchor="t" anchorCtr="0"/>
          <a:lstStyle/>
          <a:p>
            <a:pPr indent="0" algn="just">
              <a:lnSpc>
                <a:spcPct val="125000"/>
              </a:lnSpc>
              <a:defRPr/>
            </a:pPr>
            <a:r>
              <a:rPr lang="en-US" sz="1300" b="0" i="0" u="none" strike="noStrike">
                <a:solidFill>
                  <a:srgbClr val="F5F5F5"/>
                </a:solidFill>
                <a:latin typeface="Noto Sans SC" panose="020B0200000000000000" charset="-122"/>
                <a:ea typeface="Noto Sans SC" panose="020B0200000000000000" charset="-122"/>
                <a:cs typeface="Noto Sans SC" panose="020B0200000000000000" charset="-122"/>
                <a:sym typeface="Noto Sans SC" panose="020B0200000000000000" charset="-122"/>
              </a:rPr>
              <a:t>事件研究法的核心在于“剥离噪音”。我们通过回顾2014巴西、2018俄罗斯、2022卡塔尔三届世界杯的历史数据，设定严格的“估计窗口”与“事件窗口”，计算股票在事件期间的异常收益率（AR），从而排除大盘走势干扰，精准捕捉赛事对相关标的的真实市场反应。</a:t>
            </a:r>
            <a:endParaRPr lang="en-US" sz="1100"/>
          </a:p>
          <a:p>
            <a:pPr indent="0" algn="just">
              <a:lnSpc>
                <a:spcPct val="125000"/>
              </a:lnSpc>
            </a:pPr>
            <a:r>
              <a:rPr lang="en-US" sz="1300" b="0" i="0" u="none" strike="noStrike">
                <a:solidFill>
                  <a:srgbClr val="FFD700"/>
                </a:solidFill>
                <a:latin typeface="Noto Sans SC" panose="020B0200000000000000" charset="-122"/>
                <a:ea typeface="Noto Sans SC" panose="020B0200000000000000" charset="-122"/>
                <a:cs typeface="Noto Sans SC" panose="020B0200000000000000" charset="-122"/>
                <a:sym typeface="Noto Sans SC" panose="020B0200000000000000" charset="-122"/>
              </a:rPr>
              <a:t>💡 关键指标：累计异常收益率（CAR）—— 观察事件影响的持续性与显著性。</a:t>
            </a:r>
            <a:endParaRPr lang="en-US" sz="1300" b="0" i="0" u="none" strike="noStrike">
              <a:solidFill>
                <a:srgbClr val="FFD7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0" name="AutoShape 60"/>
          <p:cNvSpPr/>
          <p:nvPr/>
        </p:nvSpPr>
        <p:spPr>
          <a:xfrm>
            <a:off x="762000" y="4508500"/>
            <a:ext cx="10160000" cy="508000"/>
          </a:xfrm>
          <a:prstGeom prst="roundRect">
            <a:avLst>
              <a:gd name="adj" fmla="val 0"/>
            </a:avLst>
          </a:prstGeom>
          <a:solidFill>
            <a:srgbClr val="9A0001">
              <a:alpha val="100000"/>
            </a:srgbClr>
          </a:solidFill>
          <a:ln w="25400" cap="flat" cmpd="sng">
            <a:noFill/>
            <a:prstDash val="solid"/>
            <a:round/>
          </a:ln>
        </p:spPr>
        <p:txBody>
          <a:bodyPr vert="horz" wrap="square" lIns="63500" tIns="38100" rIns="63500" bIns="38100" rtlCol="0" anchor="ctr" anchorCtr="0"/>
          <a:lstStyle/>
          <a:p>
            <a:pPr marL="12700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执行流程三步走：标准化的研究范式</a:t>
            </a:r>
            <a:endParaRPr lang="en-US" sz="1100"/>
          </a:p>
        </p:txBody>
      </p:sp>
      <p:sp>
        <p:nvSpPr>
          <p:cNvPr id="61" name="AutoShape 61"/>
          <p:cNvSpPr/>
          <p:nvPr/>
        </p:nvSpPr>
        <p:spPr>
          <a:xfrm>
            <a:off x="762000" y="5080000"/>
            <a:ext cx="10922000" cy="14605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① 选取历史样本：</a:t>
            </a: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以2014/2018/2022三届世界杯为样本，覆盖完整的赛事周期与市场环境，确保样本的代表性与统计显著性。</a:t>
            </a:r>
            <a:endParaRPr lang="en-US" sz="1100"/>
          </a:p>
          <a:p>
            <a:pPr indent="0" algn="l">
              <a:lnSpc>
                <a:spcPct val="117000"/>
              </a:lnSpc>
            </a:pPr>
            <a:r>
              <a:rPr lang="en-US" sz="12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② 定义双窗口模型：</a:t>
            </a: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设定【估计窗口】（事件前120个交易日，计算正常收益率基准）与【事件窗口】（赛前6个月至赛后1个月，捕捉全周期影响），形成完整的时间维度对照。</a:t>
            </a:r>
            <a:endPar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2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③ 测算异常收益率：</a:t>
            </a: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通过公式</a:t>
            </a:r>
            <a:r>
              <a:rPr lang="en-US" sz="1200" b="0" i="1"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AR = 实际收益率 - 正常收益率</a:t>
            </a: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剥离市场整体波动，再通过累计异常收益率（CAR）分析事件影响的方向、幅度与持续周期，完成对策略有效性的科学验证。</a:t>
            </a:r>
            <a:endPar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2" name="AutoShape 62"/>
          <p:cNvSpPr/>
          <p:nvPr/>
        </p:nvSpPr>
        <p:spPr>
          <a:xfrm>
            <a:off x="444500" y="6388100"/>
            <a:ext cx="38100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0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数据来源：历史赛事复盘数据库 | 策略研究部</a:t>
            </a:r>
            <a:endParaRPr lang="en-US" sz="1100"/>
          </a:p>
        </p:txBody>
      </p:sp>
      <p:sp>
        <p:nvSpPr>
          <p:cNvPr id="63" name="AutoShape 63"/>
          <p:cNvSpPr/>
          <p:nvPr/>
        </p:nvSpPr>
        <p:spPr>
          <a:xfrm>
            <a:off x="9779000" y="6388100"/>
            <a:ext cx="1905000" cy="2794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000" b="0" i="0" u="none" strike="noStrike">
                <a:solidFill>
                  <a:srgbClr val="808080"/>
                </a:solidFill>
                <a:latin typeface="Arial" panose="020B0604020202020204"/>
                <a:ea typeface="Arial" panose="020B0604020202020204"/>
                <a:cs typeface="Arial" panose="020B0604020202020204"/>
                <a:sym typeface="Arial" panose="020B0604020202020204"/>
              </a:rPr>
              <a:t>PAGE 05 / 20</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CFCFD">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44500" y="381000"/>
            <a:ext cx="1117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3.2 交易信号与绩效指标</a:t>
            </a:r>
            <a:endParaRPr lang="en-US" sz="1100"/>
          </a:p>
          <a:p>
            <a:pPr indent="0" algn="l">
              <a:lnSpc>
                <a:spcPct val="125000"/>
              </a:lnSpc>
            </a:pPr>
            <a:r>
              <a:rPr lang="en-US" sz="1400" b="0" i="0" u="none" strike="noStrike">
                <a:solidFill>
                  <a:srgbClr val="52525B"/>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基于热度模型设定明确的交易信号，并通过关键绩效指标（KPIs）评估策略表现，构建科学的量化交易体系。</a:t>
            </a:r>
            <a:endParaRPr lang="en-US" sz="1400" b="0" i="0" u="none" strike="noStrike">
              <a:solidFill>
                <a:srgbClr val="52525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3" name="Connector 3"/>
          <p:cNvCxnSpPr/>
          <p:nvPr/>
        </p:nvCxnSpPr>
        <p:spPr>
          <a:xfrm rot="-3862">
            <a:off x="444504" y="1200150"/>
            <a:ext cx="113030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cxnSp>
        <p:nvCxnSpPr>
          <p:cNvPr id="4" name="Connector 4"/>
          <p:cNvCxnSpPr/>
          <p:nvPr/>
        </p:nvCxnSpPr>
        <p:spPr>
          <a:xfrm rot="-40442">
            <a:off x="444537" y="1200150"/>
            <a:ext cx="1079500" cy="12700"/>
          </a:xfrm>
          <a:prstGeom prst="line">
            <a:avLst/>
          </a:prstGeom>
          <a:solidFill>
            <a:srgbClr val="DEE0E3">
              <a:alpha val="100000"/>
            </a:srgbClr>
          </a:solidFill>
          <a:ln w="38100" cap="flat" cmpd="sng">
            <a:solidFill>
              <a:srgbClr val="9A0001">
                <a:alpha val="100000"/>
              </a:srgbClr>
            </a:solidFill>
            <a:prstDash val="solid"/>
            <a:round/>
            <a:headEnd type="none" w="lg" len="lg"/>
            <a:tailEnd type="none" w="lg" len="lg"/>
          </a:ln>
        </p:spPr>
      </p:cxnSp>
      <p:sp>
        <p:nvSpPr>
          <p:cNvPr id="5" name="AutoShape 5"/>
          <p:cNvSpPr/>
          <p:nvPr/>
        </p:nvSpPr>
        <p:spPr>
          <a:xfrm>
            <a:off x="444500" y="1524000"/>
            <a:ext cx="5270500" cy="2222500"/>
          </a:xfrm>
          <a:prstGeom prst="roundRect">
            <a:avLst>
              <a:gd name="adj" fmla="val 5714"/>
            </a:avLst>
          </a:prstGeom>
          <a:solidFill>
            <a:srgbClr val="EFF6FF">
              <a:alpha val="100000"/>
            </a:srgbClr>
          </a:solidFill>
          <a:ln cap="flat" cmpd="sng">
            <a:solidFill>
              <a:srgbClr val="C0D0E6">
                <a:alpha val="10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8500" y="1778000"/>
            <a:ext cx="406400" cy="406400"/>
          </a:xfrm>
          <a:prstGeom prst="rect">
            <a:avLst/>
          </a:prstGeom>
        </p:spPr>
      </p:pic>
      <p:sp>
        <p:nvSpPr>
          <p:cNvPr id="7" name="AutoShape 7"/>
          <p:cNvSpPr/>
          <p:nvPr/>
        </p:nvSpPr>
        <p:spPr>
          <a:xfrm>
            <a:off x="1270000" y="1752600"/>
            <a:ext cx="4191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 买入信号：热度启动的关键节点</a:t>
            </a:r>
            <a:endParaRPr lang="en-US" sz="1100"/>
          </a:p>
        </p:txBody>
      </p:sp>
      <p:sp>
        <p:nvSpPr>
          <p:cNvPr id="8" name="AutoShape 8"/>
          <p:cNvSpPr/>
          <p:nvPr/>
        </p:nvSpPr>
        <p:spPr>
          <a:xfrm>
            <a:off x="698500" y="2413000"/>
            <a:ext cx="4826000" cy="1143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当POHI（热度指数）突破预设阈值时，标志着市场关注度开始显著升温，是潜在的入场时机。此时市场情绪从冷转热，往往伴随着交易量的温和放大，为策略提供了低风险的开仓窗口。</a:t>
            </a:r>
            <a:endParaRPr lang="en-US" sz="1100"/>
          </a:p>
        </p:txBody>
      </p:sp>
      <p:sp>
        <p:nvSpPr>
          <p:cNvPr id="9" name="AutoShape 9"/>
          <p:cNvSpPr/>
          <p:nvPr/>
        </p:nvSpPr>
        <p:spPr>
          <a:xfrm>
            <a:off x="5969000" y="1524000"/>
            <a:ext cx="5270500" cy="2222500"/>
          </a:xfrm>
          <a:prstGeom prst="roundRect">
            <a:avLst>
              <a:gd name="adj" fmla="val 5714"/>
            </a:avLst>
          </a:prstGeom>
          <a:solidFill>
            <a:srgbClr val="FEF2F2">
              <a:alpha val="100000"/>
            </a:srgbClr>
          </a:solidFill>
          <a:ln cap="flat" cmpd="sng">
            <a:solidFill>
              <a:srgbClr val="E5C3C3">
                <a:alpha val="10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23000" y="1778000"/>
            <a:ext cx="406400" cy="406400"/>
          </a:xfrm>
          <a:prstGeom prst="rect">
            <a:avLst/>
          </a:prstGeom>
        </p:spPr>
      </p:pic>
      <p:sp>
        <p:nvSpPr>
          <p:cNvPr id="11" name="AutoShape 11"/>
          <p:cNvSpPr/>
          <p:nvPr/>
        </p:nvSpPr>
        <p:spPr>
          <a:xfrm>
            <a:off x="6731000" y="1752600"/>
            <a:ext cx="4191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F1D1D"/>
                </a:solidFill>
                <a:latin typeface="Noto Sans SC" panose="020B0200000000000000" charset="-122"/>
                <a:ea typeface="Noto Sans SC" panose="020B0200000000000000" charset="-122"/>
                <a:cs typeface="Noto Sans SC" panose="020B0200000000000000" charset="-122"/>
                <a:sym typeface="Noto Sans SC" panose="020B0200000000000000" charset="-122"/>
              </a:rPr>
              <a:t>📉 卖出信号：止盈止损的离场法则</a:t>
            </a:r>
            <a:endParaRPr lang="en-US" sz="1100"/>
          </a:p>
        </p:txBody>
      </p:sp>
      <p:sp>
        <p:nvSpPr>
          <p:cNvPr id="12" name="AutoShape 12"/>
          <p:cNvSpPr/>
          <p:nvPr/>
        </p:nvSpPr>
        <p:spPr>
          <a:xfrm>
            <a:off x="6223000" y="2413000"/>
            <a:ext cx="4826000" cy="1143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触发离场的核心条件包括：事件正式兑现日（利好出尽）、热度指数触及天花板见顶回落，或标的价格出现关键技术位的有效破位。通过多维度信号共振，避免情绪化交易，锁定利润并控制下行风险。</a:t>
            </a:r>
            <a:endParaRPr lang="en-US" sz="1100"/>
          </a:p>
        </p:txBody>
      </p:sp>
      <p:sp>
        <p:nvSpPr>
          <p:cNvPr id="13" name="AutoShape 13"/>
          <p:cNvSpPr/>
          <p:nvPr/>
        </p:nvSpPr>
        <p:spPr>
          <a:xfrm>
            <a:off x="444500" y="3937000"/>
            <a:ext cx="5270500" cy="2222500"/>
          </a:xfrm>
          <a:prstGeom prst="roundRect">
            <a:avLst>
              <a:gd name="adj" fmla="val 5714"/>
            </a:avLst>
          </a:prstGeom>
          <a:solidFill>
            <a:srgbClr val="F0FDF4">
              <a:alpha val="100000"/>
            </a:srgbClr>
          </a:solidFill>
          <a:ln cap="flat" cmpd="sng">
            <a:solidFill>
              <a:srgbClr val="C1E4CC">
                <a:alpha val="10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500" y="4191000"/>
            <a:ext cx="406400" cy="406400"/>
          </a:xfrm>
          <a:prstGeom prst="rect">
            <a:avLst/>
          </a:prstGeom>
        </p:spPr>
      </p:pic>
      <p:sp>
        <p:nvSpPr>
          <p:cNvPr id="15" name="AutoShape 15"/>
          <p:cNvSpPr/>
          <p:nvPr/>
        </p:nvSpPr>
        <p:spPr>
          <a:xfrm>
            <a:off x="1270000" y="4165600"/>
            <a:ext cx="4191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4532D"/>
                </a:solidFill>
                <a:latin typeface="Noto Sans SC" panose="020B0200000000000000" charset="-122"/>
                <a:ea typeface="Noto Sans SC" panose="020B0200000000000000" charset="-122"/>
                <a:cs typeface="Noto Sans SC" panose="020B0200000000000000" charset="-122"/>
                <a:sym typeface="Noto Sans SC" panose="020B0200000000000000" charset="-122"/>
              </a:rPr>
              <a:t>⚖️ 夏普比率：策略性价比的标尺</a:t>
            </a:r>
            <a:endParaRPr lang="en-US" sz="1100"/>
          </a:p>
        </p:txBody>
      </p:sp>
      <p:sp>
        <p:nvSpPr>
          <p:cNvPr id="16" name="AutoShape 16"/>
          <p:cNvSpPr/>
          <p:nvPr/>
        </p:nvSpPr>
        <p:spPr>
          <a:xfrm>
            <a:off x="698500" y="4826000"/>
            <a:ext cx="4826000" cy="1143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这是衡量单位风险所获得超额回报的核心指标。在回测中，我们关注策略能否在承担合理波动的前提下，跑赢无风险收益。较高的夏普比率意味着策略在相同风险下能创造更高的收益，是评估策略有效性的重要维度。</a:t>
            </a:r>
            <a:endParaRPr lang="en-US" sz="1100"/>
          </a:p>
        </p:txBody>
      </p:sp>
      <p:sp>
        <p:nvSpPr>
          <p:cNvPr id="17" name="AutoShape 17"/>
          <p:cNvSpPr/>
          <p:nvPr/>
        </p:nvSpPr>
        <p:spPr>
          <a:xfrm>
            <a:off x="5969000" y="3937000"/>
            <a:ext cx="5270500" cy="2222500"/>
          </a:xfrm>
          <a:prstGeom prst="roundRect">
            <a:avLst>
              <a:gd name="adj" fmla="val 5714"/>
            </a:avLst>
          </a:prstGeom>
          <a:solidFill>
            <a:srgbClr val="FFFBEB">
              <a:alpha val="100000"/>
            </a:srgbClr>
          </a:solidFill>
          <a:ln cap="flat" cmpd="sng">
            <a:solidFill>
              <a:srgbClr val="E6DDBD">
                <a:alpha val="10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23000" y="4191000"/>
            <a:ext cx="406400" cy="406400"/>
          </a:xfrm>
          <a:prstGeom prst="rect">
            <a:avLst/>
          </a:prstGeom>
        </p:spPr>
      </p:pic>
      <p:sp>
        <p:nvSpPr>
          <p:cNvPr id="19" name="AutoShape 19"/>
          <p:cNvSpPr/>
          <p:nvPr/>
        </p:nvSpPr>
        <p:spPr>
          <a:xfrm>
            <a:off x="6731000" y="4165600"/>
            <a:ext cx="4191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8350F"/>
                </a:solidFill>
                <a:latin typeface="Noto Sans SC" panose="020B0200000000000000" charset="-122"/>
                <a:ea typeface="Noto Sans SC" panose="020B0200000000000000" charset="-122"/>
                <a:cs typeface="Noto Sans SC" panose="020B0200000000000000" charset="-122"/>
                <a:sym typeface="Noto Sans SC" panose="020B0200000000000000" charset="-122"/>
              </a:rPr>
              <a:t>🛡️ 最大回撤：极端风险的安全防线</a:t>
            </a:r>
            <a:endParaRPr lang="en-US" sz="1100"/>
          </a:p>
        </p:txBody>
      </p:sp>
      <p:sp>
        <p:nvSpPr>
          <p:cNvPr id="20" name="AutoShape 20"/>
          <p:cNvSpPr/>
          <p:nvPr/>
        </p:nvSpPr>
        <p:spPr>
          <a:xfrm>
            <a:off x="6223000" y="4826000"/>
            <a:ext cx="4826000" cy="1143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该指标反映策略在测试周期内可能面临的最大浮亏幅度，是衡量稳健性的关键。回撤数值越小，代表策略抗风险能力越强，更适合追求长期稳健收益的资金。我们通过严格的回撤控制，确保策略在极端行情下依然具备生存能力。</a:t>
            </a:r>
            <a:endParaRPr lang="en-US" sz="1100"/>
          </a:p>
        </p:txBody>
      </p:sp>
      <p:sp>
        <p:nvSpPr>
          <p:cNvPr id="21" name="AutoShape 21"/>
          <p:cNvSpPr/>
          <p:nvPr/>
        </p:nvSpPr>
        <p:spPr>
          <a:xfrm>
            <a:off x="444500" y="6223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策略回测基础指标体系 | 2024 Investment Strategy</a:t>
            </a:r>
            <a:endParaRPr lang="en-US" sz="1100"/>
          </a:p>
        </p:txBody>
      </p:sp>
      <p:sp>
        <p:nvSpPr>
          <p:cNvPr id="22" name="AutoShape 22"/>
          <p:cNvSpPr/>
          <p:nvPr/>
        </p:nvSpPr>
        <p:spPr>
          <a:xfrm>
            <a:off x="9207500" y="6223000"/>
            <a:ext cx="2540000" cy="381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PAGE 08 &lt; &gt;</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lg" len="lg"/>
            <a:tailEnd type="none" w="lg" len="lg"/>
          </a:ln>
        </p:spPr>
      </p:cxnSp>
      <p:sp>
        <p:nvSpPr>
          <p:cNvPr id="55" name="AutoShape 55"/>
          <p:cNvSpPr/>
          <p:nvPr/>
        </p:nvSpPr>
        <p:spPr>
          <a:xfrm>
            <a:off x="444500" y="6388100"/>
            <a:ext cx="1549400" cy="279400"/>
          </a:xfrm>
          <a:prstGeom prst="rect">
            <a:avLst/>
          </a:prstGeom>
          <a:noFill/>
          <a:ln w="12700" cap="flat" cmpd="sng">
            <a:noFill/>
            <a:prstDash val="solid"/>
            <a:round/>
          </a:ln>
        </p:spPr>
        <p:txBody>
          <a:bodyPr vert="horz" wrap="square" lIns="88900" tIns="50800" rIns="88900" bIns="50800" rtlCol="0" anchor="t" anchorCtr="0"/>
          <a:lstStyle/>
          <a:p>
            <a:pPr indent="0" algn="l">
              <a:lnSpc>
                <a:spcPct val="100000"/>
              </a:lnSpc>
              <a:defRPr/>
            </a:pP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思想自由 兼容并包</a:t>
            </a:r>
            <a:endParaRPr lang="en-US" sz="1100"/>
          </a:p>
        </p:txBody>
      </p:sp>
      <p:sp>
        <p:nvSpPr>
          <p:cNvPr id="56" name="AutoShape 56"/>
          <p:cNvSpPr/>
          <p:nvPr/>
        </p:nvSpPr>
        <p:spPr>
          <a:xfrm>
            <a:off x="444500" y="241300"/>
            <a:ext cx="9055100" cy="622300"/>
          </a:xfrm>
          <a:prstGeom prst="rect">
            <a:avLst/>
          </a:prstGeom>
          <a:noFill/>
          <a:ln w="12700" cap="flat" cmpd="sng">
            <a:noFill/>
            <a:prstDash val="solid"/>
            <a:round/>
          </a:ln>
        </p:spPr>
        <p:txBody>
          <a:bodyPr vert="horz" wrap="square" lIns="88900" tIns="50800" rIns="88900" bIns="50800" rtlCol="0" anchor="ctr" anchorCtr="0"/>
          <a:lstStyle/>
          <a:p>
            <a:pPr indent="0" algn="l">
              <a:lnSpc>
                <a:spcPct val="92000"/>
              </a:lnSpc>
              <a:defRPr/>
            </a:pPr>
            <a:r>
              <a:rPr lang="en-US" sz="2400" b="1" i="0" u="none" strike="noStrike">
                <a:solidFill>
                  <a:srgbClr val="9A0001"/>
                </a:solidFill>
                <a:latin typeface="Arial" panose="020B0604020202020204"/>
                <a:ea typeface="Arial" panose="020B0604020202020204"/>
                <a:cs typeface="Arial" panose="020B0604020202020204"/>
                <a:sym typeface="Arial" panose="020B0604020202020204"/>
              </a:rPr>
              <a:t>3.3</a:t>
            </a:r>
            <a:r>
              <a:rPr lang="en-US" sz="2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案例回测演示（模拟）—— 卡塔尔世界杯策略复盘</a:t>
            </a:r>
            <a:endParaRPr lang="en-US" sz="1100"/>
          </a:p>
        </p:txBody>
      </p:sp>
      <p:sp>
        <p:nvSpPr>
          <p:cNvPr id="57" name="AutoShape 57"/>
          <p:cNvSpPr/>
          <p:nvPr/>
        </p:nvSpPr>
        <p:spPr>
          <a:xfrm>
            <a:off x="9004300" y="6388100"/>
            <a:ext cx="2743200" cy="292100"/>
          </a:xfrm>
          <a:prstGeom prst="rect">
            <a:avLst/>
          </a:prstGeom>
          <a:noFill/>
          <a:ln w="12700" cap="flat" cmpd="sng">
            <a:noFill/>
            <a:prstDash val="solid"/>
            <a:round/>
          </a:ln>
        </p:spPr>
        <p:txBody>
          <a:bodyPr vert="horz" wrap="square" lIns="88900" tIns="50800" rIns="88900" bIns="50800" rtlCol="0" anchor="ctr" anchorCtr="0"/>
          <a:lstStyle/>
          <a:p>
            <a:pPr indent="0" algn="r">
              <a:lnSpc>
                <a:spcPct val="100000"/>
              </a:lnSpc>
              <a:defRPr/>
            </a:pPr>
            <a:r>
              <a:rPr lang="en-US" sz="1200" b="0" i="0" u="none" strike="noStrike">
                <a:solidFill>
                  <a:srgbClr val="808080"/>
                </a:solidFill>
                <a:latin typeface="Arial" panose="020B0604020202020204"/>
                <a:ea typeface="Arial" panose="020B0604020202020204"/>
                <a:cs typeface="Arial" panose="020B0604020202020204"/>
                <a:sym typeface="Arial" panose="020B0604020202020204"/>
              </a:rPr>
              <a:t>&lt; 08 / 24 &gt;</a:t>
            </a:r>
            <a:endParaRPr lang="en-US" sz="1100"/>
          </a:p>
        </p:txBody>
      </p:sp>
      <p:sp>
        <p:nvSpPr>
          <p:cNvPr id="58" name="AutoShape 58"/>
          <p:cNvSpPr/>
          <p:nvPr/>
        </p:nvSpPr>
        <p:spPr>
          <a:xfrm>
            <a:off x="520700" y="1181100"/>
            <a:ext cx="457200" cy="4826000"/>
          </a:xfrm>
          <a:prstGeom prst="roundRect">
            <a:avLst>
              <a:gd name="adj" fmla="val 0"/>
            </a:avLst>
          </a:prstGeom>
          <a:solidFill>
            <a:srgbClr val="9A0001">
              <a:alpha val="100000"/>
            </a:srgbClr>
          </a:solidFill>
          <a:ln w="25400" cap="flat" cmpd="sng">
            <a:noFill/>
            <a:prstDash val="solid"/>
            <a:round/>
          </a:ln>
        </p:spPr>
        <p:txBody>
          <a:bodyPr vert="horz" wrap="square" lIns="63500" tIns="38100" rIns="63500" bIns="38100" rtlCol="0" anchor="ctr" anchorCtr="0"/>
          <a:lstStyle/>
          <a:p>
            <a:pPr indent="0" algn="ctr">
              <a:lnSpc>
                <a:spcPct val="125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策</a:t>
            </a:r>
            <a:b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略</a:t>
            </a:r>
            <a:b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流</a:t>
            </a:r>
            <a:b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程</a:t>
            </a:r>
            <a:b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概</a:t>
            </a:r>
            <a:b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览</a:t>
            </a:r>
            <a:endParaRPr lang="en-US" sz="1100"/>
          </a:p>
        </p:txBody>
      </p:sp>
      <p:sp>
        <p:nvSpPr>
          <p:cNvPr id="59" name="AutoShape 59"/>
          <p:cNvSpPr/>
          <p:nvPr/>
        </p:nvSpPr>
        <p:spPr>
          <a:xfrm>
            <a:off x="1041400" y="1244600"/>
            <a:ext cx="1905000" cy="4826000"/>
          </a:xfrm>
          <a:prstGeom prst="roundRect">
            <a:avLst>
              <a:gd name="adj" fmla="val 0"/>
            </a:avLst>
          </a:prstGeom>
          <a:noFill/>
          <a:ln w="25400" cap="flat" cmpd="sng">
            <a:noFill/>
            <a:prstDash val="solid"/>
            <a:round/>
          </a:ln>
        </p:spPr>
        <p:txBody>
          <a:bodyPr vert="horz" wrap="square" lIns="101600" tIns="127000" rIns="101600" bIns="127000" rtlCol="0" anchor="t" anchorCtr="0"/>
          <a:lstStyle/>
          <a:p>
            <a:pPr indent="0" algn="l">
              <a:lnSpc>
                <a:spcPct val="117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策略背景：</a:t>
            </a:r>
            <a:endParaRPr lang="en-US" sz="1100"/>
          </a:p>
          <a:p>
            <a:pPr indent="0" algn="l">
              <a:lnSpc>
                <a:spcPct val="108000"/>
              </a:lnSpc>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假设2021年底启动针对2022卡塔尔世界杯的投资策略，提前6个月布局，验证事件驱动模型的有效性。</a:t>
            </a:r>
            <a:endPar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p>
          <a:p>
            <a:pPr indent="0" algn="l">
              <a:lnSpc>
                <a:spcPct val="117000"/>
              </a:lnSpc>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执行五步走：</a:t>
            </a:r>
            <a:endPar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事件识别</a:t>
            </a: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：锁定高价值体育赛事；</a:t>
            </a:r>
            <a:b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热度量化</a:t>
            </a: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：监测指数突破阈值；</a:t>
            </a:r>
            <a:b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标的筛选</a:t>
            </a: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：锁定海信、中体等龙头；</a:t>
            </a:r>
            <a:b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4.</a:t>
            </a: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模拟交易</a:t>
            </a: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：1月买入，11月卖出；</a:t>
            </a:r>
            <a:b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5.</a:t>
            </a: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结果分析</a:t>
            </a: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：对比大盘，评估收益。</a:t>
            </a:r>
            <a:endPar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p>
          <a:p>
            <a:pPr indent="0" algn="l">
              <a:lnSpc>
                <a:spcPct val="108000"/>
              </a:lnSpc>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核心洞察：</a:t>
            </a: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历史数据显示，世界杯相关概念股在开幕前普遍存在显著的预期性上涨行情。</a:t>
            </a:r>
            <a:endPar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60" name="Picture 60"/>
          <p:cNvPicPr>
            <a:picLocks noChangeAspect="1"/>
          </p:cNvPicPr>
          <p:nvPr/>
        </p:nvPicPr>
        <p:blipFill>
          <a:blip r:embed="rId1"/>
          <a:srcRect l="2638" r="2638"/>
          <a:stretch>
            <a:fillRect/>
          </a:stretch>
        </p:blipFill>
        <p:spPr>
          <a:xfrm>
            <a:off x="3048000" y="1181100"/>
            <a:ext cx="4191000" cy="2286000"/>
          </a:xfrm>
          <a:prstGeom prst="rect">
            <a:avLst/>
          </a:prstGeom>
          <a:noFill/>
          <a:ln w="25400" cap="flat" cmpd="sng">
            <a:noFill/>
            <a:prstDash val="solid"/>
            <a:round/>
          </a:ln>
        </p:spPr>
      </p:pic>
      <p:pic>
        <p:nvPicPr>
          <p:cNvPr id="61" name="Picture 61"/>
          <p:cNvPicPr>
            <a:picLocks noChangeAspect="1"/>
          </p:cNvPicPr>
          <p:nvPr/>
        </p:nvPicPr>
        <p:blipFill>
          <a:blip r:embed="rId2"/>
          <a:srcRect l="26750" r="26750"/>
          <a:stretch>
            <a:fillRect/>
          </a:stretch>
        </p:blipFill>
        <p:spPr>
          <a:xfrm>
            <a:off x="3048000" y="3556000"/>
            <a:ext cx="2057400" cy="2286000"/>
          </a:xfrm>
          <a:prstGeom prst="rect">
            <a:avLst/>
          </a:prstGeom>
          <a:noFill/>
          <a:ln w="25400" cap="flat" cmpd="sng">
            <a:noFill/>
            <a:prstDash val="solid"/>
            <a:round/>
          </a:ln>
        </p:spPr>
      </p:pic>
      <p:pic>
        <p:nvPicPr>
          <p:cNvPr id="62" name="Picture 62"/>
          <p:cNvPicPr>
            <a:picLocks noChangeAspect="1"/>
          </p:cNvPicPr>
          <p:nvPr/>
        </p:nvPicPr>
        <p:blipFill>
          <a:blip r:embed="rId3"/>
          <a:srcRect l="26750" r="26750"/>
          <a:stretch>
            <a:fillRect/>
          </a:stretch>
        </p:blipFill>
        <p:spPr>
          <a:xfrm>
            <a:off x="5207000" y="3556000"/>
            <a:ext cx="2057400" cy="2286000"/>
          </a:xfrm>
          <a:prstGeom prst="rect">
            <a:avLst/>
          </a:prstGeom>
          <a:noFill/>
          <a:ln w="25400" cap="flat" cmpd="sng">
            <a:noFill/>
            <a:prstDash val="solid"/>
            <a:round/>
          </a:ln>
        </p:spPr>
      </p:pic>
      <p:sp>
        <p:nvSpPr>
          <p:cNvPr id="63" name="AutoShape 63"/>
          <p:cNvSpPr/>
          <p:nvPr/>
        </p:nvSpPr>
        <p:spPr>
          <a:xfrm>
            <a:off x="7493000" y="1181100"/>
            <a:ext cx="3556000" cy="4699000"/>
          </a:xfrm>
          <a:prstGeom prst="roundRect">
            <a:avLst>
              <a:gd name="adj" fmla="val 3571"/>
            </a:avLst>
          </a:prstGeom>
          <a:solidFill>
            <a:srgbClr val="F3F4F6">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4" name="AutoShape 64"/>
          <p:cNvSpPr/>
          <p:nvPr/>
        </p:nvSpPr>
        <p:spPr>
          <a:xfrm>
            <a:off x="7620000" y="1397000"/>
            <a:ext cx="3302000" cy="4445000"/>
          </a:xfrm>
          <a:prstGeom prst="rect">
            <a:avLst/>
          </a:prstGeom>
          <a:noFill/>
          <a:ln w="12700" cap="flat" cmpd="sng">
            <a:noFill/>
            <a:prstDash val="solid"/>
            <a:round/>
          </a:ln>
        </p:spPr>
        <p:txBody>
          <a:bodyPr vert="horz" wrap="square" lIns="101600" tIns="63500" rIns="101600" bIns="63500" rtlCol="0" anchor="t" anchorCtr="0"/>
          <a:lstStyle/>
          <a:p>
            <a:pPr indent="0" algn="l">
              <a:lnSpc>
                <a:spcPct val="125000"/>
              </a:lnSpc>
              <a:defRPr/>
            </a:pPr>
            <a:r>
              <a:rPr lang="en-US" sz="16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 数据验证结论</a:t>
            </a:r>
            <a:endParaRPr lang="en-US" sz="1100"/>
          </a:p>
          <a:p>
            <a:pPr indent="0" algn="l">
              <a:lnSpc>
                <a:spcPct val="100000"/>
              </a:lnSpc>
            </a:pPr>
          </a:p>
          <a:p>
            <a:pPr indent="0" algn="l">
              <a:lnSpc>
                <a:spcPct val="117000"/>
              </a:lnSpc>
            </a:pPr>
            <a: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通过对2018-2022年多届国际大型赛事的复盘，我们发现“事件驱动+舆情热度”的双因子策略，在体育、消费类题材中具有较高的胜率。</a:t>
            </a:r>
            <a:endPar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pPr>
          </a:p>
          <a:p>
            <a:pPr indent="0" algn="l">
              <a:lnSpc>
                <a:spcPct val="117000"/>
              </a:lnSpc>
            </a:pPr>
            <a:r>
              <a:rPr lang="en-US" sz="13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关键发现：</a:t>
            </a:r>
            <a:endParaRPr lang="en-US" sz="13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在世界杯开幕前的3-6个月是布局的黄金窗口期。以2022年为例，相关概念股组合的平均超额收益跑赢沪深300指数约12%，且最大回撤控制在15%以内，夏普比率表现优异。</a:t>
            </a:r>
            <a:endPar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pPr>
          </a:p>
          <a:p>
            <a:pPr indent="0" algn="l">
              <a:lnSpc>
                <a:spcPct val="117000"/>
              </a:lnSpc>
            </a:pPr>
            <a:r>
              <a:rPr lang="en-US" sz="1200" b="0" i="1"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“这一案例充分证明了我们的量化模型能有效捕捉市场情绪带来的投资机会。”</a:t>
            </a:r>
            <a:endParaRPr lang="en-US" sz="1200" b="0" i="1"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4953000" cy="6858000"/>
          </a:xfrm>
          <a:prstGeom prst="roundRect">
            <a:avLst>
              <a:gd name="adj" fmla="val 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800100" y="2755900"/>
            <a:ext cx="3263900" cy="927100"/>
          </a:xfrm>
          <a:prstGeom prst="rect">
            <a:avLst/>
          </a:prstGeom>
          <a:noFill/>
          <a:ln w="12700" cap="flat" cmpd="sng">
            <a:noFill/>
            <a:prstDash val="solid"/>
            <a:round/>
          </a:ln>
        </p:spPr>
        <p:txBody>
          <a:bodyPr vert="horz" wrap="square" lIns="88900" tIns="50800" rIns="88900" bIns="50800" rtlCol="0" anchor="t" anchorCtr="0"/>
          <a:lstStyle/>
          <a:p>
            <a:pPr indent="0" algn="l">
              <a:lnSpc>
                <a:spcPct val="100000"/>
              </a:lnSpc>
              <a:defRPr/>
            </a:pPr>
            <a:r>
              <a:rPr lang="en-US" sz="5400" b="0" i="0" u="none" strike="noStrike" spc="100">
                <a:solidFill>
                  <a:srgbClr val="FFFFFF"/>
                </a:solidFill>
                <a:latin typeface="Arial" panose="020B0604020202020204"/>
                <a:ea typeface="Arial" panose="020B0604020202020204"/>
                <a:cs typeface="Arial" panose="020B0604020202020204"/>
                <a:sym typeface="Arial" panose="020B0604020202020204"/>
              </a:rPr>
              <a:t>PART 04</a:t>
            </a:r>
            <a:endParaRPr lang="en-US" sz="1100"/>
          </a:p>
        </p:txBody>
      </p:sp>
      <p:sp>
        <p:nvSpPr>
          <p:cNvPr id="5" name="AutoShape 5"/>
          <p:cNvSpPr/>
          <p:nvPr/>
        </p:nvSpPr>
        <p:spPr>
          <a:xfrm rot="5400000">
            <a:off x="4076700" y="3124200"/>
            <a:ext cx="190500" cy="165100"/>
          </a:xfrm>
          <a:prstGeom prst="triangle">
            <a:avLst>
              <a:gd name="adj" fmla="val 5000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6350000" y="2654300"/>
            <a:ext cx="4826000" cy="1143000"/>
          </a:xfrm>
          <a:prstGeom prst="rect">
            <a:avLst/>
          </a:prstGeom>
          <a:noFill/>
          <a:ln w="12700" cap="flat" cmpd="sng">
            <a:noFill/>
            <a:prstDash val="solid"/>
            <a:round/>
          </a:ln>
        </p:spPr>
        <p:txBody>
          <a:bodyPr vert="horz" wrap="square" lIns="88900" tIns="50800" rIns="88900" bIns="50800" rtlCol="0" anchor="t" anchorCtr="0"/>
          <a:lstStyle/>
          <a:p>
            <a:pPr indent="0" algn="l">
              <a:lnSpc>
                <a:spcPct val="100000"/>
              </a:lnSpc>
              <a:defRPr/>
            </a:pPr>
            <a:r>
              <a:rPr lang="en-US" sz="36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策略迭代与风险控制</a:t>
            </a:r>
            <a:endParaRPr lang="en-US" sz="1100"/>
          </a:p>
        </p:txBody>
      </p:sp>
      <p:sp>
        <p:nvSpPr>
          <p:cNvPr id="7" name="AutoShape 7"/>
          <p:cNvSpPr/>
          <p:nvPr/>
        </p:nvSpPr>
        <p:spPr>
          <a:xfrm>
            <a:off x="6350000" y="3683000"/>
            <a:ext cx="4826000" cy="508000"/>
          </a:xfrm>
          <a:prstGeom prst="rect">
            <a:avLst/>
          </a:prstGeom>
          <a:noFill/>
          <a:ln w="12700" cap="flat" cmpd="sng">
            <a:noFill/>
            <a:prstDash val="solid"/>
            <a:round/>
          </a:ln>
        </p:spPr>
        <p:txBody>
          <a:bodyPr vert="horz" wrap="square" lIns="88900" tIns="50800" rIns="88900" bIns="50800" rtlCol="0" anchor="t" anchorCtr="0"/>
          <a:lstStyle/>
          <a:p>
            <a:pPr indent="0" algn="l">
              <a:lnSpc>
                <a:spcPct val="100000"/>
              </a:lnSpc>
              <a:defRPr/>
            </a:pPr>
            <a:r>
              <a:rPr lang="en-US" sz="1600" b="0" i="0" u="none" strike="noStrike" spc="100">
                <a:solidFill>
                  <a:srgbClr val="646464"/>
                </a:solidFill>
                <a:latin typeface="Arial" panose="020B0604020202020204"/>
                <a:ea typeface="Arial" panose="020B0604020202020204"/>
                <a:cs typeface="Arial" panose="020B0604020202020204"/>
                <a:sym typeface="Arial" panose="020B0604020202020204"/>
              </a:rPr>
              <a:t>ITERATION &amp; RISK CONTROL</a:t>
            </a:r>
            <a:endParaRPr lang="en-US" sz="1100"/>
          </a:p>
        </p:txBody>
      </p:sp>
      <p:sp>
        <p:nvSpPr>
          <p:cNvPr id="8" name="AutoShape 8"/>
          <p:cNvSpPr/>
          <p:nvPr/>
        </p:nvSpPr>
        <p:spPr>
          <a:xfrm>
            <a:off x="6350000" y="4445000"/>
            <a:ext cx="4826000" cy="10160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从单点突破到系统进化，在市场的波动中寻找确定性。建立动态的策略迭代机制，为投资系统构筑坚实的风险防线，实现长期稳健的价值增长。</a:t>
            </a:r>
            <a:endParaRPr lang="en-US" sz="1100"/>
          </a:p>
        </p:txBody>
      </p:sp>
      <p:sp>
        <p:nvSpPr>
          <p:cNvPr id="9" name="Freeform 9"/>
          <p:cNvSpPr/>
          <p:nvPr/>
        </p:nvSpPr>
        <p:spPr>
          <a:xfrm>
            <a:off x="11328400" y="6477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744200" y="6477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87100" y="6477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52200" y="6477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0668000" y="6477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0833100" y="6477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909300" y="6477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391900" y="6477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0617200" y="6477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010900" y="6477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188700" y="6477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1544300" y="6477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1480800" y="6477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0807700" y="6477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455400" y="6477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150600" y="6477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442700" y="3302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137900" y="3556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0604500" y="3683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0744200" y="3937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0922000" y="4572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1417300" y="5080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960100" y="3937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985500" y="3175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1430000" y="3810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1036300" y="5207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1303000" y="5080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1430000" y="4445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096500" y="2921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147300" y="3556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52100" y="3810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109200" y="4699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414000" y="3429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109200" y="5207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274300" y="6858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121900" y="5715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147300" y="3810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375900" y="6731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185400" y="3429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99700" y="3048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325100" y="6858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236200" y="3175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477500" y="4318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477500" y="5715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3" name="Freeform 53"/>
          <p:cNvSpPr/>
          <p:nvPr/>
        </p:nvSpPr>
        <p:spPr>
          <a:xfrm>
            <a:off x="10490200" y="5207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4" name="Freeform 54"/>
          <p:cNvSpPr/>
          <p:nvPr/>
        </p:nvSpPr>
        <p:spPr>
          <a:xfrm>
            <a:off x="10388600" y="3175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5" name="Freeform 55"/>
          <p:cNvSpPr/>
          <p:nvPr/>
        </p:nvSpPr>
        <p:spPr>
          <a:xfrm>
            <a:off x="10121900" y="4191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6" name="Freeform 56"/>
          <p:cNvSpPr/>
          <p:nvPr/>
        </p:nvSpPr>
        <p:spPr>
          <a:xfrm>
            <a:off x="10490200" y="4826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7" name="Freeform 57"/>
          <p:cNvSpPr/>
          <p:nvPr/>
        </p:nvSpPr>
        <p:spPr>
          <a:xfrm>
            <a:off x="10337800" y="3048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8" name="Freeform 58"/>
          <p:cNvSpPr/>
          <p:nvPr/>
        </p:nvSpPr>
        <p:spPr>
          <a:xfrm>
            <a:off x="10223500" y="6731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9" name="Freeform 59"/>
          <p:cNvSpPr/>
          <p:nvPr/>
        </p:nvSpPr>
        <p:spPr>
          <a:xfrm>
            <a:off x="10160000" y="3683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lg" len="lg"/>
            <a:tailEnd type="none" w="lg" len="lg"/>
          </a:ln>
        </p:spPr>
      </p:cxnSp>
      <p:sp>
        <p:nvSpPr>
          <p:cNvPr id="55" name="AutoShape 55"/>
          <p:cNvSpPr/>
          <p:nvPr/>
        </p:nvSpPr>
        <p:spPr>
          <a:xfrm>
            <a:off x="444500" y="241300"/>
            <a:ext cx="9055100" cy="6223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25000"/>
              </a:lnSpc>
              <a:defRPr/>
            </a:pPr>
            <a:r>
              <a:rPr lang="en-US" sz="22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4.1 风险控制与迭代优化</a:t>
            </a:r>
            <a:endParaRPr lang="en-US" sz="1100"/>
          </a:p>
          <a:p>
            <a:pPr indent="0" algn="l">
              <a:lnSpc>
                <a:spcPct val="125000"/>
              </a:lnSpc>
            </a:pPr>
            <a:r>
              <a:rPr lang="en-US" sz="14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构建稳健投资系统的四大核心支柱，为资产安全保驾护航</a:t>
            </a:r>
            <a:endParaRPr lang="en-US" sz="14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56" name="Connector 56"/>
          <p:cNvCxnSpPr/>
          <p:nvPr/>
        </p:nvCxnSpPr>
        <p:spPr>
          <a:xfrm rot="5381316">
            <a:off x="933441" y="3727459"/>
            <a:ext cx="4673617" cy="12700"/>
          </a:xfrm>
          <a:prstGeom prst="line">
            <a:avLst/>
          </a:prstGeom>
          <a:solidFill>
            <a:srgbClr val="DEE0E3">
              <a:alpha val="100000"/>
            </a:srgbClr>
          </a:solidFill>
          <a:ln w="12700" cap="flat" cmpd="sng">
            <a:solidFill>
              <a:srgbClr val="DCDCDC">
                <a:alpha val="100000"/>
              </a:srgbClr>
            </a:solidFill>
            <a:prstDash val="lgDash"/>
            <a:round/>
            <a:headEnd type="none" w="med" len="med"/>
            <a:tailEnd type="none" w="med" len="med"/>
          </a:ln>
        </p:spPr>
      </p:cxnSp>
      <p:cxnSp>
        <p:nvCxnSpPr>
          <p:cNvPr id="57" name="Connector 57"/>
          <p:cNvCxnSpPr/>
          <p:nvPr/>
        </p:nvCxnSpPr>
        <p:spPr>
          <a:xfrm rot="5381316">
            <a:off x="3765541" y="3727459"/>
            <a:ext cx="4673617" cy="12700"/>
          </a:xfrm>
          <a:prstGeom prst="line">
            <a:avLst/>
          </a:prstGeom>
          <a:solidFill>
            <a:srgbClr val="DEE0E3">
              <a:alpha val="100000"/>
            </a:srgbClr>
          </a:solidFill>
          <a:ln w="12700" cap="flat" cmpd="sng">
            <a:solidFill>
              <a:srgbClr val="DCDCDC">
                <a:alpha val="100000"/>
              </a:srgbClr>
            </a:solidFill>
            <a:prstDash val="lgDash"/>
            <a:round/>
            <a:headEnd type="none" w="med" len="med"/>
            <a:tailEnd type="none" w="med" len="med"/>
          </a:ln>
        </p:spPr>
      </p:cxnSp>
      <p:cxnSp>
        <p:nvCxnSpPr>
          <p:cNvPr id="58" name="Connector 58"/>
          <p:cNvCxnSpPr/>
          <p:nvPr/>
        </p:nvCxnSpPr>
        <p:spPr>
          <a:xfrm rot="5381316">
            <a:off x="6521441" y="3727459"/>
            <a:ext cx="4673617" cy="12700"/>
          </a:xfrm>
          <a:prstGeom prst="line">
            <a:avLst/>
          </a:prstGeom>
          <a:solidFill>
            <a:srgbClr val="DEE0E3">
              <a:alpha val="100000"/>
            </a:srgbClr>
          </a:solidFill>
          <a:ln w="12700" cap="flat" cmpd="sng">
            <a:solidFill>
              <a:srgbClr val="DCDCDC">
                <a:alpha val="100000"/>
              </a:srgbClr>
            </a:solidFill>
            <a:prstDash val="lgDash"/>
            <a:round/>
            <a:headEnd type="none" w="med" len="med"/>
            <a:tailEnd type="none" w="med" len="med"/>
          </a:ln>
        </p:spPr>
      </p:cxnSp>
      <p:sp>
        <p:nvSpPr>
          <p:cNvPr id="59" name="AutoShape 59"/>
          <p:cNvSpPr/>
          <p:nvPr/>
        </p:nvSpPr>
        <p:spPr>
          <a:xfrm>
            <a:off x="977900" y="1397000"/>
            <a:ext cx="1955800" cy="1955800"/>
          </a:xfrm>
          <a:prstGeom prst="roundRect">
            <a:avLst>
              <a:gd name="adj" fmla="val 6493"/>
            </a:avLst>
          </a:prstGeom>
          <a:solidFill>
            <a:srgbClr val="9A0001">
              <a:alpha val="8000"/>
            </a:srgbClr>
          </a:solidFill>
          <a:ln w="25400" cap="flat" cmpd="sng">
            <a:noFill/>
            <a:prstDash val="solid"/>
            <a:round/>
          </a:ln>
        </p:spPr>
        <p:txBody>
          <a:bodyPr vert="horz" wrap="square" lIns="63500" tIns="63500" rIns="63500" bIns="63500" rtlCol="0" anchor="ctr"/>
          <a:lstStyle/>
          <a:p>
            <a:pPr algn="ctr">
              <a:defRPr/>
            </a:pPr>
          </a:p>
        </p:txBody>
      </p:sp>
      <p:pic>
        <p:nvPicPr>
          <p:cNvPr id="60" name="Picture 6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549400" y="1778000"/>
            <a:ext cx="812800" cy="812800"/>
          </a:xfrm>
          <a:prstGeom prst="rect">
            <a:avLst/>
          </a:prstGeom>
        </p:spPr>
      </p:pic>
      <p:sp>
        <p:nvSpPr>
          <p:cNvPr id="61" name="AutoShape 61"/>
          <p:cNvSpPr/>
          <p:nvPr/>
        </p:nvSpPr>
        <p:spPr>
          <a:xfrm>
            <a:off x="660400" y="3429000"/>
            <a:ext cx="2603500" cy="4445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止损机制</a:t>
            </a:r>
            <a:endParaRPr lang="en-US" sz="1100"/>
          </a:p>
        </p:txBody>
      </p:sp>
      <p:sp>
        <p:nvSpPr>
          <p:cNvPr id="62" name="AutoShape 62"/>
          <p:cNvSpPr/>
          <p:nvPr/>
        </p:nvSpPr>
        <p:spPr>
          <a:xfrm>
            <a:off x="660400" y="3937000"/>
            <a:ext cx="2603500" cy="3810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25000"/>
              </a:lnSpc>
              <a:defRPr/>
            </a:pPr>
            <a:r>
              <a:rPr lang="en-US" sz="1300" b="0"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截断亏损，让利润奔跑</a:t>
            </a:r>
            <a:endParaRPr lang="en-US" sz="1100"/>
          </a:p>
        </p:txBody>
      </p:sp>
      <p:sp>
        <p:nvSpPr>
          <p:cNvPr id="63" name="AutoShape 63"/>
          <p:cNvSpPr/>
          <p:nvPr/>
        </p:nvSpPr>
        <p:spPr>
          <a:xfrm>
            <a:off x="660400" y="4445000"/>
            <a:ext cx="2603500" cy="1397000"/>
          </a:xfrm>
          <a:prstGeom prst="rect">
            <a:avLst/>
          </a:prstGeom>
          <a:noFill/>
          <a:ln w="12700" cap="flat" cmpd="sng">
            <a:noFill/>
            <a:prstDash val="solid"/>
            <a:round/>
          </a:ln>
        </p:spPr>
        <p:txBody>
          <a:bodyPr vert="horz" wrap="square" lIns="88900" tIns="50800" rIns="88900" bIns="50800" rtlCol="0" anchor="ctr" anchorCtr="0"/>
          <a:lstStyle/>
          <a:p>
            <a:pPr indent="0" algn="just">
              <a:lnSpc>
                <a:spcPct val="108000"/>
              </a:lnSpc>
              <a:defRPr/>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设定严格的止损线（如-5%），果断执行止损策略。这是投资的“保险丝”，能有效截断亏损，防止小幅度的回撤演变为不可逆的大额损失，守住账户的安全底线。</a:t>
            </a:r>
            <a:endParaRPr lang="en-US" sz="1100"/>
          </a:p>
        </p:txBody>
      </p:sp>
      <p:sp>
        <p:nvSpPr>
          <p:cNvPr id="64" name="AutoShape 64"/>
          <p:cNvSpPr/>
          <p:nvPr/>
        </p:nvSpPr>
        <p:spPr>
          <a:xfrm>
            <a:off x="3746500" y="1397000"/>
            <a:ext cx="1955800" cy="1955800"/>
          </a:xfrm>
          <a:prstGeom prst="roundRect">
            <a:avLst>
              <a:gd name="adj" fmla="val 6493"/>
            </a:avLst>
          </a:prstGeom>
          <a:solidFill>
            <a:srgbClr val="176B87">
              <a:alpha val="8000"/>
            </a:srgbClr>
          </a:solidFill>
          <a:ln w="25400" cap="flat" cmpd="sng">
            <a:noFill/>
            <a:prstDash val="solid"/>
            <a:round/>
          </a:ln>
        </p:spPr>
        <p:txBody>
          <a:bodyPr vert="horz" wrap="square" lIns="63500" tIns="63500" rIns="63500" bIns="63500" rtlCol="0" anchor="ctr"/>
          <a:lstStyle/>
          <a:p>
            <a:pPr algn="ctr">
              <a:defRPr/>
            </a:pPr>
          </a:p>
        </p:txBody>
      </p:sp>
      <p:pic>
        <p:nvPicPr>
          <p:cNvPr id="65" name="Picture 6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54500" y="1778000"/>
            <a:ext cx="812800" cy="812800"/>
          </a:xfrm>
          <a:prstGeom prst="rect">
            <a:avLst/>
          </a:prstGeom>
        </p:spPr>
      </p:pic>
      <p:sp>
        <p:nvSpPr>
          <p:cNvPr id="66" name="AutoShape 66"/>
          <p:cNvSpPr/>
          <p:nvPr/>
        </p:nvSpPr>
        <p:spPr>
          <a:xfrm>
            <a:off x="3429000" y="3429000"/>
            <a:ext cx="2603500" cy="4445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仓位管理</a:t>
            </a:r>
            <a:endParaRPr lang="en-US" sz="1100"/>
          </a:p>
        </p:txBody>
      </p:sp>
      <p:sp>
        <p:nvSpPr>
          <p:cNvPr id="67" name="AutoShape 67"/>
          <p:cNvSpPr/>
          <p:nvPr/>
        </p:nvSpPr>
        <p:spPr>
          <a:xfrm>
            <a:off x="3429000" y="3937000"/>
            <a:ext cx="2603500" cy="3810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25000"/>
              </a:lnSpc>
              <a:defRPr/>
            </a:pPr>
            <a:r>
              <a:rPr lang="en-US" sz="1300" b="0" i="0" u="none" strike="noStrike">
                <a:solidFill>
                  <a:srgbClr val="176B87"/>
                </a:solidFill>
                <a:latin typeface="Noto Sans SC" panose="020B0200000000000000" charset="-122"/>
                <a:ea typeface="Noto Sans SC" panose="020B0200000000000000" charset="-122"/>
                <a:cs typeface="Noto Sans SC" panose="020B0200000000000000" charset="-122"/>
                <a:sym typeface="Noto Sans SC" panose="020B0200000000000000" charset="-122"/>
              </a:rPr>
              <a:t>分散持仓，拒绝All-in</a:t>
            </a:r>
            <a:endParaRPr lang="en-US" sz="1100"/>
          </a:p>
        </p:txBody>
      </p:sp>
      <p:sp>
        <p:nvSpPr>
          <p:cNvPr id="68" name="AutoShape 68"/>
          <p:cNvSpPr/>
          <p:nvPr/>
        </p:nvSpPr>
        <p:spPr>
          <a:xfrm>
            <a:off x="3429000" y="4445000"/>
            <a:ext cx="2603500" cy="1397000"/>
          </a:xfrm>
          <a:prstGeom prst="rect">
            <a:avLst/>
          </a:prstGeom>
          <a:noFill/>
          <a:ln w="12700" cap="flat" cmpd="sng">
            <a:noFill/>
            <a:prstDash val="solid"/>
            <a:round/>
          </a:ln>
        </p:spPr>
        <p:txBody>
          <a:bodyPr vert="horz" wrap="square" lIns="88900" tIns="50800" rIns="88900" bIns="50800" rtlCol="0" anchor="ctr" anchorCtr="0"/>
          <a:lstStyle/>
          <a:p>
            <a:pPr indent="0" algn="just">
              <a:lnSpc>
                <a:spcPct val="108000"/>
              </a:lnSpc>
              <a:defRPr/>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坚持科学的仓位配置原则，坚决避免All-in式的豪赌。单一个股持仓严格控制在10%以内，通过多标的分散投资，有效规避黑天鹅事件带来的非系统性风险，保持投资组合的长期稳健。</a:t>
            </a:r>
            <a:endParaRPr lang="en-US" sz="1100"/>
          </a:p>
        </p:txBody>
      </p:sp>
      <p:sp>
        <p:nvSpPr>
          <p:cNvPr id="69" name="AutoShape 69"/>
          <p:cNvSpPr/>
          <p:nvPr/>
        </p:nvSpPr>
        <p:spPr>
          <a:xfrm>
            <a:off x="6489700" y="1397000"/>
            <a:ext cx="1955800" cy="1955800"/>
          </a:xfrm>
          <a:prstGeom prst="roundRect">
            <a:avLst>
              <a:gd name="adj" fmla="val 6493"/>
            </a:avLst>
          </a:prstGeom>
          <a:solidFill>
            <a:srgbClr val="D97706">
              <a:alpha val="8000"/>
            </a:srgbClr>
          </a:solidFill>
          <a:ln w="25400" cap="flat" cmpd="sng">
            <a:noFill/>
            <a:prstDash val="solid"/>
            <a:round/>
          </a:ln>
        </p:spPr>
        <p:txBody>
          <a:bodyPr vert="horz" wrap="square" lIns="63500" tIns="63500" rIns="63500" bIns="63500" rtlCol="0" anchor="ctr"/>
          <a:lstStyle/>
          <a:p>
            <a:pPr algn="ctr">
              <a:defRPr/>
            </a:pPr>
          </a:p>
        </p:txBody>
      </p:sp>
      <p:pic>
        <p:nvPicPr>
          <p:cNvPr id="70" name="Picture 7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34200" y="1778000"/>
            <a:ext cx="812800" cy="812800"/>
          </a:xfrm>
          <a:prstGeom prst="rect">
            <a:avLst/>
          </a:prstGeom>
        </p:spPr>
      </p:pic>
      <p:sp>
        <p:nvSpPr>
          <p:cNvPr id="71" name="AutoShape 71"/>
          <p:cNvSpPr/>
          <p:nvPr/>
        </p:nvSpPr>
        <p:spPr>
          <a:xfrm>
            <a:off x="6172200" y="3429000"/>
            <a:ext cx="2603500" cy="4445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参数优化</a:t>
            </a:r>
            <a:endParaRPr lang="en-US" sz="1100"/>
          </a:p>
        </p:txBody>
      </p:sp>
      <p:sp>
        <p:nvSpPr>
          <p:cNvPr id="72" name="AutoShape 72"/>
          <p:cNvSpPr/>
          <p:nvPr/>
        </p:nvSpPr>
        <p:spPr>
          <a:xfrm>
            <a:off x="6172200" y="3937000"/>
            <a:ext cx="2603500" cy="3810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25000"/>
              </a:lnSpc>
              <a:defRPr/>
            </a:pPr>
            <a:r>
              <a:rPr lang="en-US" sz="1300" b="0" i="0" u="none" strike="noStrike">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rPr>
              <a:t>动态调整，策略进化</a:t>
            </a:r>
            <a:endParaRPr lang="en-US" sz="1100"/>
          </a:p>
        </p:txBody>
      </p:sp>
      <p:sp>
        <p:nvSpPr>
          <p:cNvPr id="73" name="AutoShape 73"/>
          <p:cNvSpPr/>
          <p:nvPr/>
        </p:nvSpPr>
        <p:spPr>
          <a:xfrm>
            <a:off x="6172200" y="4445000"/>
            <a:ext cx="2603500" cy="1397000"/>
          </a:xfrm>
          <a:prstGeom prst="rect">
            <a:avLst/>
          </a:prstGeom>
          <a:noFill/>
          <a:ln w="12700" cap="flat" cmpd="sng">
            <a:noFill/>
            <a:prstDash val="solid"/>
            <a:round/>
          </a:ln>
        </p:spPr>
        <p:txBody>
          <a:bodyPr vert="horz" wrap="square" lIns="88900" tIns="50800" rIns="88900" bIns="50800" rtlCol="0" anchor="ctr" anchorCtr="0"/>
          <a:lstStyle/>
          <a:p>
            <a:pPr indent="0" algn="just">
              <a:lnSpc>
                <a:spcPct val="108000"/>
              </a:lnSpc>
              <a:defRPr/>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市场环境瞬息万变，策略需与时俱进。我们持续监测市场情绪，灵活调整热度阈值、胜率因子等核心参数，让投资模型能够快速适应不同的市场周期，始终保持策略的有效性和生命力。</a:t>
            </a:r>
            <a:endParaRPr lang="en-US" sz="1100"/>
          </a:p>
        </p:txBody>
      </p:sp>
      <p:sp>
        <p:nvSpPr>
          <p:cNvPr id="74" name="AutoShape 74"/>
          <p:cNvSpPr/>
          <p:nvPr/>
        </p:nvSpPr>
        <p:spPr>
          <a:xfrm>
            <a:off x="9144000" y="1397000"/>
            <a:ext cx="1955800" cy="1955800"/>
          </a:xfrm>
          <a:prstGeom prst="roundRect">
            <a:avLst>
              <a:gd name="adj" fmla="val 6493"/>
            </a:avLst>
          </a:prstGeom>
          <a:solidFill>
            <a:srgbClr val="DC2626">
              <a:alpha val="8000"/>
            </a:srgbClr>
          </a:solidFill>
          <a:ln w="25400" cap="flat" cmpd="sng">
            <a:noFill/>
            <a:prstDash val="solid"/>
            <a:round/>
          </a:ln>
        </p:spPr>
        <p:txBody>
          <a:bodyPr vert="horz" wrap="square" lIns="63500" tIns="63500" rIns="63500" bIns="63500" rtlCol="0" anchor="ctr"/>
          <a:lstStyle/>
          <a:p>
            <a:pPr algn="ctr">
              <a:defRPr/>
            </a:pPr>
          </a:p>
        </p:txBody>
      </p:sp>
      <p:pic>
        <p:nvPicPr>
          <p:cNvPr id="75" name="Picture 7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88500" y="1778000"/>
            <a:ext cx="812800" cy="812800"/>
          </a:xfrm>
          <a:prstGeom prst="rect">
            <a:avLst/>
          </a:prstGeom>
        </p:spPr>
      </p:pic>
      <p:sp>
        <p:nvSpPr>
          <p:cNvPr id="76" name="AutoShape 76"/>
          <p:cNvSpPr/>
          <p:nvPr/>
        </p:nvSpPr>
        <p:spPr>
          <a:xfrm>
            <a:off x="8890000" y="3429000"/>
            <a:ext cx="2603500" cy="4445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风险识别</a:t>
            </a:r>
            <a:endParaRPr lang="en-US" sz="1100"/>
          </a:p>
        </p:txBody>
      </p:sp>
      <p:sp>
        <p:nvSpPr>
          <p:cNvPr id="77" name="AutoShape 77"/>
          <p:cNvSpPr/>
          <p:nvPr/>
        </p:nvSpPr>
        <p:spPr>
          <a:xfrm>
            <a:off x="8890000" y="3937000"/>
            <a:ext cx="2603500" cy="3810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25000"/>
              </a:lnSpc>
              <a:defRPr/>
            </a:pPr>
            <a:r>
              <a:rPr lang="en-US" sz="1300" b="0"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去伪存真，理性判断</a:t>
            </a:r>
            <a:endParaRPr lang="en-US" sz="1100"/>
          </a:p>
        </p:txBody>
      </p:sp>
      <p:sp>
        <p:nvSpPr>
          <p:cNvPr id="78" name="AutoShape 78"/>
          <p:cNvSpPr/>
          <p:nvPr/>
        </p:nvSpPr>
        <p:spPr>
          <a:xfrm>
            <a:off x="8890000" y="4445000"/>
            <a:ext cx="2603500" cy="1397000"/>
          </a:xfrm>
          <a:prstGeom prst="rect">
            <a:avLst/>
          </a:prstGeom>
          <a:noFill/>
          <a:ln w="12700" cap="flat" cmpd="sng">
            <a:noFill/>
            <a:prstDash val="solid"/>
            <a:round/>
          </a:ln>
        </p:spPr>
        <p:txBody>
          <a:bodyPr vert="horz" wrap="square" lIns="88900" tIns="50800" rIns="88900" bIns="50800" rtlCol="0" anchor="ctr" anchorCtr="0"/>
          <a:lstStyle/>
          <a:p>
            <a:pPr indent="0" algn="just">
              <a:lnSpc>
                <a:spcPct val="108000"/>
              </a:lnSpc>
              <a:defRPr/>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保持清醒的投资头脑，警惕“伪事件”与“蹭热点”的虚假繁荣。我们建立了严格的筛选机制，精准区分事件驱动的短期脉冲与价值投资的长期逻辑，有效规避概念炒作带来的巨大回撤风险。</a:t>
            </a:r>
            <a:endParaRPr lang="en-US" sz="1100"/>
          </a:p>
        </p:txBody>
      </p:sp>
      <p:sp>
        <p:nvSpPr>
          <p:cNvPr id="79" name="AutoShape 79"/>
          <p:cNvSpPr/>
          <p:nvPr/>
        </p:nvSpPr>
        <p:spPr>
          <a:xfrm>
            <a:off x="444500" y="6159500"/>
            <a:ext cx="3810000" cy="2794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25000"/>
              </a:lnSpc>
              <a:defRPr/>
            </a:pPr>
            <a:r>
              <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 严控风险 · 持续迭代 · 稳健增值</a:t>
            </a:r>
            <a:endParaRPr lang="en-US" sz="1100"/>
          </a:p>
        </p:txBody>
      </p:sp>
      <p:sp>
        <p:nvSpPr>
          <p:cNvPr id="80" name="AutoShape 80"/>
          <p:cNvSpPr/>
          <p:nvPr/>
        </p:nvSpPr>
        <p:spPr>
          <a:xfrm>
            <a:off x="9144000" y="6159500"/>
            <a:ext cx="2540000" cy="279400"/>
          </a:xfrm>
          <a:prstGeom prst="rect">
            <a:avLst/>
          </a:prstGeom>
          <a:noFill/>
          <a:ln w="12700" cap="flat" cmpd="sng">
            <a:noFill/>
            <a:prstDash val="solid"/>
            <a:round/>
          </a:ln>
        </p:spPr>
        <p:txBody>
          <a:bodyPr vert="horz" wrap="square" lIns="88900" tIns="50800" rIns="88900" bIns="50800" rtlCol="0" anchor="ctr" anchorCtr="0"/>
          <a:lstStyle/>
          <a:p>
            <a:pPr indent="0" algn="r">
              <a:lnSpc>
                <a:spcPct val="125000"/>
              </a:lnSpc>
              <a:defRPr/>
            </a:pPr>
            <a:r>
              <a:rPr lang="en-US" sz="1200" b="0" i="0" u="none" strike="noStrike">
                <a:solidFill>
                  <a:srgbClr val="969696"/>
                </a:solidFill>
                <a:latin typeface="Arial" panose="020B0604020202020204"/>
                <a:ea typeface="Arial" panose="020B0604020202020204"/>
                <a:cs typeface="Arial" panose="020B0604020202020204"/>
                <a:sym typeface="Arial" panose="020B0604020202020204"/>
              </a:rPr>
              <a:t>PAGE 04 / 20</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med" len="med"/>
            <a:tailEnd type="none" w="med" len="med"/>
          </a:ln>
        </p:spPr>
      </p:cxnSp>
      <p:sp>
        <p:nvSpPr>
          <p:cNvPr id="55" name="AutoShape 55"/>
          <p:cNvSpPr/>
          <p:nvPr/>
        </p:nvSpPr>
        <p:spPr>
          <a:xfrm>
            <a:off x="444500" y="6388100"/>
            <a:ext cx="1549400" cy="279400"/>
          </a:xfrm>
          <a:prstGeom prst="rect">
            <a:avLst/>
          </a:prstGeom>
          <a:noFill/>
          <a:ln w="12700" cap="flat" cmpd="sng">
            <a:noFill/>
            <a:prstDash val="solid"/>
            <a:round/>
          </a:ln>
        </p:spPr>
        <p:txBody>
          <a:bodyPr vert="horz" wrap="square" lIns="88900" tIns="50800" rIns="88900" bIns="50800" rtlCol="0" anchor="t" anchorCtr="0"/>
          <a:lstStyle/>
          <a:p>
            <a:pPr indent="0" algn="l">
              <a:lnSpc>
                <a:spcPct val="100000"/>
              </a:lnSpc>
              <a:defRPr/>
            </a:pP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价值投资</a:t>
            </a:r>
            <a:r>
              <a:rPr lang="en-US" sz="1200" b="0" i="0" u="none" strike="noStrike">
                <a:solidFill>
                  <a:srgbClr val="808080"/>
                </a:solidFill>
                <a:latin typeface="Arial" panose="020B0604020202020204"/>
                <a:ea typeface="Arial" panose="020B0604020202020204"/>
                <a:cs typeface="Arial" panose="020B0604020202020204"/>
                <a:sym typeface="Arial" panose="020B0604020202020204"/>
              </a:rPr>
              <a:t>|</a:t>
            </a: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理性决策</a:t>
            </a:r>
            <a:endParaRPr lang="en-US" sz="1100"/>
          </a:p>
        </p:txBody>
      </p:sp>
      <p:sp>
        <p:nvSpPr>
          <p:cNvPr id="56" name="AutoShape 56"/>
          <p:cNvSpPr/>
          <p:nvPr/>
        </p:nvSpPr>
        <p:spPr>
          <a:xfrm>
            <a:off x="444500" y="241300"/>
            <a:ext cx="9055100" cy="7620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0000"/>
              </a:lnSpc>
              <a:defRPr/>
            </a:pPr>
            <a:r>
              <a:rPr lang="en-US" sz="20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总结：构建属于你的投资决策系统</a:t>
            </a:r>
            <a:endParaRPr lang="en-US" sz="1100"/>
          </a:p>
          <a:p>
            <a:pPr indent="0" algn="l">
              <a:lnSpc>
                <a:spcPct val="100000"/>
              </a:lnSpc>
            </a:pP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从0到1搭建科学的投资框架，告别盲目跟风，实现长期稳健收益</a:t>
            </a:r>
            <a:endPar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7" name="AutoShape 57"/>
          <p:cNvSpPr/>
          <p:nvPr/>
        </p:nvSpPr>
        <p:spPr>
          <a:xfrm>
            <a:off x="9004300" y="6388100"/>
            <a:ext cx="2743200" cy="292100"/>
          </a:xfrm>
          <a:prstGeom prst="rect">
            <a:avLst/>
          </a:prstGeom>
          <a:noFill/>
          <a:ln w="12700" cap="flat" cmpd="sng">
            <a:noFill/>
            <a:prstDash val="solid"/>
            <a:round/>
          </a:ln>
        </p:spPr>
        <p:txBody>
          <a:bodyPr vert="horz" wrap="square" lIns="88900" tIns="50800" rIns="88900" bIns="50800" rtlCol="0" anchor="ctr" anchorCtr="0"/>
          <a:lstStyle/>
          <a:p>
            <a:pPr indent="0" algn="r">
              <a:lnSpc>
                <a:spcPct val="100000"/>
              </a:lnSpc>
              <a:defRPr/>
            </a:pPr>
            <a:r>
              <a:rPr lang="en-US" sz="1200" b="0" i="0" u="none" strike="noStrike">
                <a:solidFill>
                  <a:srgbClr val="808080"/>
                </a:solidFill>
                <a:latin typeface="Arial" panose="020B0604020202020204"/>
                <a:ea typeface="Arial" panose="020B0604020202020204"/>
                <a:cs typeface="Arial" panose="020B0604020202020204"/>
                <a:sym typeface="Arial" panose="020B0604020202020204"/>
              </a:rPr>
              <a:t>PART 04 / SUMMARY</a:t>
            </a:r>
            <a:endParaRPr lang="en-US" sz="1100"/>
          </a:p>
        </p:txBody>
      </p:sp>
      <p:pic>
        <p:nvPicPr>
          <p:cNvPr id="58" name="Picture 58"/>
          <p:cNvPicPr>
            <a:picLocks noChangeAspect="1"/>
          </p:cNvPicPr>
          <p:nvPr/>
        </p:nvPicPr>
        <p:blipFill>
          <a:blip r:embed="rId1"/>
          <a:srcRect t="27222" b="27222"/>
          <a:stretch>
            <a:fillRect/>
          </a:stretch>
        </p:blipFill>
        <p:spPr>
          <a:xfrm>
            <a:off x="0" y="1193800"/>
            <a:ext cx="12192000" cy="3124200"/>
          </a:xfrm>
          <a:prstGeom prst="rect">
            <a:avLst/>
          </a:prstGeom>
          <a:noFill/>
          <a:ln w="25400" cap="flat" cmpd="sng">
            <a:noFill/>
            <a:prstDash val="solid"/>
            <a:round/>
          </a:ln>
        </p:spPr>
      </p:pic>
      <p:sp>
        <p:nvSpPr>
          <p:cNvPr id="59" name="AutoShape 59"/>
          <p:cNvSpPr/>
          <p:nvPr/>
        </p:nvSpPr>
        <p:spPr>
          <a:xfrm>
            <a:off x="6604000" y="1193800"/>
            <a:ext cx="3556000" cy="3124200"/>
          </a:xfrm>
          <a:prstGeom prst="roundRect">
            <a:avLst>
              <a:gd name="adj" fmla="val 0"/>
            </a:avLst>
          </a:prstGeom>
          <a:solidFill>
            <a:srgbClr val="1F2329">
              <a:alpha val="75000"/>
            </a:srgbClr>
          </a:solidFill>
          <a:ln w="25400" cap="flat" cmpd="sng">
            <a:noFill/>
            <a:prstDash val="solid"/>
            <a:round/>
          </a:ln>
        </p:spPr>
        <p:txBody>
          <a:bodyPr vert="horz" wrap="square" lIns="63500" tIns="63500" rIns="63500" bIns="63500" rtlCol="0" anchor="ctr"/>
          <a:lstStyle/>
          <a:p>
            <a:pPr algn="ctr">
              <a:defRPr/>
            </a:pPr>
          </a:p>
        </p:txBody>
      </p:sp>
      <p:sp>
        <p:nvSpPr>
          <p:cNvPr id="60" name="AutoShape 60"/>
          <p:cNvSpPr/>
          <p:nvPr/>
        </p:nvSpPr>
        <p:spPr>
          <a:xfrm>
            <a:off x="6731000" y="1587500"/>
            <a:ext cx="3302000" cy="38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系统核心目标</a:t>
            </a:r>
            <a:endParaRPr lang="en-US" sz="1100"/>
          </a:p>
        </p:txBody>
      </p:sp>
      <p:sp>
        <p:nvSpPr>
          <p:cNvPr id="61" name="AutoShape 61"/>
          <p:cNvSpPr/>
          <p:nvPr/>
        </p:nvSpPr>
        <p:spPr>
          <a:xfrm>
            <a:off x="6731000" y="2159000"/>
            <a:ext cx="3302000" cy="2032000"/>
          </a:xfrm>
          <a:prstGeom prst="rect">
            <a:avLst/>
          </a:prstGeom>
          <a:noFill/>
          <a:ln w="12700" cap="flat" cmpd="sng">
            <a:noFill/>
            <a:prstDash val="solid"/>
            <a:round/>
          </a:ln>
        </p:spPr>
        <p:txBody>
          <a:bodyPr vert="horz" wrap="square" lIns="0" tIns="0" rIns="0" bIns="0" rtlCol="0" anchor="t" anchorCtr="0"/>
          <a:lstStyle/>
          <a:p>
            <a:pPr indent="0" algn="just">
              <a:lnSpc>
                <a:spcPct val="125000"/>
              </a:lnSpc>
              <a:defRPr/>
            </a:pPr>
            <a:r>
              <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致力于构建一套完整的投资策略闭环，它不依赖运气，而是以严谨的分析框架为基石，以严格的交易纪律为保障。通过这套系统，我们将复杂的市场信息转化为可执行的决策依据，帮助你在波动中把握确定性机会。</a:t>
            </a:r>
            <a:endParaRPr lang="en-US" sz="1100"/>
          </a:p>
          <a:p>
            <a:pPr indent="0" algn="just">
              <a:lnSpc>
                <a:spcPct val="125000"/>
              </a:lnSpc>
            </a:pPr>
          </a:p>
          <a:p>
            <a:pPr indent="0" algn="just">
              <a:lnSpc>
                <a:spcPct val="125000"/>
              </a:lnSpc>
            </a:pPr>
            <a:r>
              <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 投资的本质是认知的变现，而系统是认知的载体。”</a:t>
            </a:r>
            <a:endPar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2" name="AutoShape 62"/>
          <p:cNvSpPr/>
          <p:nvPr/>
        </p:nvSpPr>
        <p:spPr>
          <a:xfrm>
            <a:off x="1371600" y="4572000"/>
            <a:ext cx="2794000" cy="508000"/>
          </a:xfrm>
          <a:prstGeom prst="roundRect">
            <a:avLst>
              <a:gd name="adj" fmla="val 0"/>
            </a:avLst>
          </a:prstGeom>
          <a:solidFill>
            <a:srgbClr val="9A0001">
              <a:alpha val="100000"/>
            </a:srgbClr>
          </a:solidFill>
          <a:ln w="25400" cap="flat" cmpd="sng">
            <a:noFill/>
            <a:prstDash val="solid"/>
            <a:round/>
          </a:ln>
        </p:spPr>
        <p:txBody>
          <a:bodyPr vert="horz" wrap="square" lIns="63500" tIns="38100" rIns="63500" bIns="38100" rtlCol="0" anchor="ctr" anchorCtr="0"/>
          <a:lstStyle/>
          <a:p>
            <a:pPr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三大核心决策法则</a:t>
            </a:r>
            <a:endParaRPr lang="en-US" sz="1100"/>
          </a:p>
        </p:txBody>
      </p:sp>
      <p:sp>
        <p:nvSpPr>
          <p:cNvPr id="63" name="AutoShape 63"/>
          <p:cNvSpPr/>
          <p:nvPr/>
        </p:nvSpPr>
        <p:spPr>
          <a:xfrm>
            <a:off x="1371600" y="5143500"/>
            <a:ext cx="9906000" cy="13335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1. 识别预期差：</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精准捕捉那些即将发生、但市场预期尚未充分反映的确定性事件，这是超额收益的核心来源。</a:t>
            </a:r>
            <a:endParaRPr lang="en-US" sz="1100"/>
          </a:p>
          <a:p>
            <a:pPr indent="0" algn="l">
              <a:lnSpc>
                <a:spcPct val="117000"/>
              </a:lnSpc>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2. 量化市场热度：</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利用舆情指数等工具，避开“人声鼎沸”的热门节点，锁定大众广泛讨论前的黄金布局期。</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3. 提前布局龙头：</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通过模型筛选与事件高度相关、业绩弹性大且估值合理的龙头标的，以核心资产抵御市场风险。</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4" name="Freeform 4"/>
          <p:cNvSpPr/>
          <p:nvPr/>
        </p:nvSpPr>
        <p:spPr>
          <a:xfrm>
            <a:off x="7112000" y="1574800"/>
            <a:ext cx="138815" cy="148643"/>
          </a:xfrm>
          <a:custGeom>
            <a:avLst/>
            <a:gdLst/>
            <a:ahLst/>
            <a:cxnLst/>
            <a:rect l="l" t="t" r="r" b="b"/>
            <a:pathLst>
              <a:path w="138815" h="148643">
                <a:moveTo>
                  <a:pt x="37163" y="77601"/>
                </a:moveTo>
                <a:cubicBezTo>
                  <a:pt x="37163" y="81972"/>
                  <a:pt x="37163" y="85251"/>
                  <a:pt x="37163" y="88530"/>
                </a:cubicBezTo>
                <a:cubicBezTo>
                  <a:pt x="37163" y="100552"/>
                  <a:pt x="37163" y="112575"/>
                  <a:pt x="37163" y="124598"/>
                </a:cubicBezTo>
                <a:cubicBezTo>
                  <a:pt x="37163" y="127876"/>
                  <a:pt x="37163" y="130063"/>
                  <a:pt x="38256" y="133341"/>
                </a:cubicBezTo>
                <a:cubicBezTo>
                  <a:pt x="38256" y="136620"/>
                  <a:pt x="40442" y="138806"/>
                  <a:pt x="43721" y="138806"/>
                </a:cubicBezTo>
                <a:cubicBezTo>
                  <a:pt x="47000" y="138806"/>
                  <a:pt x="50279" y="139899"/>
                  <a:pt x="53558" y="139899"/>
                </a:cubicBezTo>
                <a:cubicBezTo>
                  <a:pt x="53558" y="142085"/>
                  <a:pt x="53558" y="145364"/>
                  <a:pt x="53558" y="147550"/>
                </a:cubicBezTo>
                <a:cubicBezTo>
                  <a:pt x="36071" y="147550"/>
                  <a:pt x="18581" y="147550"/>
                  <a:pt x="1093" y="147550"/>
                </a:cubicBezTo>
                <a:cubicBezTo>
                  <a:pt x="0" y="146458"/>
                  <a:pt x="0" y="145364"/>
                  <a:pt x="0" y="144271"/>
                </a:cubicBezTo>
                <a:cubicBezTo>
                  <a:pt x="0" y="143179"/>
                  <a:pt x="0" y="142085"/>
                  <a:pt x="0" y="139899"/>
                </a:cubicBezTo>
                <a:cubicBezTo>
                  <a:pt x="3279" y="139899"/>
                  <a:pt x="6558" y="139899"/>
                  <a:pt x="9837" y="138806"/>
                </a:cubicBezTo>
                <a:cubicBezTo>
                  <a:pt x="15302" y="137714"/>
                  <a:pt x="16396" y="136620"/>
                  <a:pt x="17488" y="131155"/>
                </a:cubicBezTo>
                <a:cubicBezTo>
                  <a:pt x="17488" y="127876"/>
                  <a:pt x="18581" y="124598"/>
                  <a:pt x="18581" y="121319"/>
                </a:cubicBezTo>
                <a:cubicBezTo>
                  <a:pt x="18581" y="88530"/>
                  <a:pt x="18581" y="56834"/>
                  <a:pt x="18581" y="24045"/>
                </a:cubicBezTo>
                <a:cubicBezTo>
                  <a:pt x="18581" y="21859"/>
                  <a:pt x="17488" y="18580"/>
                  <a:pt x="17488" y="16394"/>
                </a:cubicBezTo>
                <a:cubicBezTo>
                  <a:pt x="16396" y="12023"/>
                  <a:pt x="14210" y="9836"/>
                  <a:pt x="9837" y="9836"/>
                </a:cubicBezTo>
                <a:cubicBezTo>
                  <a:pt x="6558" y="8744"/>
                  <a:pt x="3279" y="8744"/>
                  <a:pt x="0" y="8744"/>
                </a:cubicBezTo>
                <a:cubicBezTo>
                  <a:pt x="0" y="5465"/>
                  <a:pt x="0" y="3279"/>
                  <a:pt x="0" y="1093"/>
                </a:cubicBezTo>
                <a:cubicBezTo>
                  <a:pt x="2186" y="1093"/>
                  <a:pt x="3279" y="0"/>
                  <a:pt x="4373" y="0"/>
                </a:cubicBezTo>
                <a:cubicBezTo>
                  <a:pt x="28419" y="0"/>
                  <a:pt x="53558" y="0"/>
                  <a:pt x="77605" y="0"/>
                </a:cubicBezTo>
                <a:cubicBezTo>
                  <a:pt x="86350" y="0"/>
                  <a:pt x="94000" y="1093"/>
                  <a:pt x="102746" y="4371"/>
                </a:cubicBezTo>
                <a:cubicBezTo>
                  <a:pt x="118048" y="9836"/>
                  <a:pt x="125698" y="19674"/>
                  <a:pt x="126792" y="34975"/>
                </a:cubicBezTo>
                <a:cubicBezTo>
                  <a:pt x="127885" y="52462"/>
                  <a:pt x="120233" y="65578"/>
                  <a:pt x="106025" y="72136"/>
                </a:cubicBezTo>
                <a:cubicBezTo>
                  <a:pt x="99466" y="74322"/>
                  <a:pt x="94000" y="76507"/>
                  <a:pt x="87442" y="76507"/>
                </a:cubicBezTo>
                <a:cubicBezTo>
                  <a:pt x="84163" y="76507"/>
                  <a:pt x="80884" y="77601"/>
                  <a:pt x="77605" y="77601"/>
                </a:cubicBezTo>
                <a:cubicBezTo>
                  <a:pt x="78698" y="79786"/>
                  <a:pt x="79792" y="80879"/>
                  <a:pt x="79792" y="81972"/>
                </a:cubicBezTo>
                <a:cubicBezTo>
                  <a:pt x="91815" y="96181"/>
                  <a:pt x="102746" y="110390"/>
                  <a:pt x="113675" y="124598"/>
                </a:cubicBezTo>
                <a:cubicBezTo>
                  <a:pt x="114769" y="125691"/>
                  <a:pt x="114769" y="125691"/>
                  <a:pt x="114769" y="126784"/>
                </a:cubicBezTo>
                <a:cubicBezTo>
                  <a:pt x="121327" y="133341"/>
                  <a:pt x="127885" y="139899"/>
                  <a:pt x="138815" y="139899"/>
                </a:cubicBezTo>
                <a:cubicBezTo>
                  <a:pt x="138815" y="142085"/>
                  <a:pt x="138815" y="145364"/>
                  <a:pt x="138815" y="147550"/>
                </a:cubicBezTo>
                <a:cubicBezTo>
                  <a:pt x="135536" y="147550"/>
                  <a:pt x="131164" y="147550"/>
                  <a:pt x="126792" y="147550"/>
                </a:cubicBezTo>
                <a:cubicBezTo>
                  <a:pt x="121327" y="147550"/>
                  <a:pt x="116954" y="147550"/>
                  <a:pt x="111489" y="148643"/>
                </a:cubicBezTo>
                <a:cubicBezTo>
                  <a:pt x="108210" y="148643"/>
                  <a:pt x="106025" y="146458"/>
                  <a:pt x="104931" y="144271"/>
                </a:cubicBezTo>
                <a:cubicBezTo>
                  <a:pt x="90721" y="125691"/>
                  <a:pt x="77605" y="108203"/>
                  <a:pt x="64489" y="89623"/>
                </a:cubicBezTo>
                <a:cubicBezTo>
                  <a:pt x="62302" y="86343"/>
                  <a:pt x="59023" y="83066"/>
                  <a:pt x="56838" y="79786"/>
                </a:cubicBezTo>
                <a:cubicBezTo>
                  <a:pt x="55744" y="78693"/>
                  <a:pt x="54652" y="77601"/>
                  <a:pt x="53558" y="77601"/>
                </a:cubicBezTo>
                <a:cubicBezTo>
                  <a:pt x="48094" y="77601"/>
                  <a:pt x="42629" y="77601"/>
                  <a:pt x="37163" y="77601"/>
                </a:cubicBezTo>
                <a:close/>
                <a:moveTo>
                  <a:pt x="37163" y="66671"/>
                </a:moveTo>
                <a:cubicBezTo>
                  <a:pt x="38256" y="67763"/>
                  <a:pt x="39350" y="67763"/>
                  <a:pt x="39350" y="67763"/>
                </a:cubicBezTo>
                <a:cubicBezTo>
                  <a:pt x="50279" y="67763"/>
                  <a:pt x="61210" y="67763"/>
                  <a:pt x="72140" y="67763"/>
                </a:cubicBezTo>
                <a:cubicBezTo>
                  <a:pt x="78698" y="66671"/>
                  <a:pt x="84163" y="65578"/>
                  <a:pt x="89629" y="64484"/>
                </a:cubicBezTo>
                <a:cubicBezTo>
                  <a:pt x="98373" y="61206"/>
                  <a:pt x="102746" y="55742"/>
                  <a:pt x="104931" y="48090"/>
                </a:cubicBezTo>
                <a:cubicBezTo>
                  <a:pt x="104931" y="42625"/>
                  <a:pt x="106025" y="37160"/>
                  <a:pt x="104931" y="31695"/>
                </a:cubicBezTo>
                <a:cubicBezTo>
                  <a:pt x="103838" y="21859"/>
                  <a:pt x="98373" y="16394"/>
                  <a:pt x="88536" y="13115"/>
                </a:cubicBezTo>
                <a:cubicBezTo>
                  <a:pt x="84163" y="12023"/>
                  <a:pt x="80884" y="12023"/>
                  <a:pt x="76512" y="12023"/>
                </a:cubicBezTo>
                <a:cubicBezTo>
                  <a:pt x="64489" y="10930"/>
                  <a:pt x="52465" y="12023"/>
                  <a:pt x="40442" y="12023"/>
                </a:cubicBezTo>
                <a:cubicBezTo>
                  <a:pt x="39350" y="12023"/>
                  <a:pt x="38256" y="12023"/>
                  <a:pt x="37163" y="12023"/>
                </a:cubicBezTo>
                <a:cubicBezTo>
                  <a:pt x="37163" y="30603"/>
                  <a:pt x="37163" y="48090"/>
                  <a:pt x="37163" y="666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5854700" y="1574800"/>
            <a:ext cx="138815" cy="147415"/>
          </a:xfrm>
          <a:custGeom>
            <a:avLst/>
            <a:gdLst/>
            <a:ahLst/>
            <a:cxnLst/>
            <a:rect l="l" t="t" r="r" b="b"/>
            <a:pathLst>
              <a:path w="138815" h="147415">
                <a:moveTo>
                  <a:pt x="54652" y="76437"/>
                </a:moveTo>
                <a:cubicBezTo>
                  <a:pt x="48094" y="82989"/>
                  <a:pt x="42629" y="88449"/>
                  <a:pt x="37163" y="95001"/>
                </a:cubicBezTo>
                <a:cubicBezTo>
                  <a:pt x="36071" y="96093"/>
                  <a:pt x="36071" y="97184"/>
                  <a:pt x="36071" y="98276"/>
                </a:cubicBezTo>
                <a:cubicBezTo>
                  <a:pt x="36071" y="108105"/>
                  <a:pt x="36071" y="116840"/>
                  <a:pt x="36071" y="126667"/>
                </a:cubicBezTo>
                <a:cubicBezTo>
                  <a:pt x="36071" y="127759"/>
                  <a:pt x="36071" y="128852"/>
                  <a:pt x="37163" y="131036"/>
                </a:cubicBezTo>
                <a:cubicBezTo>
                  <a:pt x="38256" y="136496"/>
                  <a:pt x="39350" y="137587"/>
                  <a:pt x="44814" y="138679"/>
                </a:cubicBezTo>
                <a:cubicBezTo>
                  <a:pt x="48094" y="138679"/>
                  <a:pt x="50279" y="139771"/>
                  <a:pt x="53558" y="139771"/>
                </a:cubicBezTo>
                <a:cubicBezTo>
                  <a:pt x="53558" y="141956"/>
                  <a:pt x="53558" y="145231"/>
                  <a:pt x="53558" y="147415"/>
                </a:cubicBezTo>
                <a:cubicBezTo>
                  <a:pt x="36071" y="147415"/>
                  <a:pt x="18581" y="147415"/>
                  <a:pt x="0" y="147415"/>
                </a:cubicBezTo>
                <a:cubicBezTo>
                  <a:pt x="0" y="145231"/>
                  <a:pt x="0" y="143048"/>
                  <a:pt x="0" y="139771"/>
                </a:cubicBezTo>
                <a:cubicBezTo>
                  <a:pt x="2186" y="139771"/>
                  <a:pt x="5465" y="139771"/>
                  <a:pt x="7652" y="139771"/>
                </a:cubicBezTo>
                <a:cubicBezTo>
                  <a:pt x="15302" y="138679"/>
                  <a:pt x="17488" y="136496"/>
                  <a:pt x="17488" y="128852"/>
                </a:cubicBezTo>
                <a:cubicBezTo>
                  <a:pt x="17488" y="125576"/>
                  <a:pt x="17488" y="123392"/>
                  <a:pt x="17488" y="121208"/>
                </a:cubicBezTo>
                <a:cubicBezTo>
                  <a:pt x="17488" y="89541"/>
                  <a:pt x="17488" y="57874"/>
                  <a:pt x="17488" y="26208"/>
                </a:cubicBezTo>
                <a:cubicBezTo>
                  <a:pt x="17488" y="22931"/>
                  <a:pt x="17488" y="19656"/>
                  <a:pt x="17488" y="17471"/>
                </a:cubicBezTo>
                <a:cubicBezTo>
                  <a:pt x="16396" y="12012"/>
                  <a:pt x="14210" y="9827"/>
                  <a:pt x="8744" y="9827"/>
                </a:cubicBezTo>
                <a:cubicBezTo>
                  <a:pt x="5465" y="8736"/>
                  <a:pt x="3279" y="8736"/>
                  <a:pt x="0" y="8736"/>
                </a:cubicBezTo>
                <a:cubicBezTo>
                  <a:pt x="0" y="5460"/>
                  <a:pt x="0" y="3275"/>
                  <a:pt x="0" y="1092"/>
                </a:cubicBezTo>
                <a:cubicBezTo>
                  <a:pt x="4373" y="0"/>
                  <a:pt x="43721" y="0"/>
                  <a:pt x="53558" y="1092"/>
                </a:cubicBezTo>
                <a:cubicBezTo>
                  <a:pt x="53558" y="3275"/>
                  <a:pt x="54652" y="5460"/>
                  <a:pt x="54652" y="8736"/>
                </a:cubicBezTo>
                <a:cubicBezTo>
                  <a:pt x="51373" y="8736"/>
                  <a:pt x="48094" y="8736"/>
                  <a:pt x="44814" y="9827"/>
                </a:cubicBezTo>
                <a:cubicBezTo>
                  <a:pt x="40442" y="9827"/>
                  <a:pt x="37163" y="12012"/>
                  <a:pt x="37163" y="17471"/>
                </a:cubicBezTo>
                <a:cubicBezTo>
                  <a:pt x="36071" y="19656"/>
                  <a:pt x="36071" y="21839"/>
                  <a:pt x="36071" y="25116"/>
                </a:cubicBezTo>
                <a:cubicBezTo>
                  <a:pt x="36071" y="42587"/>
                  <a:pt x="36071" y="58966"/>
                  <a:pt x="36071" y="76437"/>
                </a:cubicBezTo>
                <a:cubicBezTo>
                  <a:pt x="36071" y="77530"/>
                  <a:pt x="36071" y="78622"/>
                  <a:pt x="36071" y="79713"/>
                </a:cubicBezTo>
                <a:cubicBezTo>
                  <a:pt x="38256" y="78622"/>
                  <a:pt x="39350" y="78622"/>
                  <a:pt x="39350" y="77530"/>
                </a:cubicBezTo>
                <a:cubicBezTo>
                  <a:pt x="56838" y="58966"/>
                  <a:pt x="73233" y="40403"/>
                  <a:pt x="90721" y="20747"/>
                </a:cubicBezTo>
                <a:cubicBezTo>
                  <a:pt x="91815" y="19656"/>
                  <a:pt x="92908" y="17471"/>
                  <a:pt x="94000" y="15287"/>
                </a:cubicBezTo>
                <a:cubicBezTo>
                  <a:pt x="96187" y="13104"/>
                  <a:pt x="95094" y="10919"/>
                  <a:pt x="91815" y="9827"/>
                </a:cubicBezTo>
                <a:cubicBezTo>
                  <a:pt x="88536" y="8736"/>
                  <a:pt x="86350" y="8736"/>
                  <a:pt x="83071" y="8736"/>
                </a:cubicBezTo>
                <a:cubicBezTo>
                  <a:pt x="83071" y="5460"/>
                  <a:pt x="83071" y="3275"/>
                  <a:pt x="83071" y="1092"/>
                </a:cubicBezTo>
                <a:cubicBezTo>
                  <a:pt x="86350" y="0"/>
                  <a:pt x="124606" y="0"/>
                  <a:pt x="133350" y="1092"/>
                </a:cubicBezTo>
                <a:cubicBezTo>
                  <a:pt x="133350" y="3275"/>
                  <a:pt x="133350" y="5460"/>
                  <a:pt x="133350" y="8736"/>
                </a:cubicBezTo>
                <a:cubicBezTo>
                  <a:pt x="132257" y="8736"/>
                  <a:pt x="131164" y="8736"/>
                  <a:pt x="128977" y="8736"/>
                </a:cubicBezTo>
                <a:cubicBezTo>
                  <a:pt x="121327" y="9827"/>
                  <a:pt x="113675" y="13104"/>
                  <a:pt x="108210" y="19656"/>
                </a:cubicBezTo>
                <a:cubicBezTo>
                  <a:pt x="100559" y="27299"/>
                  <a:pt x="92908" y="36035"/>
                  <a:pt x="84163" y="44770"/>
                </a:cubicBezTo>
                <a:cubicBezTo>
                  <a:pt x="78698" y="50230"/>
                  <a:pt x="73233" y="56782"/>
                  <a:pt x="67768" y="62241"/>
                </a:cubicBezTo>
                <a:cubicBezTo>
                  <a:pt x="68861" y="63334"/>
                  <a:pt x="69954" y="64426"/>
                  <a:pt x="69954" y="66610"/>
                </a:cubicBezTo>
                <a:cubicBezTo>
                  <a:pt x="84163" y="85173"/>
                  <a:pt x="98373" y="103736"/>
                  <a:pt x="111489" y="123392"/>
                </a:cubicBezTo>
                <a:cubicBezTo>
                  <a:pt x="113675" y="125576"/>
                  <a:pt x="115861" y="128852"/>
                  <a:pt x="118048" y="131036"/>
                </a:cubicBezTo>
                <a:cubicBezTo>
                  <a:pt x="122419" y="135404"/>
                  <a:pt x="127885" y="138679"/>
                  <a:pt x="134443" y="138679"/>
                </a:cubicBezTo>
                <a:cubicBezTo>
                  <a:pt x="135536" y="139771"/>
                  <a:pt x="136629" y="139771"/>
                  <a:pt x="138815" y="139771"/>
                </a:cubicBezTo>
                <a:cubicBezTo>
                  <a:pt x="138815" y="141956"/>
                  <a:pt x="138815" y="145231"/>
                  <a:pt x="138815" y="147415"/>
                </a:cubicBezTo>
                <a:cubicBezTo>
                  <a:pt x="119140" y="147415"/>
                  <a:pt x="99466" y="147415"/>
                  <a:pt x="79792" y="147415"/>
                </a:cubicBezTo>
                <a:cubicBezTo>
                  <a:pt x="79792" y="145231"/>
                  <a:pt x="79792" y="143048"/>
                  <a:pt x="79792" y="139771"/>
                </a:cubicBezTo>
                <a:cubicBezTo>
                  <a:pt x="81977" y="139771"/>
                  <a:pt x="85256" y="139771"/>
                  <a:pt x="87442" y="138679"/>
                </a:cubicBezTo>
                <a:cubicBezTo>
                  <a:pt x="92908" y="138679"/>
                  <a:pt x="94000" y="136496"/>
                  <a:pt x="91815" y="131036"/>
                </a:cubicBezTo>
                <a:cubicBezTo>
                  <a:pt x="91815" y="128852"/>
                  <a:pt x="90721" y="127759"/>
                  <a:pt x="89629" y="125576"/>
                </a:cubicBezTo>
                <a:cubicBezTo>
                  <a:pt x="78698" y="110288"/>
                  <a:pt x="66675" y="93909"/>
                  <a:pt x="55744" y="78622"/>
                </a:cubicBezTo>
                <a:cubicBezTo>
                  <a:pt x="55744" y="77530"/>
                  <a:pt x="54652" y="77530"/>
                  <a:pt x="54652" y="76437"/>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6604000" y="1574800"/>
            <a:ext cx="137587" cy="147415"/>
          </a:xfrm>
          <a:custGeom>
            <a:avLst/>
            <a:gdLst/>
            <a:ahLst/>
            <a:cxnLst/>
            <a:rect l="l" t="t" r="r" b="b"/>
            <a:pathLst>
              <a:path w="137587" h="147415">
                <a:moveTo>
                  <a:pt x="30575" y="17471"/>
                </a:moveTo>
                <a:cubicBezTo>
                  <a:pt x="30575" y="18564"/>
                  <a:pt x="30575" y="20747"/>
                  <a:pt x="30575" y="21839"/>
                </a:cubicBezTo>
                <a:cubicBezTo>
                  <a:pt x="30575" y="54599"/>
                  <a:pt x="30575" y="86265"/>
                  <a:pt x="30575" y="119024"/>
                </a:cubicBezTo>
                <a:cubicBezTo>
                  <a:pt x="30575" y="122300"/>
                  <a:pt x="30575" y="125576"/>
                  <a:pt x="30575" y="129944"/>
                </a:cubicBezTo>
                <a:cubicBezTo>
                  <a:pt x="31667" y="135404"/>
                  <a:pt x="33851" y="137587"/>
                  <a:pt x="40403" y="138679"/>
                </a:cubicBezTo>
                <a:cubicBezTo>
                  <a:pt x="42587" y="138679"/>
                  <a:pt x="44770" y="139771"/>
                  <a:pt x="48047" y="139771"/>
                </a:cubicBezTo>
                <a:cubicBezTo>
                  <a:pt x="48047" y="141956"/>
                  <a:pt x="48047" y="145231"/>
                  <a:pt x="48047" y="147415"/>
                </a:cubicBezTo>
                <a:cubicBezTo>
                  <a:pt x="31667" y="147415"/>
                  <a:pt x="16379" y="147415"/>
                  <a:pt x="0" y="147415"/>
                </a:cubicBezTo>
                <a:cubicBezTo>
                  <a:pt x="0" y="145231"/>
                  <a:pt x="0" y="143048"/>
                  <a:pt x="0" y="139771"/>
                </a:cubicBezTo>
                <a:cubicBezTo>
                  <a:pt x="3275" y="139771"/>
                  <a:pt x="5460" y="138679"/>
                  <a:pt x="8735" y="138679"/>
                </a:cubicBezTo>
                <a:cubicBezTo>
                  <a:pt x="13104" y="138679"/>
                  <a:pt x="16379" y="135404"/>
                  <a:pt x="17471" y="131036"/>
                </a:cubicBezTo>
                <a:cubicBezTo>
                  <a:pt x="17471" y="128852"/>
                  <a:pt x="17471" y="125576"/>
                  <a:pt x="17471" y="123392"/>
                </a:cubicBezTo>
                <a:cubicBezTo>
                  <a:pt x="17471" y="89541"/>
                  <a:pt x="17471" y="54599"/>
                  <a:pt x="17471" y="20747"/>
                </a:cubicBezTo>
                <a:cubicBezTo>
                  <a:pt x="17471" y="19656"/>
                  <a:pt x="17471" y="18564"/>
                  <a:pt x="17471" y="16379"/>
                </a:cubicBezTo>
                <a:cubicBezTo>
                  <a:pt x="17471" y="12012"/>
                  <a:pt x="15287" y="9827"/>
                  <a:pt x="9827" y="9827"/>
                </a:cubicBezTo>
                <a:cubicBezTo>
                  <a:pt x="8735" y="8736"/>
                  <a:pt x="7644" y="8736"/>
                  <a:pt x="5460" y="8736"/>
                </a:cubicBezTo>
                <a:cubicBezTo>
                  <a:pt x="4368" y="8736"/>
                  <a:pt x="2184" y="8736"/>
                  <a:pt x="1092" y="8736"/>
                </a:cubicBezTo>
                <a:cubicBezTo>
                  <a:pt x="1092" y="5460"/>
                  <a:pt x="1092" y="3275"/>
                  <a:pt x="1092" y="1092"/>
                </a:cubicBezTo>
                <a:cubicBezTo>
                  <a:pt x="15287" y="1092"/>
                  <a:pt x="29483" y="1092"/>
                  <a:pt x="43678" y="1092"/>
                </a:cubicBezTo>
                <a:cubicBezTo>
                  <a:pt x="64426" y="37127"/>
                  <a:pt x="86265" y="73161"/>
                  <a:pt x="107013" y="109196"/>
                </a:cubicBezTo>
                <a:cubicBezTo>
                  <a:pt x="107013" y="109196"/>
                  <a:pt x="108104" y="109196"/>
                  <a:pt x="108104" y="109196"/>
                </a:cubicBezTo>
                <a:cubicBezTo>
                  <a:pt x="108104" y="108105"/>
                  <a:pt x="108104" y="105921"/>
                  <a:pt x="108104" y="104828"/>
                </a:cubicBezTo>
                <a:cubicBezTo>
                  <a:pt x="108104" y="78622"/>
                  <a:pt x="108104" y="52414"/>
                  <a:pt x="108104" y="26208"/>
                </a:cubicBezTo>
                <a:cubicBezTo>
                  <a:pt x="108104" y="22931"/>
                  <a:pt x="108104" y="20747"/>
                  <a:pt x="107013" y="17471"/>
                </a:cubicBezTo>
                <a:cubicBezTo>
                  <a:pt x="105921" y="13104"/>
                  <a:pt x="102644" y="9827"/>
                  <a:pt x="98276" y="9827"/>
                </a:cubicBezTo>
                <a:cubicBezTo>
                  <a:pt x="96092" y="8736"/>
                  <a:pt x="93909" y="8736"/>
                  <a:pt x="90632" y="8736"/>
                </a:cubicBezTo>
                <a:cubicBezTo>
                  <a:pt x="90632" y="5460"/>
                  <a:pt x="90632" y="3275"/>
                  <a:pt x="90632" y="1092"/>
                </a:cubicBezTo>
                <a:cubicBezTo>
                  <a:pt x="95001" y="0"/>
                  <a:pt x="125575" y="0"/>
                  <a:pt x="137587" y="1092"/>
                </a:cubicBezTo>
                <a:cubicBezTo>
                  <a:pt x="137587" y="3275"/>
                  <a:pt x="137587" y="5460"/>
                  <a:pt x="137587" y="8736"/>
                </a:cubicBezTo>
                <a:cubicBezTo>
                  <a:pt x="135404" y="8736"/>
                  <a:pt x="133219" y="8736"/>
                  <a:pt x="129944" y="9827"/>
                </a:cubicBezTo>
                <a:cubicBezTo>
                  <a:pt x="125575" y="9827"/>
                  <a:pt x="122300" y="13104"/>
                  <a:pt x="121208" y="17471"/>
                </a:cubicBezTo>
                <a:cubicBezTo>
                  <a:pt x="121208" y="21839"/>
                  <a:pt x="120115" y="25116"/>
                  <a:pt x="120115" y="29483"/>
                </a:cubicBezTo>
                <a:cubicBezTo>
                  <a:pt x="120115" y="66610"/>
                  <a:pt x="120115" y="103736"/>
                  <a:pt x="120115" y="140863"/>
                </a:cubicBezTo>
                <a:cubicBezTo>
                  <a:pt x="120115" y="143048"/>
                  <a:pt x="120115" y="145231"/>
                  <a:pt x="120115" y="147415"/>
                </a:cubicBezTo>
                <a:cubicBezTo>
                  <a:pt x="115748" y="147415"/>
                  <a:pt x="112472" y="147415"/>
                  <a:pt x="108104" y="147415"/>
                </a:cubicBezTo>
                <a:cubicBezTo>
                  <a:pt x="82989" y="103736"/>
                  <a:pt x="56782" y="60058"/>
                  <a:pt x="31667" y="16379"/>
                </a:cubicBezTo>
                <a:cubicBezTo>
                  <a:pt x="30575" y="16379"/>
                  <a:pt x="30575" y="16379"/>
                  <a:pt x="30575" y="174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6972300" y="1574800"/>
            <a:ext cx="135131" cy="147415"/>
          </a:xfrm>
          <a:custGeom>
            <a:avLst/>
            <a:gdLst/>
            <a:ahLst/>
            <a:cxnLst/>
            <a:rect l="l" t="t" r="r" b="b"/>
            <a:pathLst>
              <a:path w="135131" h="147415">
                <a:moveTo>
                  <a:pt x="0" y="8736"/>
                </a:moveTo>
                <a:cubicBezTo>
                  <a:pt x="0" y="5460"/>
                  <a:pt x="0" y="3275"/>
                  <a:pt x="0" y="1092"/>
                </a:cubicBezTo>
                <a:cubicBezTo>
                  <a:pt x="3269" y="0"/>
                  <a:pt x="106797" y="0"/>
                  <a:pt x="114424" y="1092"/>
                </a:cubicBezTo>
                <a:cubicBezTo>
                  <a:pt x="118783" y="13104"/>
                  <a:pt x="123143" y="26208"/>
                  <a:pt x="127502" y="38218"/>
                </a:cubicBezTo>
                <a:cubicBezTo>
                  <a:pt x="125322" y="40403"/>
                  <a:pt x="122053" y="41495"/>
                  <a:pt x="119873" y="42587"/>
                </a:cubicBezTo>
                <a:cubicBezTo>
                  <a:pt x="118783" y="39310"/>
                  <a:pt x="117693" y="38218"/>
                  <a:pt x="116604" y="36035"/>
                </a:cubicBezTo>
                <a:cubicBezTo>
                  <a:pt x="110066" y="21839"/>
                  <a:pt x="100258" y="14196"/>
                  <a:pt x="85001" y="12012"/>
                </a:cubicBezTo>
                <a:cubicBezTo>
                  <a:pt x="68655" y="10919"/>
                  <a:pt x="52309" y="12012"/>
                  <a:pt x="37052" y="12012"/>
                </a:cubicBezTo>
                <a:cubicBezTo>
                  <a:pt x="35963" y="16379"/>
                  <a:pt x="35963" y="60058"/>
                  <a:pt x="37052" y="66610"/>
                </a:cubicBezTo>
                <a:cubicBezTo>
                  <a:pt x="44680" y="66610"/>
                  <a:pt x="52309" y="66610"/>
                  <a:pt x="59936" y="65518"/>
                </a:cubicBezTo>
                <a:cubicBezTo>
                  <a:pt x="69745" y="64426"/>
                  <a:pt x="74103" y="58966"/>
                  <a:pt x="75193" y="49139"/>
                </a:cubicBezTo>
                <a:cubicBezTo>
                  <a:pt x="76283" y="45862"/>
                  <a:pt x="76283" y="42587"/>
                  <a:pt x="76283" y="39310"/>
                </a:cubicBezTo>
                <a:cubicBezTo>
                  <a:pt x="79553" y="39310"/>
                  <a:pt x="81732" y="39310"/>
                  <a:pt x="85001" y="39310"/>
                </a:cubicBezTo>
                <a:cubicBezTo>
                  <a:pt x="85001" y="61150"/>
                  <a:pt x="85001" y="81897"/>
                  <a:pt x="85001" y="103736"/>
                </a:cubicBezTo>
                <a:cubicBezTo>
                  <a:pt x="83911" y="103736"/>
                  <a:pt x="82822" y="103736"/>
                  <a:pt x="80642" y="103736"/>
                </a:cubicBezTo>
                <a:cubicBezTo>
                  <a:pt x="79553" y="103736"/>
                  <a:pt x="78463" y="103736"/>
                  <a:pt x="76283" y="103736"/>
                </a:cubicBezTo>
                <a:cubicBezTo>
                  <a:pt x="76283" y="101553"/>
                  <a:pt x="76283" y="98276"/>
                  <a:pt x="76283" y="96093"/>
                </a:cubicBezTo>
                <a:cubicBezTo>
                  <a:pt x="75193" y="93909"/>
                  <a:pt x="75193" y="90634"/>
                  <a:pt x="74103" y="88449"/>
                </a:cubicBezTo>
                <a:cubicBezTo>
                  <a:pt x="73014" y="81897"/>
                  <a:pt x="69745" y="78622"/>
                  <a:pt x="63205" y="77530"/>
                </a:cubicBezTo>
                <a:cubicBezTo>
                  <a:pt x="54488" y="75345"/>
                  <a:pt x="45770" y="76437"/>
                  <a:pt x="37052" y="76437"/>
                </a:cubicBezTo>
                <a:cubicBezTo>
                  <a:pt x="35963" y="78622"/>
                  <a:pt x="35963" y="79713"/>
                  <a:pt x="35963" y="80805"/>
                </a:cubicBezTo>
                <a:cubicBezTo>
                  <a:pt x="35963" y="96093"/>
                  <a:pt x="35963" y="111380"/>
                  <a:pt x="35963" y="125576"/>
                </a:cubicBezTo>
                <a:cubicBezTo>
                  <a:pt x="35963" y="135404"/>
                  <a:pt x="37052" y="136496"/>
                  <a:pt x="46859" y="136496"/>
                </a:cubicBezTo>
                <a:cubicBezTo>
                  <a:pt x="56667" y="136496"/>
                  <a:pt x="65386" y="136496"/>
                  <a:pt x="75193" y="136496"/>
                </a:cubicBezTo>
                <a:cubicBezTo>
                  <a:pt x="96989" y="136496"/>
                  <a:pt x="113335" y="125576"/>
                  <a:pt x="122053" y="105921"/>
                </a:cubicBezTo>
                <a:cubicBezTo>
                  <a:pt x="123143" y="103736"/>
                  <a:pt x="124233" y="101553"/>
                  <a:pt x="125322" y="98276"/>
                </a:cubicBezTo>
                <a:cubicBezTo>
                  <a:pt x="128591" y="99369"/>
                  <a:pt x="131860" y="100461"/>
                  <a:pt x="135131" y="101553"/>
                </a:cubicBezTo>
                <a:cubicBezTo>
                  <a:pt x="129681" y="117932"/>
                  <a:pt x="124233" y="132127"/>
                  <a:pt x="118783" y="147415"/>
                </a:cubicBezTo>
                <a:cubicBezTo>
                  <a:pt x="79553" y="147415"/>
                  <a:pt x="40321" y="147415"/>
                  <a:pt x="0" y="147415"/>
                </a:cubicBezTo>
                <a:cubicBezTo>
                  <a:pt x="0" y="145231"/>
                  <a:pt x="0" y="143048"/>
                  <a:pt x="0" y="139771"/>
                </a:cubicBezTo>
                <a:cubicBezTo>
                  <a:pt x="3269" y="139771"/>
                  <a:pt x="6538" y="139771"/>
                  <a:pt x="8719" y="138679"/>
                </a:cubicBezTo>
                <a:cubicBezTo>
                  <a:pt x="14167" y="137587"/>
                  <a:pt x="16346" y="136496"/>
                  <a:pt x="16346" y="131036"/>
                </a:cubicBezTo>
                <a:cubicBezTo>
                  <a:pt x="17436" y="128852"/>
                  <a:pt x="17436" y="125576"/>
                  <a:pt x="17436" y="123392"/>
                </a:cubicBezTo>
                <a:cubicBezTo>
                  <a:pt x="17436" y="89541"/>
                  <a:pt x="17436" y="56782"/>
                  <a:pt x="17436" y="22931"/>
                </a:cubicBezTo>
                <a:cubicBezTo>
                  <a:pt x="17436" y="21839"/>
                  <a:pt x="17436" y="19656"/>
                  <a:pt x="17436" y="17471"/>
                </a:cubicBezTo>
                <a:cubicBezTo>
                  <a:pt x="16346" y="12012"/>
                  <a:pt x="14167" y="9827"/>
                  <a:pt x="8719" y="9827"/>
                </a:cubicBezTo>
                <a:cubicBezTo>
                  <a:pt x="7629" y="9827"/>
                  <a:pt x="6538" y="8736"/>
                  <a:pt x="4359" y="8736"/>
                </a:cubicBezTo>
                <a:cubicBezTo>
                  <a:pt x="3269" y="8736"/>
                  <a:pt x="2179" y="8736"/>
                  <a:pt x="0" y="8736"/>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5715000" y="1574800"/>
            <a:ext cx="135131" cy="146186"/>
          </a:xfrm>
          <a:custGeom>
            <a:avLst/>
            <a:gdLst/>
            <a:ahLst/>
            <a:cxnLst/>
            <a:rect l="l" t="t" r="r" b="b"/>
            <a:pathLst>
              <a:path w="135131" h="146186">
                <a:moveTo>
                  <a:pt x="36255" y="65456"/>
                </a:moveTo>
                <a:cubicBezTo>
                  <a:pt x="45043" y="65456"/>
                  <a:pt x="52734" y="66547"/>
                  <a:pt x="60424" y="64365"/>
                </a:cubicBezTo>
                <a:cubicBezTo>
                  <a:pt x="69212" y="62183"/>
                  <a:pt x="73608" y="57819"/>
                  <a:pt x="74706" y="49092"/>
                </a:cubicBezTo>
                <a:cubicBezTo>
                  <a:pt x="75805" y="45819"/>
                  <a:pt x="75805" y="42546"/>
                  <a:pt x="76904" y="38183"/>
                </a:cubicBezTo>
                <a:cubicBezTo>
                  <a:pt x="79101" y="38183"/>
                  <a:pt x="82396" y="38183"/>
                  <a:pt x="84593" y="38183"/>
                </a:cubicBezTo>
                <a:cubicBezTo>
                  <a:pt x="84593" y="60001"/>
                  <a:pt x="84593" y="80730"/>
                  <a:pt x="84593" y="102549"/>
                </a:cubicBezTo>
                <a:cubicBezTo>
                  <a:pt x="83495" y="102549"/>
                  <a:pt x="82396" y="102549"/>
                  <a:pt x="82396" y="102549"/>
                </a:cubicBezTo>
                <a:cubicBezTo>
                  <a:pt x="80199" y="102549"/>
                  <a:pt x="78002" y="102549"/>
                  <a:pt x="76904" y="102549"/>
                </a:cubicBezTo>
                <a:cubicBezTo>
                  <a:pt x="75805" y="98185"/>
                  <a:pt x="75805" y="93821"/>
                  <a:pt x="75805" y="90548"/>
                </a:cubicBezTo>
                <a:cubicBezTo>
                  <a:pt x="73608" y="80730"/>
                  <a:pt x="69212" y="76366"/>
                  <a:pt x="59326" y="75275"/>
                </a:cubicBezTo>
                <a:cubicBezTo>
                  <a:pt x="51636" y="75275"/>
                  <a:pt x="43945" y="75275"/>
                  <a:pt x="36255" y="75275"/>
                </a:cubicBezTo>
                <a:cubicBezTo>
                  <a:pt x="36255" y="77457"/>
                  <a:pt x="36255" y="78548"/>
                  <a:pt x="36255" y="79639"/>
                </a:cubicBezTo>
                <a:cubicBezTo>
                  <a:pt x="36255" y="94912"/>
                  <a:pt x="36255" y="110185"/>
                  <a:pt x="36255" y="124367"/>
                </a:cubicBezTo>
                <a:cubicBezTo>
                  <a:pt x="36255" y="134186"/>
                  <a:pt x="37353" y="135277"/>
                  <a:pt x="47240" y="135277"/>
                </a:cubicBezTo>
                <a:cubicBezTo>
                  <a:pt x="56030" y="135277"/>
                  <a:pt x="65917" y="135277"/>
                  <a:pt x="74706" y="135277"/>
                </a:cubicBezTo>
                <a:cubicBezTo>
                  <a:pt x="97777" y="135277"/>
                  <a:pt x="113158" y="124367"/>
                  <a:pt x="123045" y="104731"/>
                </a:cubicBezTo>
                <a:cubicBezTo>
                  <a:pt x="124144" y="102549"/>
                  <a:pt x="125242" y="100367"/>
                  <a:pt x="126341" y="98185"/>
                </a:cubicBezTo>
                <a:cubicBezTo>
                  <a:pt x="126341" y="98185"/>
                  <a:pt x="126341" y="98185"/>
                  <a:pt x="126341" y="98185"/>
                </a:cubicBezTo>
                <a:cubicBezTo>
                  <a:pt x="129637" y="98185"/>
                  <a:pt x="131834" y="99276"/>
                  <a:pt x="135131" y="100367"/>
                </a:cubicBezTo>
                <a:cubicBezTo>
                  <a:pt x="129637" y="116731"/>
                  <a:pt x="124144" y="130913"/>
                  <a:pt x="119750" y="146186"/>
                </a:cubicBezTo>
                <a:cubicBezTo>
                  <a:pt x="79101" y="146186"/>
                  <a:pt x="39550" y="146186"/>
                  <a:pt x="0" y="146186"/>
                </a:cubicBezTo>
                <a:cubicBezTo>
                  <a:pt x="0" y="144004"/>
                  <a:pt x="0" y="141822"/>
                  <a:pt x="0" y="138549"/>
                </a:cubicBezTo>
                <a:cubicBezTo>
                  <a:pt x="2197" y="138549"/>
                  <a:pt x="5493" y="137458"/>
                  <a:pt x="8788" y="137458"/>
                </a:cubicBezTo>
                <a:cubicBezTo>
                  <a:pt x="13184" y="137458"/>
                  <a:pt x="15381" y="135277"/>
                  <a:pt x="16480" y="130913"/>
                </a:cubicBezTo>
                <a:cubicBezTo>
                  <a:pt x="16480" y="128731"/>
                  <a:pt x="17578" y="125458"/>
                  <a:pt x="17578" y="123276"/>
                </a:cubicBezTo>
                <a:cubicBezTo>
                  <a:pt x="17578" y="89458"/>
                  <a:pt x="17578" y="55637"/>
                  <a:pt x="17578" y="21819"/>
                </a:cubicBezTo>
                <a:cubicBezTo>
                  <a:pt x="17578" y="10909"/>
                  <a:pt x="15381" y="8727"/>
                  <a:pt x="5493" y="7637"/>
                </a:cubicBezTo>
                <a:cubicBezTo>
                  <a:pt x="3296" y="7637"/>
                  <a:pt x="1099" y="7637"/>
                  <a:pt x="0" y="7637"/>
                </a:cubicBezTo>
                <a:cubicBezTo>
                  <a:pt x="0" y="4364"/>
                  <a:pt x="0" y="2182"/>
                  <a:pt x="0" y="0"/>
                </a:cubicBezTo>
                <a:cubicBezTo>
                  <a:pt x="37353" y="0"/>
                  <a:pt x="75805" y="0"/>
                  <a:pt x="115355" y="0"/>
                </a:cubicBezTo>
                <a:cubicBezTo>
                  <a:pt x="119750" y="12000"/>
                  <a:pt x="123045" y="24000"/>
                  <a:pt x="128538" y="38183"/>
                </a:cubicBezTo>
                <a:cubicBezTo>
                  <a:pt x="125242" y="39273"/>
                  <a:pt x="123045" y="40364"/>
                  <a:pt x="119750" y="41455"/>
                </a:cubicBezTo>
                <a:cubicBezTo>
                  <a:pt x="118651" y="39273"/>
                  <a:pt x="118651" y="38183"/>
                  <a:pt x="117552" y="37092"/>
                </a:cubicBezTo>
                <a:cubicBezTo>
                  <a:pt x="117552" y="34910"/>
                  <a:pt x="116454" y="33819"/>
                  <a:pt x="115355" y="31637"/>
                </a:cubicBezTo>
                <a:cubicBezTo>
                  <a:pt x="109861" y="19637"/>
                  <a:pt x="98876" y="12000"/>
                  <a:pt x="85692" y="12000"/>
                </a:cubicBezTo>
                <a:cubicBezTo>
                  <a:pt x="72509" y="10909"/>
                  <a:pt x="59326" y="10909"/>
                  <a:pt x="46142" y="10909"/>
                </a:cubicBezTo>
                <a:cubicBezTo>
                  <a:pt x="42846" y="10909"/>
                  <a:pt x="39550" y="10909"/>
                  <a:pt x="36255" y="10909"/>
                </a:cubicBezTo>
                <a:cubicBezTo>
                  <a:pt x="36255" y="28364"/>
                  <a:pt x="36255" y="46910"/>
                  <a:pt x="36255" y="65456"/>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6070600" y="1574800"/>
            <a:ext cx="137587" cy="146186"/>
          </a:xfrm>
          <a:custGeom>
            <a:avLst/>
            <a:gdLst/>
            <a:ahLst/>
            <a:cxnLst/>
            <a:rect l="l" t="t" r="r" b="b"/>
            <a:pathLst>
              <a:path w="137587" h="146186">
                <a:moveTo>
                  <a:pt x="46954" y="146186"/>
                </a:moveTo>
                <a:cubicBezTo>
                  <a:pt x="31667" y="146186"/>
                  <a:pt x="15287" y="146186"/>
                  <a:pt x="0" y="146186"/>
                </a:cubicBezTo>
                <a:cubicBezTo>
                  <a:pt x="0" y="144004"/>
                  <a:pt x="0" y="141822"/>
                  <a:pt x="0" y="138549"/>
                </a:cubicBezTo>
                <a:cubicBezTo>
                  <a:pt x="2184" y="138549"/>
                  <a:pt x="5460" y="138549"/>
                  <a:pt x="7644" y="137458"/>
                </a:cubicBezTo>
                <a:cubicBezTo>
                  <a:pt x="14196" y="136368"/>
                  <a:pt x="16379" y="134186"/>
                  <a:pt x="17471" y="128731"/>
                </a:cubicBezTo>
                <a:cubicBezTo>
                  <a:pt x="17471" y="125458"/>
                  <a:pt x="17471" y="123276"/>
                  <a:pt x="17471" y="120004"/>
                </a:cubicBezTo>
                <a:cubicBezTo>
                  <a:pt x="17471" y="87276"/>
                  <a:pt x="17471" y="53456"/>
                  <a:pt x="17471" y="19637"/>
                </a:cubicBezTo>
                <a:cubicBezTo>
                  <a:pt x="17471" y="9818"/>
                  <a:pt x="15287" y="8727"/>
                  <a:pt x="5460" y="7637"/>
                </a:cubicBezTo>
                <a:cubicBezTo>
                  <a:pt x="4368" y="7637"/>
                  <a:pt x="2184" y="7637"/>
                  <a:pt x="0" y="7637"/>
                </a:cubicBezTo>
                <a:cubicBezTo>
                  <a:pt x="0" y="4364"/>
                  <a:pt x="0" y="2182"/>
                  <a:pt x="0" y="0"/>
                </a:cubicBezTo>
                <a:cubicBezTo>
                  <a:pt x="14196" y="0"/>
                  <a:pt x="28391" y="0"/>
                  <a:pt x="43678" y="0"/>
                </a:cubicBezTo>
                <a:cubicBezTo>
                  <a:pt x="64426" y="36001"/>
                  <a:pt x="85173" y="72003"/>
                  <a:pt x="107013" y="109094"/>
                </a:cubicBezTo>
                <a:cubicBezTo>
                  <a:pt x="107013" y="106912"/>
                  <a:pt x="108104" y="105821"/>
                  <a:pt x="108104" y="104731"/>
                </a:cubicBezTo>
                <a:cubicBezTo>
                  <a:pt x="108104" y="78548"/>
                  <a:pt x="108104" y="52365"/>
                  <a:pt x="108104" y="26182"/>
                </a:cubicBezTo>
                <a:cubicBezTo>
                  <a:pt x="108104" y="24000"/>
                  <a:pt x="108104" y="20728"/>
                  <a:pt x="107013" y="18546"/>
                </a:cubicBezTo>
                <a:cubicBezTo>
                  <a:pt x="105921" y="12000"/>
                  <a:pt x="103736" y="8727"/>
                  <a:pt x="97184" y="7637"/>
                </a:cubicBezTo>
                <a:cubicBezTo>
                  <a:pt x="95001" y="7637"/>
                  <a:pt x="92817" y="7637"/>
                  <a:pt x="90632" y="7637"/>
                </a:cubicBezTo>
                <a:cubicBezTo>
                  <a:pt x="90632" y="6546"/>
                  <a:pt x="90632" y="5455"/>
                  <a:pt x="90632" y="4364"/>
                </a:cubicBezTo>
                <a:cubicBezTo>
                  <a:pt x="90632" y="2182"/>
                  <a:pt x="90632" y="1091"/>
                  <a:pt x="90632" y="0"/>
                </a:cubicBezTo>
                <a:cubicBezTo>
                  <a:pt x="105921" y="0"/>
                  <a:pt x="121208" y="0"/>
                  <a:pt x="136495" y="0"/>
                </a:cubicBezTo>
                <a:cubicBezTo>
                  <a:pt x="136495" y="1091"/>
                  <a:pt x="137587" y="2182"/>
                  <a:pt x="137587" y="3273"/>
                </a:cubicBezTo>
                <a:cubicBezTo>
                  <a:pt x="137587" y="4364"/>
                  <a:pt x="137587" y="5455"/>
                  <a:pt x="137587" y="7637"/>
                </a:cubicBezTo>
                <a:cubicBezTo>
                  <a:pt x="135404" y="7637"/>
                  <a:pt x="133219" y="7637"/>
                  <a:pt x="131035" y="7637"/>
                </a:cubicBezTo>
                <a:cubicBezTo>
                  <a:pt x="124483" y="8727"/>
                  <a:pt x="121208" y="12000"/>
                  <a:pt x="120115" y="17455"/>
                </a:cubicBezTo>
                <a:cubicBezTo>
                  <a:pt x="120115" y="21819"/>
                  <a:pt x="120115" y="25091"/>
                  <a:pt x="120115" y="28364"/>
                </a:cubicBezTo>
                <a:cubicBezTo>
                  <a:pt x="120115" y="65456"/>
                  <a:pt x="120115" y="102549"/>
                  <a:pt x="120115" y="139640"/>
                </a:cubicBezTo>
                <a:cubicBezTo>
                  <a:pt x="120115" y="141822"/>
                  <a:pt x="120115" y="144004"/>
                  <a:pt x="120115" y="146186"/>
                </a:cubicBezTo>
                <a:cubicBezTo>
                  <a:pt x="115748" y="146186"/>
                  <a:pt x="111380" y="146186"/>
                  <a:pt x="107013" y="146186"/>
                </a:cubicBezTo>
                <a:cubicBezTo>
                  <a:pt x="81897" y="102549"/>
                  <a:pt x="56782" y="58910"/>
                  <a:pt x="30575" y="15273"/>
                </a:cubicBezTo>
                <a:cubicBezTo>
                  <a:pt x="30575" y="15273"/>
                  <a:pt x="30575" y="15273"/>
                  <a:pt x="30575" y="15273"/>
                </a:cubicBezTo>
                <a:cubicBezTo>
                  <a:pt x="29483" y="16364"/>
                  <a:pt x="29483" y="17455"/>
                  <a:pt x="29483" y="18546"/>
                </a:cubicBezTo>
                <a:cubicBezTo>
                  <a:pt x="29483" y="52365"/>
                  <a:pt x="29483" y="86185"/>
                  <a:pt x="29483" y="120004"/>
                </a:cubicBezTo>
                <a:cubicBezTo>
                  <a:pt x="29483" y="123276"/>
                  <a:pt x="29483" y="126549"/>
                  <a:pt x="30575" y="128731"/>
                </a:cubicBezTo>
                <a:cubicBezTo>
                  <a:pt x="31667" y="134186"/>
                  <a:pt x="33851" y="136368"/>
                  <a:pt x="39310" y="137458"/>
                </a:cubicBezTo>
                <a:cubicBezTo>
                  <a:pt x="41495" y="137458"/>
                  <a:pt x="44770" y="138549"/>
                  <a:pt x="46954" y="138549"/>
                </a:cubicBezTo>
                <a:cubicBezTo>
                  <a:pt x="46954" y="140731"/>
                  <a:pt x="46954" y="144004"/>
                  <a:pt x="46954" y="146186"/>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6223000" y="1574800"/>
            <a:ext cx="152328" cy="157243"/>
          </a:xfrm>
          <a:custGeom>
            <a:avLst/>
            <a:gdLst/>
            <a:ahLst/>
            <a:cxnLst/>
            <a:rect l="l" t="t" r="r" b="b"/>
            <a:pathLst>
              <a:path w="152328" h="157243">
                <a:moveTo>
                  <a:pt x="95341" y="86265"/>
                </a:moveTo>
                <a:cubicBezTo>
                  <a:pt x="95341" y="82989"/>
                  <a:pt x="95341" y="80805"/>
                  <a:pt x="95341" y="77528"/>
                </a:cubicBezTo>
                <a:cubicBezTo>
                  <a:pt x="115068" y="77528"/>
                  <a:pt x="133698" y="77528"/>
                  <a:pt x="152328" y="77528"/>
                </a:cubicBezTo>
                <a:cubicBezTo>
                  <a:pt x="152328" y="80805"/>
                  <a:pt x="152328" y="82989"/>
                  <a:pt x="152328" y="86265"/>
                </a:cubicBezTo>
                <a:cubicBezTo>
                  <a:pt x="150137" y="86265"/>
                  <a:pt x="147945" y="86265"/>
                  <a:pt x="145753" y="86265"/>
                </a:cubicBezTo>
                <a:cubicBezTo>
                  <a:pt x="139177" y="86265"/>
                  <a:pt x="136986" y="88449"/>
                  <a:pt x="135890" y="96092"/>
                </a:cubicBezTo>
                <a:cubicBezTo>
                  <a:pt x="135890" y="98276"/>
                  <a:pt x="135890" y="101552"/>
                  <a:pt x="135890" y="103736"/>
                </a:cubicBezTo>
                <a:cubicBezTo>
                  <a:pt x="135890" y="117931"/>
                  <a:pt x="135890" y="132127"/>
                  <a:pt x="135890" y="146323"/>
                </a:cubicBezTo>
                <a:cubicBezTo>
                  <a:pt x="135890" y="147414"/>
                  <a:pt x="135890" y="149598"/>
                  <a:pt x="135890" y="151783"/>
                </a:cubicBezTo>
                <a:cubicBezTo>
                  <a:pt x="132602" y="151783"/>
                  <a:pt x="129314" y="151783"/>
                  <a:pt x="126027" y="151783"/>
                </a:cubicBezTo>
                <a:cubicBezTo>
                  <a:pt x="123835" y="148506"/>
                  <a:pt x="122739" y="144139"/>
                  <a:pt x="120547" y="139771"/>
                </a:cubicBezTo>
                <a:cubicBezTo>
                  <a:pt x="118355" y="140862"/>
                  <a:pt x="117259" y="141954"/>
                  <a:pt x="115068" y="143046"/>
                </a:cubicBezTo>
                <a:cubicBezTo>
                  <a:pt x="98629" y="152874"/>
                  <a:pt x="81096" y="157243"/>
                  <a:pt x="61369" y="153966"/>
                </a:cubicBezTo>
                <a:cubicBezTo>
                  <a:pt x="37261" y="149598"/>
                  <a:pt x="19726" y="135402"/>
                  <a:pt x="10959" y="112471"/>
                </a:cubicBezTo>
                <a:cubicBezTo>
                  <a:pt x="0" y="86265"/>
                  <a:pt x="1096" y="60058"/>
                  <a:pt x="16439" y="36035"/>
                </a:cubicBezTo>
                <a:cubicBezTo>
                  <a:pt x="26302" y="18564"/>
                  <a:pt x="41643" y="6552"/>
                  <a:pt x="61369" y="3275"/>
                </a:cubicBezTo>
                <a:cubicBezTo>
                  <a:pt x="77808" y="0"/>
                  <a:pt x="94247" y="2184"/>
                  <a:pt x="108492" y="12012"/>
                </a:cubicBezTo>
                <a:cubicBezTo>
                  <a:pt x="109588" y="13104"/>
                  <a:pt x="110684" y="13104"/>
                  <a:pt x="111780" y="14196"/>
                </a:cubicBezTo>
                <a:cubicBezTo>
                  <a:pt x="112876" y="10919"/>
                  <a:pt x="113972" y="7644"/>
                  <a:pt x="115068" y="5460"/>
                </a:cubicBezTo>
                <a:cubicBezTo>
                  <a:pt x="117259" y="5460"/>
                  <a:pt x="119451" y="5460"/>
                  <a:pt x="122739" y="5460"/>
                </a:cubicBezTo>
                <a:cubicBezTo>
                  <a:pt x="126027" y="19656"/>
                  <a:pt x="130410" y="34943"/>
                  <a:pt x="133698" y="50230"/>
                </a:cubicBezTo>
                <a:cubicBezTo>
                  <a:pt x="131506" y="51322"/>
                  <a:pt x="128218" y="52414"/>
                  <a:pt x="124931" y="53506"/>
                </a:cubicBezTo>
                <a:cubicBezTo>
                  <a:pt x="124931" y="51322"/>
                  <a:pt x="123835" y="49138"/>
                  <a:pt x="122739" y="48047"/>
                </a:cubicBezTo>
                <a:cubicBezTo>
                  <a:pt x="119451" y="40403"/>
                  <a:pt x="115068" y="32758"/>
                  <a:pt x="109588" y="27299"/>
                </a:cubicBezTo>
                <a:cubicBezTo>
                  <a:pt x="92055" y="8735"/>
                  <a:pt x="64657" y="7644"/>
                  <a:pt x="46027" y="25116"/>
                </a:cubicBezTo>
                <a:cubicBezTo>
                  <a:pt x="33972" y="37127"/>
                  <a:pt x="27398" y="51322"/>
                  <a:pt x="26302" y="67701"/>
                </a:cubicBezTo>
                <a:cubicBezTo>
                  <a:pt x="24110" y="86265"/>
                  <a:pt x="27398" y="103736"/>
                  <a:pt x="37261" y="119023"/>
                </a:cubicBezTo>
                <a:cubicBezTo>
                  <a:pt x="48219" y="136495"/>
                  <a:pt x="64657" y="144139"/>
                  <a:pt x="84383" y="143046"/>
                </a:cubicBezTo>
                <a:cubicBezTo>
                  <a:pt x="94247" y="141954"/>
                  <a:pt x="103014" y="138679"/>
                  <a:pt x="110684" y="131035"/>
                </a:cubicBezTo>
                <a:cubicBezTo>
                  <a:pt x="113972" y="127759"/>
                  <a:pt x="116164" y="124483"/>
                  <a:pt x="116164" y="119023"/>
                </a:cubicBezTo>
                <a:cubicBezTo>
                  <a:pt x="116164" y="112471"/>
                  <a:pt x="117259" y="104828"/>
                  <a:pt x="116164" y="98276"/>
                </a:cubicBezTo>
                <a:cubicBezTo>
                  <a:pt x="116164" y="89540"/>
                  <a:pt x="113972" y="88449"/>
                  <a:pt x="105206" y="86265"/>
                </a:cubicBezTo>
                <a:cubicBezTo>
                  <a:pt x="103014" y="86265"/>
                  <a:pt x="99725" y="86265"/>
                  <a:pt x="95341" y="8626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7264400" y="1574800"/>
            <a:ext cx="124073" cy="152328"/>
          </a:xfrm>
          <a:custGeom>
            <a:avLst/>
            <a:gdLst/>
            <a:ahLst/>
            <a:cxnLst/>
            <a:rect l="l" t="t" r="r" b="b"/>
            <a:pathLst>
              <a:path w="124073" h="152328">
                <a:moveTo>
                  <a:pt x="113094" y="47874"/>
                </a:moveTo>
                <a:cubicBezTo>
                  <a:pt x="109799" y="48962"/>
                  <a:pt x="107603" y="48962"/>
                  <a:pt x="104309" y="50051"/>
                </a:cubicBezTo>
                <a:cubicBezTo>
                  <a:pt x="103212" y="47874"/>
                  <a:pt x="102113" y="46787"/>
                  <a:pt x="101016" y="44610"/>
                </a:cubicBezTo>
                <a:cubicBezTo>
                  <a:pt x="95526" y="34818"/>
                  <a:pt x="88937" y="26114"/>
                  <a:pt x="79055" y="19585"/>
                </a:cubicBezTo>
                <a:cubicBezTo>
                  <a:pt x="66977" y="11968"/>
                  <a:pt x="54900" y="9793"/>
                  <a:pt x="41723" y="13057"/>
                </a:cubicBezTo>
                <a:cubicBezTo>
                  <a:pt x="36233" y="14145"/>
                  <a:pt x="30744" y="17409"/>
                  <a:pt x="27450" y="20673"/>
                </a:cubicBezTo>
                <a:cubicBezTo>
                  <a:pt x="19764" y="29378"/>
                  <a:pt x="20862" y="41346"/>
                  <a:pt x="28548" y="47874"/>
                </a:cubicBezTo>
                <a:cubicBezTo>
                  <a:pt x="34037" y="53315"/>
                  <a:pt x="39527" y="55491"/>
                  <a:pt x="46116" y="57667"/>
                </a:cubicBezTo>
                <a:cubicBezTo>
                  <a:pt x="55998" y="60931"/>
                  <a:pt x="66977" y="64196"/>
                  <a:pt x="76859" y="67460"/>
                </a:cubicBezTo>
                <a:cubicBezTo>
                  <a:pt x="84545" y="69635"/>
                  <a:pt x="92231" y="72899"/>
                  <a:pt x="98819" y="76164"/>
                </a:cubicBezTo>
                <a:cubicBezTo>
                  <a:pt x="124073" y="90308"/>
                  <a:pt x="122975" y="120774"/>
                  <a:pt x="106505" y="136007"/>
                </a:cubicBezTo>
                <a:cubicBezTo>
                  <a:pt x="93330" y="149064"/>
                  <a:pt x="77958" y="152328"/>
                  <a:pt x="61487" y="152328"/>
                </a:cubicBezTo>
                <a:cubicBezTo>
                  <a:pt x="48312" y="151240"/>
                  <a:pt x="37332" y="146888"/>
                  <a:pt x="27450" y="139271"/>
                </a:cubicBezTo>
                <a:cubicBezTo>
                  <a:pt x="26351" y="138184"/>
                  <a:pt x="25254" y="137095"/>
                  <a:pt x="23058" y="136007"/>
                </a:cubicBezTo>
                <a:cubicBezTo>
                  <a:pt x="20862" y="140359"/>
                  <a:pt x="19764" y="144711"/>
                  <a:pt x="17568" y="149064"/>
                </a:cubicBezTo>
                <a:cubicBezTo>
                  <a:pt x="15372" y="149064"/>
                  <a:pt x="13176" y="149064"/>
                  <a:pt x="10980" y="149064"/>
                </a:cubicBezTo>
                <a:cubicBezTo>
                  <a:pt x="7686" y="131655"/>
                  <a:pt x="4392" y="114245"/>
                  <a:pt x="1099" y="96838"/>
                </a:cubicBezTo>
                <a:cubicBezTo>
                  <a:pt x="4392" y="95749"/>
                  <a:pt x="7686" y="95749"/>
                  <a:pt x="10980" y="94661"/>
                </a:cubicBezTo>
                <a:cubicBezTo>
                  <a:pt x="12078" y="97925"/>
                  <a:pt x="13176" y="101190"/>
                  <a:pt x="14274" y="103365"/>
                </a:cubicBezTo>
                <a:cubicBezTo>
                  <a:pt x="19764" y="115334"/>
                  <a:pt x="28548" y="126215"/>
                  <a:pt x="39527" y="132743"/>
                </a:cubicBezTo>
                <a:cubicBezTo>
                  <a:pt x="50508" y="140359"/>
                  <a:pt x="62586" y="142536"/>
                  <a:pt x="75762" y="139271"/>
                </a:cubicBezTo>
                <a:cubicBezTo>
                  <a:pt x="82349" y="138184"/>
                  <a:pt x="87840" y="133831"/>
                  <a:pt x="93330" y="129479"/>
                </a:cubicBezTo>
                <a:cubicBezTo>
                  <a:pt x="103212" y="119686"/>
                  <a:pt x="103212" y="101190"/>
                  <a:pt x="88937" y="93572"/>
                </a:cubicBezTo>
                <a:cubicBezTo>
                  <a:pt x="82349" y="90308"/>
                  <a:pt x="75762" y="88133"/>
                  <a:pt x="69173" y="85956"/>
                </a:cubicBezTo>
                <a:cubicBezTo>
                  <a:pt x="60390" y="82692"/>
                  <a:pt x="50508" y="80517"/>
                  <a:pt x="41723" y="77252"/>
                </a:cubicBezTo>
                <a:cubicBezTo>
                  <a:pt x="34037" y="75076"/>
                  <a:pt x="27450" y="71812"/>
                  <a:pt x="20862" y="67460"/>
                </a:cubicBezTo>
                <a:cubicBezTo>
                  <a:pt x="1099" y="55491"/>
                  <a:pt x="0" y="29378"/>
                  <a:pt x="16469" y="14145"/>
                </a:cubicBezTo>
                <a:cubicBezTo>
                  <a:pt x="27450" y="3264"/>
                  <a:pt x="40626" y="0"/>
                  <a:pt x="55998" y="0"/>
                </a:cubicBezTo>
                <a:cubicBezTo>
                  <a:pt x="68076" y="0"/>
                  <a:pt x="79055" y="3264"/>
                  <a:pt x="88937" y="10880"/>
                </a:cubicBezTo>
                <a:cubicBezTo>
                  <a:pt x="88937" y="10880"/>
                  <a:pt x="88937" y="11968"/>
                  <a:pt x="90035" y="11968"/>
                </a:cubicBezTo>
                <a:cubicBezTo>
                  <a:pt x="90035" y="11968"/>
                  <a:pt x="90035" y="11968"/>
                  <a:pt x="91133" y="11968"/>
                </a:cubicBezTo>
                <a:cubicBezTo>
                  <a:pt x="92231" y="8705"/>
                  <a:pt x="93330" y="5441"/>
                  <a:pt x="95526" y="2176"/>
                </a:cubicBezTo>
                <a:cubicBezTo>
                  <a:pt x="97721" y="2176"/>
                  <a:pt x="99917" y="2176"/>
                  <a:pt x="102113" y="2176"/>
                </a:cubicBezTo>
                <a:cubicBezTo>
                  <a:pt x="105407" y="17409"/>
                  <a:pt x="109799" y="32642"/>
                  <a:pt x="113094" y="478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5588000" y="1574800"/>
            <a:ext cx="124073" cy="147415"/>
          </a:xfrm>
          <a:custGeom>
            <a:avLst/>
            <a:gdLst/>
            <a:ahLst/>
            <a:cxnLst/>
            <a:rect l="l" t="t" r="r" b="b"/>
            <a:pathLst>
              <a:path w="124073" h="147415">
                <a:moveTo>
                  <a:pt x="36233" y="85173"/>
                </a:moveTo>
                <a:cubicBezTo>
                  <a:pt x="36233" y="87357"/>
                  <a:pt x="36233" y="88449"/>
                  <a:pt x="36233" y="89541"/>
                </a:cubicBezTo>
                <a:cubicBezTo>
                  <a:pt x="36233" y="101553"/>
                  <a:pt x="36233" y="112472"/>
                  <a:pt x="36233" y="124484"/>
                </a:cubicBezTo>
                <a:cubicBezTo>
                  <a:pt x="36233" y="125576"/>
                  <a:pt x="36233" y="127759"/>
                  <a:pt x="36233" y="128852"/>
                </a:cubicBezTo>
                <a:cubicBezTo>
                  <a:pt x="37332" y="136496"/>
                  <a:pt x="38430" y="138679"/>
                  <a:pt x="47214" y="139771"/>
                </a:cubicBezTo>
                <a:cubicBezTo>
                  <a:pt x="49409" y="139771"/>
                  <a:pt x="51605" y="139771"/>
                  <a:pt x="53801" y="139771"/>
                </a:cubicBezTo>
                <a:cubicBezTo>
                  <a:pt x="53801" y="141956"/>
                  <a:pt x="53801" y="145231"/>
                  <a:pt x="53801" y="147415"/>
                </a:cubicBezTo>
                <a:cubicBezTo>
                  <a:pt x="36233" y="147415"/>
                  <a:pt x="17568" y="147415"/>
                  <a:pt x="0" y="147415"/>
                </a:cubicBezTo>
                <a:cubicBezTo>
                  <a:pt x="0" y="145231"/>
                  <a:pt x="0" y="143048"/>
                  <a:pt x="0" y="139771"/>
                </a:cubicBezTo>
                <a:cubicBezTo>
                  <a:pt x="2196" y="139771"/>
                  <a:pt x="5490" y="139771"/>
                  <a:pt x="8783" y="138679"/>
                </a:cubicBezTo>
                <a:cubicBezTo>
                  <a:pt x="14274" y="137587"/>
                  <a:pt x="15372" y="136496"/>
                  <a:pt x="16469" y="131036"/>
                </a:cubicBezTo>
                <a:cubicBezTo>
                  <a:pt x="16469" y="128852"/>
                  <a:pt x="16469" y="126667"/>
                  <a:pt x="16469" y="124484"/>
                </a:cubicBezTo>
                <a:cubicBezTo>
                  <a:pt x="17568" y="90634"/>
                  <a:pt x="17568" y="56782"/>
                  <a:pt x="16469" y="22931"/>
                </a:cubicBezTo>
                <a:cubicBezTo>
                  <a:pt x="16469" y="20747"/>
                  <a:pt x="16469" y="17471"/>
                  <a:pt x="16469" y="15287"/>
                </a:cubicBezTo>
                <a:cubicBezTo>
                  <a:pt x="15372" y="12012"/>
                  <a:pt x="13176" y="9827"/>
                  <a:pt x="9882" y="9827"/>
                </a:cubicBezTo>
                <a:cubicBezTo>
                  <a:pt x="6587" y="8736"/>
                  <a:pt x="3294" y="8736"/>
                  <a:pt x="0" y="8736"/>
                </a:cubicBezTo>
                <a:cubicBezTo>
                  <a:pt x="0" y="5460"/>
                  <a:pt x="0" y="3275"/>
                  <a:pt x="0" y="1092"/>
                </a:cubicBezTo>
                <a:cubicBezTo>
                  <a:pt x="1099" y="0"/>
                  <a:pt x="3294" y="0"/>
                  <a:pt x="4392" y="0"/>
                </a:cubicBezTo>
                <a:cubicBezTo>
                  <a:pt x="23058" y="0"/>
                  <a:pt x="42822" y="0"/>
                  <a:pt x="61487" y="0"/>
                </a:cubicBezTo>
                <a:cubicBezTo>
                  <a:pt x="68076" y="0"/>
                  <a:pt x="74663" y="1092"/>
                  <a:pt x="80154" y="1092"/>
                </a:cubicBezTo>
                <a:cubicBezTo>
                  <a:pt x="107603" y="4368"/>
                  <a:pt x="124073" y="28391"/>
                  <a:pt x="116387" y="54599"/>
                </a:cubicBezTo>
                <a:cubicBezTo>
                  <a:pt x="111995" y="69886"/>
                  <a:pt x="102113" y="79713"/>
                  <a:pt x="85644" y="82989"/>
                </a:cubicBezTo>
                <a:cubicBezTo>
                  <a:pt x="76859" y="84082"/>
                  <a:pt x="69173" y="84082"/>
                  <a:pt x="60390" y="85173"/>
                </a:cubicBezTo>
                <a:cubicBezTo>
                  <a:pt x="52704" y="85173"/>
                  <a:pt x="45018" y="85173"/>
                  <a:pt x="36233" y="85173"/>
                </a:cubicBezTo>
                <a:close/>
                <a:moveTo>
                  <a:pt x="36233" y="74253"/>
                </a:moveTo>
                <a:cubicBezTo>
                  <a:pt x="49409" y="73161"/>
                  <a:pt x="61487" y="74253"/>
                  <a:pt x="73566" y="73161"/>
                </a:cubicBezTo>
                <a:cubicBezTo>
                  <a:pt x="83448" y="72070"/>
                  <a:pt x="90035" y="65518"/>
                  <a:pt x="93330" y="56782"/>
                </a:cubicBezTo>
                <a:cubicBezTo>
                  <a:pt x="97721" y="49139"/>
                  <a:pt x="97721" y="40403"/>
                  <a:pt x="95526" y="31667"/>
                </a:cubicBezTo>
                <a:cubicBezTo>
                  <a:pt x="92231" y="20747"/>
                  <a:pt x="85644" y="13104"/>
                  <a:pt x="72467" y="12012"/>
                </a:cubicBezTo>
                <a:cubicBezTo>
                  <a:pt x="61487" y="12012"/>
                  <a:pt x="49409" y="12012"/>
                  <a:pt x="37332" y="12012"/>
                </a:cubicBezTo>
                <a:cubicBezTo>
                  <a:pt x="37332" y="12012"/>
                  <a:pt x="37332" y="12012"/>
                  <a:pt x="36233" y="12012"/>
                </a:cubicBezTo>
                <a:cubicBezTo>
                  <a:pt x="36233" y="32758"/>
                  <a:pt x="36233" y="52414"/>
                  <a:pt x="36233" y="7425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6438900" y="1574800"/>
            <a:ext cx="146186" cy="151100"/>
          </a:xfrm>
          <a:custGeom>
            <a:avLst/>
            <a:gdLst/>
            <a:ahLst/>
            <a:cxnLst/>
            <a:rect l="l" t="t" r="r" b="b"/>
            <a:pathLst>
              <a:path w="146186" h="151100">
                <a:moveTo>
                  <a:pt x="53858" y="0"/>
                </a:moveTo>
                <a:cubicBezTo>
                  <a:pt x="53858" y="2189"/>
                  <a:pt x="53858" y="4380"/>
                  <a:pt x="53858" y="7664"/>
                </a:cubicBezTo>
                <a:cubicBezTo>
                  <a:pt x="50560" y="7664"/>
                  <a:pt x="48363" y="7664"/>
                  <a:pt x="45065" y="8759"/>
                </a:cubicBezTo>
                <a:cubicBezTo>
                  <a:pt x="39569" y="8759"/>
                  <a:pt x="37371" y="10949"/>
                  <a:pt x="37371" y="16424"/>
                </a:cubicBezTo>
                <a:cubicBezTo>
                  <a:pt x="36271" y="18614"/>
                  <a:pt x="36271" y="21899"/>
                  <a:pt x="36271" y="25183"/>
                </a:cubicBezTo>
                <a:cubicBezTo>
                  <a:pt x="36271" y="47081"/>
                  <a:pt x="36271" y="68980"/>
                  <a:pt x="36271" y="90879"/>
                </a:cubicBezTo>
                <a:cubicBezTo>
                  <a:pt x="36271" y="95259"/>
                  <a:pt x="36271" y="100734"/>
                  <a:pt x="37371" y="105113"/>
                </a:cubicBezTo>
                <a:cubicBezTo>
                  <a:pt x="39569" y="122632"/>
                  <a:pt x="50560" y="131392"/>
                  <a:pt x="65949" y="135771"/>
                </a:cubicBezTo>
                <a:cubicBezTo>
                  <a:pt x="83534" y="140151"/>
                  <a:pt x="97824" y="134676"/>
                  <a:pt x="109915" y="120442"/>
                </a:cubicBezTo>
                <a:cubicBezTo>
                  <a:pt x="114311" y="116063"/>
                  <a:pt x="115410" y="109493"/>
                  <a:pt x="116509" y="102923"/>
                </a:cubicBezTo>
                <a:cubicBezTo>
                  <a:pt x="116509" y="98543"/>
                  <a:pt x="116509" y="93069"/>
                  <a:pt x="117608" y="87594"/>
                </a:cubicBezTo>
                <a:cubicBezTo>
                  <a:pt x="117608" y="67885"/>
                  <a:pt x="117608" y="47081"/>
                  <a:pt x="117608" y="26279"/>
                </a:cubicBezTo>
                <a:cubicBezTo>
                  <a:pt x="117608" y="22993"/>
                  <a:pt x="116509" y="19709"/>
                  <a:pt x="116509" y="16424"/>
                </a:cubicBezTo>
                <a:cubicBezTo>
                  <a:pt x="115410" y="10949"/>
                  <a:pt x="113212" y="8759"/>
                  <a:pt x="106616" y="8759"/>
                </a:cubicBezTo>
                <a:cubicBezTo>
                  <a:pt x="104418" y="7664"/>
                  <a:pt x="102220" y="7664"/>
                  <a:pt x="100021" y="7664"/>
                </a:cubicBezTo>
                <a:cubicBezTo>
                  <a:pt x="100021" y="4380"/>
                  <a:pt x="100021" y="2189"/>
                  <a:pt x="100021" y="0"/>
                </a:cubicBezTo>
                <a:cubicBezTo>
                  <a:pt x="115410" y="0"/>
                  <a:pt x="130799" y="0"/>
                  <a:pt x="146186" y="0"/>
                </a:cubicBezTo>
                <a:cubicBezTo>
                  <a:pt x="146186" y="2189"/>
                  <a:pt x="146186" y="4380"/>
                  <a:pt x="146186" y="7664"/>
                </a:cubicBezTo>
                <a:cubicBezTo>
                  <a:pt x="143988" y="7664"/>
                  <a:pt x="140691" y="7664"/>
                  <a:pt x="138492" y="8759"/>
                </a:cubicBezTo>
                <a:cubicBezTo>
                  <a:pt x="132996" y="8759"/>
                  <a:pt x="130799" y="12045"/>
                  <a:pt x="129699" y="16424"/>
                </a:cubicBezTo>
                <a:cubicBezTo>
                  <a:pt x="129699" y="19709"/>
                  <a:pt x="129699" y="24088"/>
                  <a:pt x="129699" y="27374"/>
                </a:cubicBezTo>
                <a:cubicBezTo>
                  <a:pt x="128600" y="50367"/>
                  <a:pt x="129699" y="73360"/>
                  <a:pt x="128600" y="96354"/>
                </a:cubicBezTo>
                <a:cubicBezTo>
                  <a:pt x="128600" y="102923"/>
                  <a:pt x="127500" y="108398"/>
                  <a:pt x="125302" y="114968"/>
                </a:cubicBezTo>
                <a:cubicBezTo>
                  <a:pt x="118707" y="135771"/>
                  <a:pt x="103320" y="146721"/>
                  <a:pt x="81337" y="148910"/>
                </a:cubicBezTo>
                <a:cubicBezTo>
                  <a:pt x="65949" y="151100"/>
                  <a:pt x="51660" y="147815"/>
                  <a:pt x="38470" y="139056"/>
                </a:cubicBezTo>
                <a:cubicBezTo>
                  <a:pt x="26379" y="131392"/>
                  <a:pt x="19784" y="119347"/>
                  <a:pt x="18686" y="105113"/>
                </a:cubicBezTo>
                <a:cubicBezTo>
                  <a:pt x="17586" y="100734"/>
                  <a:pt x="17586" y="95259"/>
                  <a:pt x="17586" y="90879"/>
                </a:cubicBezTo>
                <a:cubicBezTo>
                  <a:pt x="17586" y="70075"/>
                  <a:pt x="17586" y="49272"/>
                  <a:pt x="17586" y="27374"/>
                </a:cubicBezTo>
                <a:cubicBezTo>
                  <a:pt x="17586" y="24088"/>
                  <a:pt x="17586" y="19709"/>
                  <a:pt x="17586" y="16424"/>
                </a:cubicBezTo>
                <a:cubicBezTo>
                  <a:pt x="16487" y="10949"/>
                  <a:pt x="14289" y="8759"/>
                  <a:pt x="8793" y="8759"/>
                </a:cubicBezTo>
                <a:cubicBezTo>
                  <a:pt x="5495" y="7664"/>
                  <a:pt x="3297" y="7664"/>
                  <a:pt x="0" y="7664"/>
                </a:cubicBezTo>
                <a:cubicBezTo>
                  <a:pt x="0" y="4380"/>
                  <a:pt x="0" y="2189"/>
                  <a:pt x="0" y="0"/>
                </a:cubicBezTo>
                <a:cubicBezTo>
                  <a:pt x="17586" y="0"/>
                  <a:pt x="35173" y="0"/>
                  <a:pt x="53858"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6819900" y="1574800"/>
            <a:ext cx="144957" cy="149871"/>
          </a:xfrm>
          <a:custGeom>
            <a:avLst/>
            <a:gdLst/>
            <a:ahLst/>
            <a:cxnLst/>
            <a:rect l="l" t="t" r="r" b="b"/>
            <a:pathLst>
              <a:path w="144957" h="149871">
                <a:moveTo>
                  <a:pt x="79563" y="149871"/>
                </a:moveTo>
                <a:cubicBezTo>
                  <a:pt x="75203" y="149871"/>
                  <a:pt x="71934" y="149871"/>
                  <a:pt x="69753" y="149871"/>
                </a:cubicBezTo>
                <a:cubicBezTo>
                  <a:pt x="66484" y="149871"/>
                  <a:pt x="64304" y="148777"/>
                  <a:pt x="63214" y="145495"/>
                </a:cubicBezTo>
                <a:cubicBezTo>
                  <a:pt x="56675" y="125804"/>
                  <a:pt x="49046" y="107207"/>
                  <a:pt x="42506" y="87516"/>
                </a:cubicBezTo>
                <a:cubicBezTo>
                  <a:pt x="33787" y="66731"/>
                  <a:pt x="26158" y="45946"/>
                  <a:pt x="18528" y="25161"/>
                </a:cubicBezTo>
                <a:cubicBezTo>
                  <a:pt x="17438" y="21880"/>
                  <a:pt x="16349" y="18597"/>
                  <a:pt x="14168" y="15315"/>
                </a:cubicBezTo>
                <a:cubicBezTo>
                  <a:pt x="11989" y="10940"/>
                  <a:pt x="8720" y="8752"/>
                  <a:pt x="4360" y="7658"/>
                </a:cubicBezTo>
                <a:cubicBezTo>
                  <a:pt x="3270" y="7658"/>
                  <a:pt x="2179" y="7658"/>
                  <a:pt x="0" y="7658"/>
                </a:cubicBezTo>
                <a:cubicBezTo>
                  <a:pt x="0" y="4376"/>
                  <a:pt x="0" y="2188"/>
                  <a:pt x="0" y="0"/>
                </a:cubicBezTo>
                <a:cubicBezTo>
                  <a:pt x="17438" y="0"/>
                  <a:pt x="33787" y="0"/>
                  <a:pt x="51225" y="0"/>
                </a:cubicBezTo>
                <a:cubicBezTo>
                  <a:pt x="51225" y="2188"/>
                  <a:pt x="51225" y="4376"/>
                  <a:pt x="51225" y="7658"/>
                </a:cubicBezTo>
                <a:cubicBezTo>
                  <a:pt x="47955" y="7658"/>
                  <a:pt x="45776" y="7658"/>
                  <a:pt x="42506" y="8752"/>
                </a:cubicBezTo>
                <a:cubicBezTo>
                  <a:pt x="37056" y="8752"/>
                  <a:pt x="35966" y="10940"/>
                  <a:pt x="37056" y="16410"/>
                </a:cubicBezTo>
                <a:cubicBezTo>
                  <a:pt x="37056" y="18597"/>
                  <a:pt x="38147" y="20785"/>
                  <a:pt x="38147" y="21880"/>
                </a:cubicBezTo>
                <a:cubicBezTo>
                  <a:pt x="50136" y="55791"/>
                  <a:pt x="62125" y="88610"/>
                  <a:pt x="74113" y="122522"/>
                </a:cubicBezTo>
                <a:cubicBezTo>
                  <a:pt x="75203" y="123617"/>
                  <a:pt x="75203" y="124710"/>
                  <a:pt x="76293" y="126898"/>
                </a:cubicBezTo>
                <a:cubicBezTo>
                  <a:pt x="77384" y="124710"/>
                  <a:pt x="77384" y="123617"/>
                  <a:pt x="78473" y="123617"/>
                </a:cubicBezTo>
                <a:cubicBezTo>
                  <a:pt x="90462" y="88610"/>
                  <a:pt x="102451" y="54698"/>
                  <a:pt x="115529" y="19691"/>
                </a:cubicBezTo>
                <a:cubicBezTo>
                  <a:pt x="115529" y="18597"/>
                  <a:pt x="115529" y="18597"/>
                  <a:pt x="115529" y="17503"/>
                </a:cubicBezTo>
                <a:cubicBezTo>
                  <a:pt x="116619" y="10940"/>
                  <a:pt x="115529" y="8752"/>
                  <a:pt x="110080" y="7658"/>
                </a:cubicBezTo>
                <a:cubicBezTo>
                  <a:pt x="106811" y="7658"/>
                  <a:pt x="104630" y="7658"/>
                  <a:pt x="102451" y="7658"/>
                </a:cubicBezTo>
                <a:cubicBezTo>
                  <a:pt x="102451" y="4376"/>
                  <a:pt x="102451" y="2188"/>
                  <a:pt x="102451" y="0"/>
                </a:cubicBezTo>
                <a:cubicBezTo>
                  <a:pt x="115529" y="0"/>
                  <a:pt x="129699" y="0"/>
                  <a:pt x="144957" y="0"/>
                </a:cubicBezTo>
                <a:cubicBezTo>
                  <a:pt x="144957" y="2188"/>
                  <a:pt x="144957" y="4376"/>
                  <a:pt x="144957" y="7658"/>
                </a:cubicBezTo>
                <a:cubicBezTo>
                  <a:pt x="143867" y="7658"/>
                  <a:pt x="142777" y="7658"/>
                  <a:pt x="141688" y="7658"/>
                </a:cubicBezTo>
                <a:cubicBezTo>
                  <a:pt x="135148" y="8752"/>
                  <a:pt x="131878" y="12033"/>
                  <a:pt x="129699" y="17503"/>
                </a:cubicBezTo>
                <a:cubicBezTo>
                  <a:pt x="126429" y="26255"/>
                  <a:pt x="123160" y="33913"/>
                  <a:pt x="119889" y="41570"/>
                </a:cubicBezTo>
                <a:cubicBezTo>
                  <a:pt x="106811" y="76576"/>
                  <a:pt x="93731" y="110489"/>
                  <a:pt x="80653" y="145495"/>
                </a:cubicBezTo>
                <a:cubicBezTo>
                  <a:pt x="80653" y="146590"/>
                  <a:pt x="79563" y="147683"/>
                  <a:pt x="79563" y="1498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7594600" y="1574800"/>
            <a:ext cx="131444" cy="147415"/>
          </a:xfrm>
          <a:custGeom>
            <a:avLst/>
            <a:gdLst/>
            <a:ahLst/>
            <a:cxnLst/>
            <a:rect l="l" t="t" r="r" b="b"/>
            <a:pathLst>
              <a:path w="131444" h="147415">
                <a:moveTo>
                  <a:pt x="93106" y="138679"/>
                </a:moveTo>
                <a:cubicBezTo>
                  <a:pt x="93106" y="141956"/>
                  <a:pt x="93106" y="144139"/>
                  <a:pt x="93106" y="146323"/>
                </a:cubicBezTo>
                <a:cubicBezTo>
                  <a:pt x="88725" y="147415"/>
                  <a:pt x="48196" y="147415"/>
                  <a:pt x="38337" y="146323"/>
                </a:cubicBezTo>
                <a:cubicBezTo>
                  <a:pt x="38337" y="144139"/>
                  <a:pt x="38337" y="141956"/>
                  <a:pt x="38337" y="138679"/>
                </a:cubicBezTo>
                <a:cubicBezTo>
                  <a:pt x="41624" y="138679"/>
                  <a:pt x="44910" y="137587"/>
                  <a:pt x="48196" y="137587"/>
                </a:cubicBezTo>
                <a:cubicBezTo>
                  <a:pt x="52578" y="137587"/>
                  <a:pt x="54769" y="135404"/>
                  <a:pt x="54769" y="131036"/>
                </a:cubicBezTo>
                <a:cubicBezTo>
                  <a:pt x="55863" y="128852"/>
                  <a:pt x="55863" y="125576"/>
                  <a:pt x="55863" y="123392"/>
                </a:cubicBezTo>
                <a:cubicBezTo>
                  <a:pt x="55863" y="113565"/>
                  <a:pt x="55863" y="103736"/>
                  <a:pt x="55863" y="92817"/>
                </a:cubicBezTo>
                <a:cubicBezTo>
                  <a:pt x="55863" y="90634"/>
                  <a:pt x="55863" y="88449"/>
                  <a:pt x="54769" y="86265"/>
                </a:cubicBezTo>
                <a:cubicBezTo>
                  <a:pt x="42719" y="64426"/>
                  <a:pt x="30670" y="42587"/>
                  <a:pt x="18621" y="20747"/>
                </a:cubicBezTo>
                <a:cubicBezTo>
                  <a:pt x="17526" y="18564"/>
                  <a:pt x="16430" y="17471"/>
                  <a:pt x="16430" y="16379"/>
                </a:cubicBezTo>
                <a:cubicBezTo>
                  <a:pt x="13144" y="10919"/>
                  <a:pt x="9858" y="7644"/>
                  <a:pt x="3285" y="7644"/>
                </a:cubicBezTo>
                <a:cubicBezTo>
                  <a:pt x="2191" y="7644"/>
                  <a:pt x="1095" y="7644"/>
                  <a:pt x="0" y="7644"/>
                </a:cubicBezTo>
                <a:cubicBezTo>
                  <a:pt x="0" y="4368"/>
                  <a:pt x="0" y="2184"/>
                  <a:pt x="0" y="0"/>
                </a:cubicBezTo>
                <a:cubicBezTo>
                  <a:pt x="17526" y="0"/>
                  <a:pt x="33956" y="0"/>
                  <a:pt x="52578" y="0"/>
                </a:cubicBezTo>
                <a:cubicBezTo>
                  <a:pt x="52578" y="2184"/>
                  <a:pt x="52578" y="4368"/>
                  <a:pt x="52578" y="7644"/>
                </a:cubicBezTo>
                <a:cubicBezTo>
                  <a:pt x="49291" y="7644"/>
                  <a:pt x="46006" y="7644"/>
                  <a:pt x="43815" y="7644"/>
                </a:cubicBezTo>
                <a:cubicBezTo>
                  <a:pt x="38337" y="8736"/>
                  <a:pt x="37243" y="10919"/>
                  <a:pt x="39434" y="15287"/>
                </a:cubicBezTo>
                <a:cubicBezTo>
                  <a:pt x="39434" y="16379"/>
                  <a:pt x="40528" y="18564"/>
                  <a:pt x="40528" y="19656"/>
                </a:cubicBezTo>
                <a:cubicBezTo>
                  <a:pt x="49291" y="36035"/>
                  <a:pt x="58054" y="53506"/>
                  <a:pt x="66817" y="69886"/>
                </a:cubicBezTo>
                <a:cubicBezTo>
                  <a:pt x="66817" y="70978"/>
                  <a:pt x="67913" y="72070"/>
                  <a:pt x="69008" y="74253"/>
                </a:cubicBezTo>
                <a:cubicBezTo>
                  <a:pt x="70104" y="72070"/>
                  <a:pt x="71199" y="70978"/>
                  <a:pt x="72295" y="69886"/>
                </a:cubicBezTo>
                <a:cubicBezTo>
                  <a:pt x="81058" y="53506"/>
                  <a:pt x="89819" y="37127"/>
                  <a:pt x="99678" y="19656"/>
                </a:cubicBezTo>
                <a:cubicBezTo>
                  <a:pt x="100773" y="17471"/>
                  <a:pt x="101869" y="15287"/>
                  <a:pt x="101869" y="13104"/>
                </a:cubicBezTo>
                <a:cubicBezTo>
                  <a:pt x="102964" y="9827"/>
                  <a:pt x="101869" y="8736"/>
                  <a:pt x="98582" y="8736"/>
                </a:cubicBezTo>
                <a:cubicBezTo>
                  <a:pt x="95297" y="7644"/>
                  <a:pt x="93106" y="7644"/>
                  <a:pt x="88725" y="7644"/>
                </a:cubicBezTo>
                <a:cubicBezTo>
                  <a:pt x="88725" y="4368"/>
                  <a:pt x="88725" y="2184"/>
                  <a:pt x="88725" y="0"/>
                </a:cubicBezTo>
                <a:cubicBezTo>
                  <a:pt x="102964" y="0"/>
                  <a:pt x="117204" y="0"/>
                  <a:pt x="131444" y="0"/>
                </a:cubicBezTo>
                <a:cubicBezTo>
                  <a:pt x="131444" y="2184"/>
                  <a:pt x="131444" y="4368"/>
                  <a:pt x="131444" y="7644"/>
                </a:cubicBezTo>
                <a:cubicBezTo>
                  <a:pt x="130349" y="7644"/>
                  <a:pt x="128158" y="7644"/>
                  <a:pt x="125967" y="8736"/>
                </a:cubicBezTo>
                <a:cubicBezTo>
                  <a:pt x="122681" y="8736"/>
                  <a:pt x="119395" y="9827"/>
                  <a:pt x="118299" y="13104"/>
                </a:cubicBezTo>
                <a:cubicBezTo>
                  <a:pt x="116108" y="15287"/>
                  <a:pt x="113918" y="18564"/>
                  <a:pt x="112823" y="20747"/>
                </a:cubicBezTo>
                <a:cubicBezTo>
                  <a:pt x="100773" y="41495"/>
                  <a:pt x="88725" y="61150"/>
                  <a:pt x="77771" y="81897"/>
                </a:cubicBezTo>
                <a:cubicBezTo>
                  <a:pt x="75580" y="84082"/>
                  <a:pt x="74486" y="87357"/>
                  <a:pt x="75580" y="89541"/>
                </a:cubicBezTo>
                <a:cubicBezTo>
                  <a:pt x="75580" y="100461"/>
                  <a:pt x="75580" y="111380"/>
                  <a:pt x="75580" y="121208"/>
                </a:cubicBezTo>
                <a:cubicBezTo>
                  <a:pt x="75580" y="124484"/>
                  <a:pt x="75580" y="126667"/>
                  <a:pt x="75580" y="128852"/>
                </a:cubicBezTo>
                <a:cubicBezTo>
                  <a:pt x="76676" y="135404"/>
                  <a:pt x="77771" y="136496"/>
                  <a:pt x="84343" y="137587"/>
                </a:cubicBezTo>
                <a:cubicBezTo>
                  <a:pt x="87629" y="137587"/>
                  <a:pt x="89819" y="138679"/>
                  <a:pt x="93106" y="13867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7467600" y="1574800"/>
            <a:ext cx="126531" cy="151100"/>
          </a:xfrm>
          <a:custGeom>
            <a:avLst/>
            <a:gdLst/>
            <a:ahLst/>
            <a:cxnLst/>
            <a:rect l="l" t="t" r="r" b="b"/>
            <a:pathLst>
              <a:path w="126531" h="151100">
                <a:moveTo>
                  <a:pt x="117805" y="45656"/>
                </a:moveTo>
                <a:cubicBezTo>
                  <a:pt x="115623" y="40221"/>
                  <a:pt x="113441" y="35872"/>
                  <a:pt x="111260" y="31524"/>
                </a:cubicBezTo>
                <a:cubicBezTo>
                  <a:pt x="104715" y="18480"/>
                  <a:pt x="92716" y="14131"/>
                  <a:pt x="78537" y="15218"/>
                </a:cubicBezTo>
                <a:cubicBezTo>
                  <a:pt x="74173" y="15218"/>
                  <a:pt x="73082" y="16306"/>
                  <a:pt x="73082" y="19567"/>
                </a:cubicBezTo>
                <a:cubicBezTo>
                  <a:pt x="71991" y="21741"/>
                  <a:pt x="71991" y="23915"/>
                  <a:pt x="71991" y="26090"/>
                </a:cubicBezTo>
                <a:cubicBezTo>
                  <a:pt x="71991" y="58701"/>
                  <a:pt x="71991" y="92399"/>
                  <a:pt x="71991" y="125011"/>
                </a:cubicBezTo>
                <a:cubicBezTo>
                  <a:pt x="71991" y="128273"/>
                  <a:pt x="73082" y="130446"/>
                  <a:pt x="73082" y="133707"/>
                </a:cubicBezTo>
                <a:cubicBezTo>
                  <a:pt x="74173" y="139142"/>
                  <a:pt x="76355" y="141317"/>
                  <a:pt x="81808" y="142404"/>
                </a:cubicBezTo>
                <a:cubicBezTo>
                  <a:pt x="85081" y="142404"/>
                  <a:pt x="87263" y="143491"/>
                  <a:pt x="90534" y="143491"/>
                </a:cubicBezTo>
                <a:cubicBezTo>
                  <a:pt x="90534" y="145665"/>
                  <a:pt x="90534" y="148925"/>
                  <a:pt x="90534" y="151100"/>
                </a:cubicBezTo>
                <a:cubicBezTo>
                  <a:pt x="71991" y="151100"/>
                  <a:pt x="54539" y="151100"/>
                  <a:pt x="35996" y="151100"/>
                </a:cubicBezTo>
                <a:cubicBezTo>
                  <a:pt x="35996" y="148925"/>
                  <a:pt x="35996" y="146752"/>
                  <a:pt x="35996" y="143491"/>
                </a:cubicBezTo>
                <a:cubicBezTo>
                  <a:pt x="39268" y="143491"/>
                  <a:pt x="42541" y="142404"/>
                  <a:pt x="44722" y="142404"/>
                </a:cubicBezTo>
                <a:cubicBezTo>
                  <a:pt x="51267" y="141317"/>
                  <a:pt x="53448" y="139142"/>
                  <a:pt x="53448" y="133707"/>
                </a:cubicBezTo>
                <a:cubicBezTo>
                  <a:pt x="53448" y="131533"/>
                  <a:pt x="53448" y="130446"/>
                  <a:pt x="53448" y="128273"/>
                </a:cubicBezTo>
                <a:cubicBezTo>
                  <a:pt x="53448" y="93486"/>
                  <a:pt x="53448" y="58701"/>
                  <a:pt x="53448" y="23915"/>
                </a:cubicBezTo>
                <a:cubicBezTo>
                  <a:pt x="53448" y="15218"/>
                  <a:pt x="53448" y="14131"/>
                  <a:pt x="44722" y="15218"/>
                </a:cubicBezTo>
                <a:cubicBezTo>
                  <a:pt x="41450" y="15218"/>
                  <a:pt x="38177" y="15218"/>
                  <a:pt x="34905" y="16306"/>
                </a:cubicBezTo>
                <a:cubicBezTo>
                  <a:pt x="28360" y="17393"/>
                  <a:pt x="22907" y="19567"/>
                  <a:pt x="19634" y="25002"/>
                </a:cubicBezTo>
                <a:cubicBezTo>
                  <a:pt x="16361" y="29351"/>
                  <a:pt x="14181" y="34785"/>
                  <a:pt x="11999" y="39134"/>
                </a:cubicBezTo>
                <a:cubicBezTo>
                  <a:pt x="10908" y="41308"/>
                  <a:pt x="9817" y="43482"/>
                  <a:pt x="8726" y="45656"/>
                </a:cubicBezTo>
                <a:cubicBezTo>
                  <a:pt x="5453" y="44569"/>
                  <a:pt x="3273" y="43482"/>
                  <a:pt x="0" y="42395"/>
                </a:cubicBezTo>
                <a:cubicBezTo>
                  <a:pt x="5453" y="28264"/>
                  <a:pt x="9817" y="14131"/>
                  <a:pt x="14181" y="0"/>
                </a:cubicBezTo>
                <a:cubicBezTo>
                  <a:pt x="16361" y="0"/>
                  <a:pt x="18543" y="0"/>
                  <a:pt x="20725" y="0"/>
                </a:cubicBezTo>
                <a:cubicBezTo>
                  <a:pt x="21816" y="1087"/>
                  <a:pt x="21816" y="3261"/>
                  <a:pt x="22907" y="4348"/>
                </a:cubicBezTo>
                <a:cubicBezTo>
                  <a:pt x="50176" y="4348"/>
                  <a:pt x="76355" y="4348"/>
                  <a:pt x="103624" y="4348"/>
                </a:cubicBezTo>
                <a:cubicBezTo>
                  <a:pt x="103624" y="3261"/>
                  <a:pt x="104715" y="1087"/>
                  <a:pt x="105806" y="0"/>
                </a:cubicBezTo>
                <a:cubicBezTo>
                  <a:pt x="106897" y="0"/>
                  <a:pt x="109079" y="0"/>
                  <a:pt x="112351" y="0"/>
                </a:cubicBezTo>
                <a:cubicBezTo>
                  <a:pt x="116714" y="14131"/>
                  <a:pt x="122168" y="28264"/>
                  <a:pt x="126531" y="42395"/>
                </a:cubicBezTo>
                <a:cubicBezTo>
                  <a:pt x="123259" y="43482"/>
                  <a:pt x="121077" y="44569"/>
                  <a:pt x="117805" y="45656"/>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6007100" y="1574800"/>
            <a:ext cx="54052" cy="146186"/>
          </a:xfrm>
          <a:custGeom>
            <a:avLst/>
            <a:gdLst/>
            <a:ahLst/>
            <a:cxnLst/>
            <a:rect l="l" t="t" r="r" b="b"/>
            <a:pathLst>
              <a:path w="54052" h="146186">
                <a:moveTo>
                  <a:pt x="0" y="146186"/>
                </a:moveTo>
                <a:cubicBezTo>
                  <a:pt x="0" y="144004"/>
                  <a:pt x="0" y="141822"/>
                  <a:pt x="0" y="138549"/>
                </a:cubicBezTo>
                <a:cubicBezTo>
                  <a:pt x="3244" y="138549"/>
                  <a:pt x="6486" y="138549"/>
                  <a:pt x="9729" y="137458"/>
                </a:cubicBezTo>
                <a:cubicBezTo>
                  <a:pt x="14054" y="136368"/>
                  <a:pt x="16215" y="135277"/>
                  <a:pt x="17296" y="129822"/>
                </a:cubicBezTo>
                <a:cubicBezTo>
                  <a:pt x="17296" y="127640"/>
                  <a:pt x="17296" y="125458"/>
                  <a:pt x="17296" y="123276"/>
                </a:cubicBezTo>
                <a:cubicBezTo>
                  <a:pt x="17296" y="89458"/>
                  <a:pt x="17296" y="56728"/>
                  <a:pt x="17296" y="22910"/>
                </a:cubicBezTo>
                <a:cubicBezTo>
                  <a:pt x="17296" y="19637"/>
                  <a:pt x="17296" y="17455"/>
                  <a:pt x="17296" y="14182"/>
                </a:cubicBezTo>
                <a:cubicBezTo>
                  <a:pt x="16215" y="10909"/>
                  <a:pt x="14054" y="8727"/>
                  <a:pt x="9729" y="8727"/>
                </a:cubicBezTo>
                <a:cubicBezTo>
                  <a:pt x="6486" y="7637"/>
                  <a:pt x="4324" y="7637"/>
                  <a:pt x="1081" y="7637"/>
                </a:cubicBezTo>
                <a:cubicBezTo>
                  <a:pt x="1081" y="4364"/>
                  <a:pt x="1081" y="2182"/>
                  <a:pt x="1081" y="0"/>
                </a:cubicBezTo>
                <a:cubicBezTo>
                  <a:pt x="18378" y="0"/>
                  <a:pt x="35674" y="0"/>
                  <a:pt x="52970" y="0"/>
                </a:cubicBezTo>
                <a:cubicBezTo>
                  <a:pt x="52970" y="2182"/>
                  <a:pt x="52970" y="4364"/>
                  <a:pt x="52970" y="7637"/>
                </a:cubicBezTo>
                <a:cubicBezTo>
                  <a:pt x="50809" y="7637"/>
                  <a:pt x="47565" y="7637"/>
                  <a:pt x="45404" y="8727"/>
                </a:cubicBezTo>
                <a:cubicBezTo>
                  <a:pt x="41079" y="8727"/>
                  <a:pt x="37836" y="10909"/>
                  <a:pt x="36755" y="16364"/>
                </a:cubicBezTo>
                <a:cubicBezTo>
                  <a:pt x="36755" y="18546"/>
                  <a:pt x="35674" y="21819"/>
                  <a:pt x="35674" y="25091"/>
                </a:cubicBezTo>
                <a:cubicBezTo>
                  <a:pt x="35674" y="57819"/>
                  <a:pt x="35674" y="90548"/>
                  <a:pt x="35674" y="123276"/>
                </a:cubicBezTo>
                <a:cubicBezTo>
                  <a:pt x="35674" y="135277"/>
                  <a:pt x="38918" y="137458"/>
                  <a:pt x="49728" y="138549"/>
                </a:cubicBezTo>
                <a:cubicBezTo>
                  <a:pt x="50809" y="138549"/>
                  <a:pt x="51890" y="138549"/>
                  <a:pt x="52970" y="138549"/>
                </a:cubicBezTo>
                <a:cubicBezTo>
                  <a:pt x="52970" y="139640"/>
                  <a:pt x="54052" y="140731"/>
                  <a:pt x="54052" y="142913"/>
                </a:cubicBezTo>
                <a:cubicBezTo>
                  <a:pt x="54052" y="144004"/>
                  <a:pt x="52970" y="145095"/>
                  <a:pt x="52970" y="146186"/>
                </a:cubicBezTo>
                <a:cubicBezTo>
                  <a:pt x="35674" y="146186"/>
                  <a:pt x="18378" y="146186"/>
                  <a:pt x="0" y="146186"/>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7404100" y="1574800"/>
            <a:ext cx="52824" cy="147415"/>
          </a:xfrm>
          <a:custGeom>
            <a:avLst/>
            <a:gdLst/>
            <a:ahLst/>
            <a:cxnLst/>
            <a:rect l="l" t="t" r="r" b="b"/>
            <a:pathLst>
              <a:path w="52824" h="147415">
                <a:moveTo>
                  <a:pt x="0" y="7644"/>
                </a:moveTo>
                <a:cubicBezTo>
                  <a:pt x="0" y="4368"/>
                  <a:pt x="0" y="2184"/>
                  <a:pt x="0" y="0"/>
                </a:cubicBezTo>
                <a:cubicBezTo>
                  <a:pt x="17249" y="0"/>
                  <a:pt x="34497" y="0"/>
                  <a:pt x="52824" y="0"/>
                </a:cubicBezTo>
                <a:cubicBezTo>
                  <a:pt x="52824" y="2184"/>
                  <a:pt x="52824" y="4368"/>
                  <a:pt x="52824" y="7644"/>
                </a:cubicBezTo>
                <a:cubicBezTo>
                  <a:pt x="49590" y="7644"/>
                  <a:pt x="47433" y="7644"/>
                  <a:pt x="45278" y="8736"/>
                </a:cubicBezTo>
                <a:cubicBezTo>
                  <a:pt x="39887" y="8736"/>
                  <a:pt x="37732" y="10919"/>
                  <a:pt x="36653" y="16379"/>
                </a:cubicBezTo>
                <a:cubicBezTo>
                  <a:pt x="35575" y="19656"/>
                  <a:pt x="35575" y="21839"/>
                  <a:pt x="35575" y="25116"/>
                </a:cubicBezTo>
                <a:cubicBezTo>
                  <a:pt x="35575" y="57874"/>
                  <a:pt x="35575" y="90634"/>
                  <a:pt x="35575" y="123392"/>
                </a:cubicBezTo>
                <a:cubicBezTo>
                  <a:pt x="35575" y="135404"/>
                  <a:pt x="37732" y="137587"/>
                  <a:pt x="49590" y="138679"/>
                </a:cubicBezTo>
                <a:cubicBezTo>
                  <a:pt x="50668" y="138679"/>
                  <a:pt x="51746" y="138679"/>
                  <a:pt x="52824" y="138679"/>
                </a:cubicBezTo>
                <a:cubicBezTo>
                  <a:pt x="52824" y="140863"/>
                  <a:pt x="52824" y="144139"/>
                  <a:pt x="52824" y="146323"/>
                </a:cubicBezTo>
                <a:cubicBezTo>
                  <a:pt x="48511" y="147415"/>
                  <a:pt x="9703" y="147415"/>
                  <a:pt x="0" y="146323"/>
                </a:cubicBezTo>
                <a:cubicBezTo>
                  <a:pt x="0" y="144139"/>
                  <a:pt x="0" y="141956"/>
                  <a:pt x="0" y="138679"/>
                </a:cubicBezTo>
                <a:cubicBezTo>
                  <a:pt x="3235" y="138679"/>
                  <a:pt x="5390" y="138679"/>
                  <a:pt x="7546" y="137587"/>
                </a:cubicBezTo>
                <a:cubicBezTo>
                  <a:pt x="14014" y="137587"/>
                  <a:pt x="16171" y="135404"/>
                  <a:pt x="17249" y="128852"/>
                </a:cubicBezTo>
                <a:cubicBezTo>
                  <a:pt x="17249" y="127759"/>
                  <a:pt x="17249" y="125576"/>
                  <a:pt x="17249" y="123392"/>
                </a:cubicBezTo>
                <a:cubicBezTo>
                  <a:pt x="17249" y="89541"/>
                  <a:pt x="17249" y="55690"/>
                  <a:pt x="17249" y="21839"/>
                </a:cubicBezTo>
                <a:cubicBezTo>
                  <a:pt x="17249" y="19656"/>
                  <a:pt x="16171" y="17471"/>
                  <a:pt x="16171" y="14196"/>
                </a:cubicBezTo>
                <a:cubicBezTo>
                  <a:pt x="15093" y="10919"/>
                  <a:pt x="12936" y="8736"/>
                  <a:pt x="9703" y="8736"/>
                </a:cubicBezTo>
                <a:cubicBezTo>
                  <a:pt x="6468" y="7644"/>
                  <a:pt x="3235" y="7644"/>
                  <a:pt x="0" y="764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6756400" y="1574800"/>
            <a:ext cx="52824" cy="146186"/>
          </a:xfrm>
          <a:custGeom>
            <a:avLst/>
            <a:gdLst/>
            <a:ahLst/>
            <a:cxnLst/>
            <a:rect l="l" t="t" r="r" b="b"/>
            <a:pathLst>
              <a:path w="52824" h="146186">
                <a:moveTo>
                  <a:pt x="0" y="7637"/>
                </a:moveTo>
                <a:cubicBezTo>
                  <a:pt x="0" y="4364"/>
                  <a:pt x="0" y="2182"/>
                  <a:pt x="0" y="0"/>
                </a:cubicBezTo>
                <a:cubicBezTo>
                  <a:pt x="17249" y="0"/>
                  <a:pt x="34497" y="0"/>
                  <a:pt x="52824" y="0"/>
                </a:cubicBezTo>
                <a:cubicBezTo>
                  <a:pt x="52824" y="2182"/>
                  <a:pt x="52824" y="4364"/>
                  <a:pt x="52824" y="7637"/>
                </a:cubicBezTo>
                <a:cubicBezTo>
                  <a:pt x="49590" y="7637"/>
                  <a:pt x="47433" y="7637"/>
                  <a:pt x="45278" y="8727"/>
                </a:cubicBezTo>
                <a:cubicBezTo>
                  <a:pt x="39887" y="8727"/>
                  <a:pt x="36653" y="10909"/>
                  <a:pt x="36653" y="16364"/>
                </a:cubicBezTo>
                <a:cubicBezTo>
                  <a:pt x="35575" y="19637"/>
                  <a:pt x="35575" y="22910"/>
                  <a:pt x="35575" y="25091"/>
                </a:cubicBezTo>
                <a:cubicBezTo>
                  <a:pt x="35575" y="57819"/>
                  <a:pt x="35575" y="90548"/>
                  <a:pt x="35575" y="122185"/>
                </a:cubicBezTo>
                <a:cubicBezTo>
                  <a:pt x="35575" y="125458"/>
                  <a:pt x="35575" y="128731"/>
                  <a:pt x="36653" y="130913"/>
                </a:cubicBezTo>
                <a:cubicBezTo>
                  <a:pt x="36653" y="135277"/>
                  <a:pt x="38810" y="137458"/>
                  <a:pt x="43122" y="137458"/>
                </a:cubicBezTo>
                <a:cubicBezTo>
                  <a:pt x="46356" y="137458"/>
                  <a:pt x="48511" y="138549"/>
                  <a:pt x="52824" y="138549"/>
                </a:cubicBezTo>
                <a:cubicBezTo>
                  <a:pt x="52824" y="140731"/>
                  <a:pt x="52824" y="144004"/>
                  <a:pt x="52824" y="146186"/>
                </a:cubicBezTo>
                <a:cubicBezTo>
                  <a:pt x="35575" y="146186"/>
                  <a:pt x="17249" y="146186"/>
                  <a:pt x="0" y="146186"/>
                </a:cubicBezTo>
                <a:cubicBezTo>
                  <a:pt x="0" y="144004"/>
                  <a:pt x="0" y="141822"/>
                  <a:pt x="0" y="138549"/>
                </a:cubicBezTo>
                <a:cubicBezTo>
                  <a:pt x="3235" y="138549"/>
                  <a:pt x="6468" y="138549"/>
                  <a:pt x="8625" y="137458"/>
                </a:cubicBezTo>
                <a:cubicBezTo>
                  <a:pt x="14014" y="136368"/>
                  <a:pt x="16171" y="134186"/>
                  <a:pt x="16171" y="129822"/>
                </a:cubicBezTo>
                <a:cubicBezTo>
                  <a:pt x="17249" y="126549"/>
                  <a:pt x="17249" y="123276"/>
                  <a:pt x="17249" y="120004"/>
                </a:cubicBezTo>
                <a:cubicBezTo>
                  <a:pt x="17249" y="88367"/>
                  <a:pt x="17249" y="57819"/>
                  <a:pt x="17249" y="27273"/>
                </a:cubicBezTo>
                <a:cubicBezTo>
                  <a:pt x="17249" y="22910"/>
                  <a:pt x="17249" y="19637"/>
                  <a:pt x="16171" y="16364"/>
                </a:cubicBezTo>
                <a:cubicBezTo>
                  <a:pt x="16171" y="10909"/>
                  <a:pt x="14014" y="8727"/>
                  <a:pt x="8625" y="8727"/>
                </a:cubicBezTo>
                <a:cubicBezTo>
                  <a:pt x="5390" y="7637"/>
                  <a:pt x="3235" y="7637"/>
                  <a:pt x="0" y="7637"/>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7366000" y="876300"/>
            <a:ext cx="355022" cy="396790"/>
          </a:xfrm>
          <a:custGeom>
            <a:avLst/>
            <a:gdLst/>
            <a:ahLst/>
            <a:cxnLst/>
            <a:rect l="l" t="t" r="r" b="b"/>
            <a:pathLst>
              <a:path w="355022" h="396790">
                <a:moveTo>
                  <a:pt x="355022" y="113682"/>
                </a:moveTo>
                <a:cubicBezTo>
                  <a:pt x="355022" y="113682"/>
                  <a:pt x="353930" y="114774"/>
                  <a:pt x="353930" y="115867"/>
                </a:cubicBezTo>
                <a:cubicBezTo>
                  <a:pt x="352838" y="118053"/>
                  <a:pt x="352838" y="121332"/>
                  <a:pt x="351744" y="124611"/>
                </a:cubicBezTo>
                <a:cubicBezTo>
                  <a:pt x="340821" y="150846"/>
                  <a:pt x="327712" y="174894"/>
                  <a:pt x="309142" y="195663"/>
                </a:cubicBezTo>
                <a:cubicBezTo>
                  <a:pt x="300403" y="205500"/>
                  <a:pt x="291664" y="215337"/>
                  <a:pt x="282926" y="224083"/>
                </a:cubicBezTo>
                <a:cubicBezTo>
                  <a:pt x="278555" y="228455"/>
                  <a:pt x="274187" y="230641"/>
                  <a:pt x="269817" y="233920"/>
                </a:cubicBezTo>
                <a:cubicBezTo>
                  <a:pt x="266540" y="237199"/>
                  <a:pt x="263262" y="239386"/>
                  <a:pt x="261078" y="243757"/>
                </a:cubicBezTo>
                <a:cubicBezTo>
                  <a:pt x="258893" y="247038"/>
                  <a:pt x="259986" y="248130"/>
                  <a:pt x="263262" y="249224"/>
                </a:cubicBezTo>
                <a:cubicBezTo>
                  <a:pt x="265448" y="249224"/>
                  <a:pt x="267632" y="249224"/>
                  <a:pt x="268724" y="249224"/>
                </a:cubicBezTo>
                <a:cubicBezTo>
                  <a:pt x="278555" y="250317"/>
                  <a:pt x="287294" y="251409"/>
                  <a:pt x="296033" y="251409"/>
                </a:cubicBezTo>
                <a:cubicBezTo>
                  <a:pt x="297127" y="251409"/>
                  <a:pt x="299311" y="252503"/>
                  <a:pt x="300403" y="252503"/>
                </a:cubicBezTo>
                <a:cubicBezTo>
                  <a:pt x="305866" y="254688"/>
                  <a:pt x="308050" y="256875"/>
                  <a:pt x="308050" y="262340"/>
                </a:cubicBezTo>
                <a:cubicBezTo>
                  <a:pt x="309142" y="269992"/>
                  <a:pt x="308050" y="276550"/>
                  <a:pt x="304773" y="283110"/>
                </a:cubicBezTo>
                <a:cubicBezTo>
                  <a:pt x="302588" y="289668"/>
                  <a:pt x="298219" y="296226"/>
                  <a:pt x="293849" y="302785"/>
                </a:cubicBezTo>
                <a:cubicBezTo>
                  <a:pt x="284018" y="315901"/>
                  <a:pt x="270909" y="325740"/>
                  <a:pt x="258893" y="335577"/>
                </a:cubicBezTo>
                <a:cubicBezTo>
                  <a:pt x="254523" y="339950"/>
                  <a:pt x="249061" y="343229"/>
                  <a:pt x="243600" y="345415"/>
                </a:cubicBezTo>
                <a:cubicBezTo>
                  <a:pt x="232675" y="350881"/>
                  <a:pt x="221752" y="357439"/>
                  <a:pt x="210829" y="362904"/>
                </a:cubicBezTo>
                <a:cubicBezTo>
                  <a:pt x="204274" y="365091"/>
                  <a:pt x="198812" y="368370"/>
                  <a:pt x="192258" y="371649"/>
                </a:cubicBezTo>
                <a:cubicBezTo>
                  <a:pt x="188981" y="372742"/>
                  <a:pt x="184611" y="372742"/>
                  <a:pt x="181334" y="373835"/>
                </a:cubicBezTo>
                <a:cubicBezTo>
                  <a:pt x="179150" y="373835"/>
                  <a:pt x="175872" y="372742"/>
                  <a:pt x="174780" y="370556"/>
                </a:cubicBezTo>
                <a:cubicBezTo>
                  <a:pt x="173688" y="368370"/>
                  <a:pt x="174780" y="366184"/>
                  <a:pt x="176964" y="363997"/>
                </a:cubicBezTo>
                <a:cubicBezTo>
                  <a:pt x="178058" y="362904"/>
                  <a:pt x="179150" y="360718"/>
                  <a:pt x="180242" y="359625"/>
                </a:cubicBezTo>
                <a:cubicBezTo>
                  <a:pt x="188981" y="353066"/>
                  <a:pt x="197720" y="345415"/>
                  <a:pt x="206459" y="338856"/>
                </a:cubicBezTo>
                <a:cubicBezTo>
                  <a:pt x="209737" y="335577"/>
                  <a:pt x="211921" y="333392"/>
                  <a:pt x="213013" y="330112"/>
                </a:cubicBezTo>
                <a:cubicBezTo>
                  <a:pt x="214105" y="327925"/>
                  <a:pt x="216290" y="324646"/>
                  <a:pt x="218476" y="322461"/>
                </a:cubicBezTo>
                <a:cubicBezTo>
                  <a:pt x="223937" y="318088"/>
                  <a:pt x="229399" y="313715"/>
                  <a:pt x="233769" y="308251"/>
                </a:cubicBezTo>
                <a:cubicBezTo>
                  <a:pt x="237046" y="306064"/>
                  <a:pt x="238138" y="303878"/>
                  <a:pt x="239230" y="300599"/>
                </a:cubicBezTo>
                <a:cubicBezTo>
                  <a:pt x="239230" y="296226"/>
                  <a:pt x="241416" y="292947"/>
                  <a:pt x="243600" y="289668"/>
                </a:cubicBezTo>
                <a:cubicBezTo>
                  <a:pt x="245784" y="287481"/>
                  <a:pt x="247969" y="285295"/>
                  <a:pt x="250154" y="283110"/>
                </a:cubicBezTo>
                <a:cubicBezTo>
                  <a:pt x="247969" y="279829"/>
                  <a:pt x="244692" y="279829"/>
                  <a:pt x="240322" y="280923"/>
                </a:cubicBezTo>
                <a:cubicBezTo>
                  <a:pt x="231583" y="284202"/>
                  <a:pt x="223937" y="288574"/>
                  <a:pt x="217382" y="295133"/>
                </a:cubicBezTo>
                <a:cubicBezTo>
                  <a:pt x="209737" y="301691"/>
                  <a:pt x="203182" y="308251"/>
                  <a:pt x="195536" y="315901"/>
                </a:cubicBezTo>
                <a:cubicBezTo>
                  <a:pt x="184611" y="326832"/>
                  <a:pt x="171503" y="335577"/>
                  <a:pt x="157302" y="343229"/>
                </a:cubicBezTo>
                <a:cubicBezTo>
                  <a:pt x="143101" y="349787"/>
                  <a:pt x="129992" y="358532"/>
                  <a:pt x="115792" y="366184"/>
                </a:cubicBezTo>
                <a:cubicBezTo>
                  <a:pt x="97221" y="376022"/>
                  <a:pt x="78651" y="384766"/>
                  <a:pt x="57895" y="390232"/>
                </a:cubicBezTo>
                <a:cubicBezTo>
                  <a:pt x="46972" y="394604"/>
                  <a:pt x="34955" y="396790"/>
                  <a:pt x="21848" y="396790"/>
                </a:cubicBezTo>
                <a:cubicBezTo>
                  <a:pt x="17478" y="395696"/>
                  <a:pt x="13109" y="394604"/>
                  <a:pt x="7647" y="394604"/>
                </a:cubicBezTo>
                <a:cubicBezTo>
                  <a:pt x="6554" y="394604"/>
                  <a:pt x="5462" y="393511"/>
                  <a:pt x="4370" y="393511"/>
                </a:cubicBezTo>
                <a:cubicBezTo>
                  <a:pt x="0" y="391325"/>
                  <a:pt x="0" y="388045"/>
                  <a:pt x="4370" y="384766"/>
                </a:cubicBezTo>
                <a:cubicBezTo>
                  <a:pt x="30587" y="368370"/>
                  <a:pt x="57895" y="350881"/>
                  <a:pt x="85206" y="334484"/>
                </a:cubicBezTo>
                <a:cubicBezTo>
                  <a:pt x="91760" y="330112"/>
                  <a:pt x="99407" y="325740"/>
                  <a:pt x="107053" y="324646"/>
                </a:cubicBezTo>
                <a:cubicBezTo>
                  <a:pt x="109238" y="323553"/>
                  <a:pt x="110330" y="322461"/>
                  <a:pt x="111422" y="322461"/>
                </a:cubicBezTo>
                <a:cubicBezTo>
                  <a:pt x="147471" y="300599"/>
                  <a:pt x="184611" y="280923"/>
                  <a:pt x="222844" y="263434"/>
                </a:cubicBezTo>
                <a:cubicBezTo>
                  <a:pt x="223937" y="262340"/>
                  <a:pt x="226122" y="261248"/>
                  <a:pt x="227214" y="260154"/>
                </a:cubicBezTo>
                <a:cubicBezTo>
                  <a:pt x="228307" y="259061"/>
                  <a:pt x="229399" y="256875"/>
                  <a:pt x="229399" y="255782"/>
                </a:cubicBezTo>
                <a:cubicBezTo>
                  <a:pt x="229399" y="254688"/>
                  <a:pt x="227214" y="253596"/>
                  <a:pt x="226122" y="253596"/>
                </a:cubicBezTo>
                <a:cubicBezTo>
                  <a:pt x="219568" y="252503"/>
                  <a:pt x="214105" y="254688"/>
                  <a:pt x="207551" y="256875"/>
                </a:cubicBezTo>
                <a:cubicBezTo>
                  <a:pt x="200997" y="260154"/>
                  <a:pt x="194443" y="262340"/>
                  <a:pt x="186797" y="265619"/>
                </a:cubicBezTo>
                <a:cubicBezTo>
                  <a:pt x="185703" y="265619"/>
                  <a:pt x="184611" y="266713"/>
                  <a:pt x="183519" y="266713"/>
                </a:cubicBezTo>
                <a:cubicBezTo>
                  <a:pt x="179150" y="266713"/>
                  <a:pt x="178058" y="266713"/>
                  <a:pt x="178058" y="261248"/>
                </a:cubicBezTo>
                <a:cubicBezTo>
                  <a:pt x="178058" y="257969"/>
                  <a:pt x="179150" y="254688"/>
                  <a:pt x="181334" y="252503"/>
                </a:cubicBezTo>
                <a:cubicBezTo>
                  <a:pt x="182427" y="250317"/>
                  <a:pt x="184611" y="249224"/>
                  <a:pt x="185703" y="247038"/>
                </a:cubicBezTo>
                <a:cubicBezTo>
                  <a:pt x="187889" y="242665"/>
                  <a:pt x="187889" y="238293"/>
                  <a:pt x="183519" y="235014"/>
                </a:cubicBezTo>
                <a:cubicBezTo>
                  <a:pt x="179150" y="231734"/>
                  <a:pt x="173688" y="228455"/>
                  <a:pt x="168225" y="225176"/>
                </a:cubicBezTo>
                <a:cubicBezTo>
                  <a:pt x="161671" y="221897"/>
                  <a:pt x="156210" y="224083"/>
                  <a:pt x="150748" y="229547"/>
                </a:cubicBezTo>
                <a:cubicBezTo>
                  <a:pt x="145285" y="235014"/>
                  <a:pt x="139824" y="239386"/>
                  <a:pt x="133270" y="244851"/>
                </a:cubicBezTo>
                <a:cubicBezTo>
                  <a:pt x="128900" y="249224"/>
                  <a:pt x="122345" y="252503"/>
                  <a:pt x="116884" y="256875"/>
                </a:cubicBezTo>
                <a:cubicBezTo>
                  <a:pt x="114700" y="257969"/>
                  <a:pt x="111422" y="260154"/>
                  <a:pt x="108146" y="257969"/>
                </a:cubicBezTo>
                <a:cubicBezTo>
                  <a:pt x="105960" y="255782"/>
                  <a:pt x="105960" y="252503"/>
                  <a:pt x="107053" y="250317"/>
                </a:cubicBezTo>
                <a:cubicBezTo>
                  <a:pt x="107053" y="247038"/>
                  <a:pt x="108146" y="244851"/>
                  <a:pt x="109238" y="242665"/>
                </a:cubicBezTo>
                <a:cubicBezTo>
                  <a:pt x="111422" y="239386"/>
                  <a:pt x="114700" y="237199"/>
                  <a:pt x="116884" y="233920"/>
                </a:cubicBezTo>
                <a:cubicBezTo>
                  <a:pt x="120161" y="230641"/>
                  <a:pt x="123439" y="227362"/>
                  <a:pt x="126716" y="222989"/>
                </a:cubicBezTo>
                <a:cubicBezTo>
                  <a:pt x="128900" y="220803"/>
                  <a:pt x="129992" y="216431"/>
                  <a:pt x="131086" y="213152"/>
                </a:cubicBezTo>
                <a:cubicBezTo>
                  <a:pt x="133270" y="208779"/>
                  <a:pt x="133270" y="204406"/>
                  <a:pt x="128900" y="200035"/>
                </a:cubicBezTo>
                <a:cubicBezTo>
                  <a:pt x="126716" y="198942"/>
                  <a:pt x="125623" y="197848"/>
                  <a:pt x="125623" y="195663"/>
                </a:cubicBezTo>
                <a:cubicBezTo>
                  <a:pt x="123439" y="193476"/>
                  <a:pt x="123439" y="191290"/>
                  <a:pt x="126716" y="190196"/>
                </a:cubicBezTo>
                <a:cubicBezTo>
                  <a:pt x="134362" y="189104"/>
                  <a:pt x="142009" y="186917"/>
                  <a:pt x="149656" y="185825"/>
                </a:cubicBezTo>
                <a:cubicBezTo>
                  <a:pt x="152932" y="185825"/>
                  <a:pt x="154024" y="184732"/>
                  <a:pt x="156210" y="182545"/>
                </a:cubicBezTo>
                <a:cubicBezTo>
                  <a:pt x="159487" y="178173"/>
                  <a:pt x="163857" y="173801"/>
                  <a:pt x="167133" y="169428"/>
                </a:cubicBezTo>
                <a:cubicBezTo>
                  <a:pt x="169318" y="166149"/>
                  <a:pt x="171503" y="162870"/>
                  <a:pt x="172596" y="158497"/>
                </a:cubicBezTo>
                <a:cubicBezTo>
                  <a:pt x="173688" y="154125"/>
                  <a:pt x="171503" y="153032"/>
                  <a:pt x="168225" y="154125"/>
                </a:cubicBezTo>
                <a:cubicBezTo>
                  <a:pt x="164949" y="154125"/>
                  <a:pt x="162764" y="155218"/>
                  <a:pt x="160579" y="157404"/>
                </a:cubicBezTo>
                <a:cubicBezTo>
                  <a:pt x="157302" y="159591"/>
                  <a:pt x="152932" y="159591"/>
                  <a:pt x="149656" y="158497"/>
                </a:cubicBezTo>
                <a:cubicBezTo>
                  <a:pt x="146379" y="158497"/>
                  <a:pt x="145285" y="157404"/>
                  <a:pt x="144193" y="154125"/>
                </a:cubicBezTo>
                <a:cubicBezTo>
                  <a:pt x="144193" y="151939"/>
                  <a:pt x="144193" y="149753"/>
                  <a:pt x="146379" y="147566"/>
                </a:cubicBezTo>
                <a:cubicBezTo>
                  <a:pt x="149656" y="145381"/>
                  <a:pt x="151840" y="143194"/>
                  <a:pt x="154024" y="141008"/>
                </a:cubicBezTo>
                <a:cubicBezTo>
                  <a:pt x="156210" y="137729"/>
                  <a:pt x="157302" y="134450"/>
                  <a:pt x="157302" y="130077"/>
                </a:cubicBezTo>
                <a:cubicBezTo>
                  <a:pt x="157302" y="126798"/>
                  <a:pt x="156210" y="125705"/>
                  <a:pt x="152932" y="125705"/>
                </a:cubicBezTo>
                <a:cubicBezTo>
                  <a:pt x="148563" y="125705"/>
                  <a:pt x="144193" y="125705"/>
                  <a:pt x="140917" y="124611"/>
                </a:cubicBezTo>
                <a:cubicBezTo>
                  <a:pt x="129992" y="122425"/>
                  <a:pt x="124531" y="115867"/>
                  <a:pt x="122345" y="104936"/>
                </a:cubicBezTo>
                <a:cubicBezTo>
                  <a:pt x="122345" y="99470"/>
                  <a:pt x="123439" y="98378"/>
                  <a:pt x="128900" y="99470"/>
                </a:cubicBezTo>
                <a:cubicBezTo>
                  <a:pt x="132178" y="99470"/>
                  <a:pt x="135454" y="99470"/>
                  <a:pt x="138732" y="100564"/>
                </a:cubicBezTo>
                <a:cubicBezTo>
                  <a:pt x="149656" y="101657"/>
                  <a:pt x="159487" y="100564"/>
                  <a:pt x="169318" y="94005"/>
                </a:cubicBezTo>
                <a:cubicBezTo>
                  <a:pt x="172596" y="90726"/>
                  <a:pt x="178058" y="89633"/>
                  <a:pt x="182427" y="88539"/>
                </a:cubicBezTo>
                <a:cubicBezTo>
                  <a:pt x="190073" y="86354"/>
                  <a:pt x="196628" y="83075"/>
                  <a:pt x="200997" y="76516"/>
                </a:cubicBezTo>
                <a:cubicBezTo>
                  <a:pt x="210829" y="65585"/>
                  <a:pt x="218476" y="53561"/>
                  <a:pt x="221752" y="39351"/>
                </a:cubicBezTo>
                <a:cubicBezTo>
                  <a:pt x="222844" y="32793"/>
                  <a:pt x="223937" y="25141"/>
                  <a:pt x="223937" y="18583"/>
                </a:cubicBezTo>
                <a:cubicBezTo>
                  <a:pt x="222844" y="16396"/>
                  <a:pt x="222844" y="14210"/>
                  <a:pt x="222844" y="10931"/>
                </a:cubicBezTo>
                <a:cubicBezTo>
                  <a:pt x="222844" y="7652"/>
                  <a:pt x="222844" y="4373"/>
                  <a:pt x="226122" y="2186"/>
                </a:cubicBezTo>
                <a:cubicBezTo>
                  <a:pt x="230491" y="0"/>
                  <a:pt x="232675" y="2186"/>
                  <a:pt x="235953" y="3279"/>
                </a:cubicBezTo>
                <a:cubicBezTo>
                  <a:pt x="251247" y="12024"/>
                  <a:pt x="257801" y="30607"/>
                  <a:pt x="251247" y="47003"/>
                </a:cubicBezTo>
                <a:cubicBezTo>
                  <a:pt x="250154" y="52468"/>
                  <a:pt x="246877" y="56840"/>
                  <a:pt x="244692" y="61213"/>
                </a:cubicBezTo>
                <a:cubicBezTo>
                  <a:pt x="239230" y="69958"/>
                  <a:pt x="233769" y="78702"/>
                  <a:pt x="228307" y="87447"/>
                </a:cubicBezTo>
                <a:cubicBezTo>
                  <a:pt x="226122" y="90726"/>
                  <a:pt x="225029" y="95099"/>
                  <a:pt x="223937" y="99470"/>
                </a:cubicBezTo>
                <a:cubicBezTo>
                  <a:pt x="222844" y="101657"/>
                  <a:pt x="221752" y="103843"/>
                  <a:pt x="221752" y="107122"/>
                </a:cubicBezTo>
                <a:cubicBezTo>
                  <a:pt x="221752" y="111495"/>
                  <a:pt x="223937" y="113682"/>
                  <a:pt x="227214" y="114774"/>
                </a:cubicBezTo>
                <a:cubicBezTo>
                  <a:pt x="232675" y="115867"/>
                  <a:pt x="237046" y="114774"/>
                  <a:pt x="241416" y="113682"/>
                </a:cubicBezTo>
                <a:cubicBezTo>
                  <a:pt x="257801" y="106030"/>
                  <a:pt x="274187" y="99470"/>
                  <a:pt x="291664" y="95099"/>
                </a:cubicBezTo>
                <a:cubicBezTo>
                  <a:pt x="299311" y="92912"/>
                  <a:pt x="305866" y="91820"/>
                  <a:pt x="313512" y="89633"/>
                </a:cubicBezTo>
                <a:cubicBezTo>
                  <a:pt x="316789" y="89633"/>
                  <a:pt x="321159" y="89633"/>
                  <a:pt x="324435" y="92912"/>
                </a:cubicBezTo>
                <a:cubicBezTo>
                  <a:pt x="326620" y="94005"/>
                  <a:pt x="328806" y="94005"/>
                  <a:pt x="332082" y="94005"/>
                </a:cubicBezTo>
                <a:cubicBezTo>
                  <a:pt x="333174" y="95099"/>
                  <a:pt x="335359" y="94005"/>
                  <a:pt x="337544" y="94005"/>
                </a:cubicBezTo>
                <a:cubicBezTo>
                  <a:pt x="346283" y="94005"/>
                  <a:pt x="352838" y="97285"/>
                  <a:pt x="355022" y="106030"/>
                </a:cubicBezTo>
                <a:cubicBezTo>
                  <a:pt x="355022" y="108215"/>
                  <a:pt x="355022" y="110401"/>
                  <a:pt x="355022" y="113682"/>
                </a:cubicBezTo>
                <a:close/>
                <a:moveTo>
                  <a:pt x="225029" y="133356"/>
                </a:moveTo>
                <a:cubicBezTo>
                  <a:pt x="221752" y="133356"/>
                  <a:pt x="218476" y="134450"/>
                  <a:pt x="216290" y="137729"/>
                </a:cubicBezTo>
                <a:cubicBezTo>
                  <a:pt x="206459" y="150846"/>
                  <a:pt x="195536" y="163963"/>
                  <a:pt x="184611" y="177080"/>
                </a:cubicBezTo>
                <a:cubicBezTo>
                  <a:pt x="181334" y="181453"/>
                  <a:pt x="179150" y="185825"/>
                  <a:pt x="179150" y="191290"/>
                </a:cubicBezTo>
                <a:cubicBezTo>
                  <a:pt x="176964" y="201127"/>
                  <a:pt x="180242" y="205500"/>
                  <a:pt x="188981" y="210966"/>
                </a:cubicBezTo>
                <a:cubicBezTo>
                  <a:pt x="192258" y="213152"/>
                  <a:pt x="195536" y="212058"/>
                  <a:pt x="197720" y="208779"/>
                </a:cubicBezTo>
                <a:cubicBezTo>
                  <a:pt x="199904" y="205500"/>
                  <a:pt x="199904" y="203314"/>
                  <a:pt x="200997" y="200035"/>
                </a:cubicBezTo>
                <a:cubicBezTo>
                  <a:pt x="202090" y="196755"/>
                  <a:pt x="202090" y="192383"/>
                  <a:pt x="203182" y="189104"/>
                </a:cubicBezTo>
                <a:cubicBezTo>
                  <a:pt x="204274" y="186917"/>
                  <a:pt x="205367" y="183638"/>
                  <a:pt x="207551" y="182545"/>
                </a:cubicBezTo>
                <a:cubicBezTo>
                  <a:pt x="211921" y="179266"/>
                  <a:pt x="215198" y="180359"/>
                  <a:pt x="217382" y="185825"/>
                </a:cubicBezTo>
                <a:cubicBezTo>
                  <a:pt x="217382" y="186917"/>
                  <a:pt x="217382" y="186917"/>
                  <a:pt x="217382" y="188011"/>
                </a:cubicBezTo>
                <a:cubicBezTo>
                  <a:pt x="220660" y="200035"/>
                  <a:pt x="223937" y="210966"/>
                  <a:pt x="225029" y="222989"/>
                </a:cubicBezTo>
                <a:cubicBezTo>
                  <a:pt x="225029" y="225176"/>
                  <a:pt x="226122" y="228455"/>
                  <a:pt x="229399" y="229547"/>
                </a:cubicBezTo>
                <a:cubicBezTo>
                  <a:pt x="233769" y="229547"/>
                  <a:pt x="234861" y="227362"/>
                  <a:pt x="237046" y="225176"/>
                </a:cubicBezTo>
                <a:cubicBezTo>
                  <a:pt x="237046" y="224083"/>
                  <a:pt x="237046" y="224083"/>
                  <a:pt x="238138" y="222989"/>
                </a:cubicBezTo>
                <a:cubicBezTo>
                  <a:pt x="241416" y="217524"/>
                  <a:pt x="245784" y="210966"/>
                  <a:pt x="250154" y="205500"/>
                </a:cubicBezTo>
                <a:cubicBezTo>
                  <a:pt x="258893" y="193476"/>
                  <a:pt x="268724" y="182545"/>
                  <a:pt x="278555" y="171614"/>
                </a:cubicBezTo>
                <a:cubicBezTo>
                  <a:pt x="282926" y="166149"/>
                  <a:pt x="285110" y="160683"/>
                  <a:pt x="285110" y="154125"/>
                </a:cubicBezTo>
                <a:cubicBezTo>
                  <a:pt x="285110" y="149753"/>
                  <a:pt x="282926" y="147566"/>
                  <a:pt x="278555" y="146473"/>
                </a:cubicBezTo>
                <a:cubicBezTo>
                  <a:pt x="276371" y="146473"/>
                  <a:pt x="274187" y="146473"/>
                  <a:pt x="273094" y="146473"/>
                </a:cubicBezTo>
                <a:cubicBezTo>
                  <a:pt x="262170" y="143194"/>
                  <a:pt x="252339" y="141008"/>
                  <a:pt x="241416" y="137729"/>
                </a:cubicBezTo>
                <a:cubicBezTo>
                  <a:pt x="235953" y="136635"/>
                  <a:pt x="230491" y="134450"/>
                  <a:pt x="225029" y="13335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6705600" y="952500"/>
            <a:ext cx="417673" cy="448385"/>
          </a:xfrm>
          <a:custGeom>
            <a:avLst/>
            <a:gdLst/>
            <a:ahLst/>
            <a:cxnLst/>
            <a:rect l="l" t="t" r="r" b="b"/>
            <a:pathLst>
              <a:path w="417673" h="448385">
                <a:moveTo>
                  <a:pt x="90514" y="447294"/>
                </a:moveTo>
                <a:cubicBezTo>
                  <a:pt x="97057" y="432021"/>
                  <a:pt x="104691" y="420019"/>
                  <a:pt x="121049" y="414565"/>
                </a:cubicBezTo>
                <a:cubicBezTo>
                  <a:pt x="130863" y="412383"/>
                  <a:pt x="139588" y="409110"/>
                  <a:pt x="148312" y="404746"/>
                </a:cubicBezTo>
                <a:cubicBezTo>
                  <a:pt x="183209" y="387292"/>
                  <a:pt x="205020" y="357835"/>
                  <a:pt x="215925" y="320742"/>
                </a:cubicBezTo>
                <a:cubicBezTo>
                  <a:pt x="217015" y="315288"/>
                  <a:pt x="218106" y="309833"/>
                  <a:pt x="219197" y="305469"/>
                </a:cubicBezTo>
                <a:cubicBezTo>
                  <a:pt x="220287" y="300015"/>
                  <a:pt x="219197" y="298924"/>
                  <a:pt x="214834" y="298924"/>
                </a:cubicBezTo>
                <a:cubicBezTo>
                  <a:pt x="202838" y="300015"/>
                  <a:pt x="191934" y="303287"/>
                  <a:pt x="181028" y="308742"/>
                </a:cubicBezTo>
                <a:cubicBezTo>
                  <a:pt x="173394" y="312015"/>
                  <a:pt x="165760" y="315288"/>
                  <a:pt x="157037" y="317470"/>
                </a:cubicBezTo>
                <a:cubicBezTo>
                  <a:pt x="148312" y="320742"/>
                  <a:pt x="141769" y="327288"/>
                  <a:pt x="134135" y="332743"/>
                </a:cubicBezTo>
                <a:cubicBezTo>
                  <a:pt x="114506" y="350199"/>
                  <a:pt x="91605" y="364381"/>
                  <a:pt x="67612" y="375290"/>
                </a:cubicBezTo>
                <a:cubicBezTo>
                  <a:pt x="57798" y="379655"/>
                  <a:pt x="46892" y="382928"/>
                  <a:pt x="37078" y="385110"/>
                </a:cubicBezTo>
                <a:cubicBezTo>
                  <a:pt x="26172" y="388383"/>
                  <a:pt x="16358" y="384019"/>
                  <a:pt x="9815" y="375290"/>
                </a:cubicBezTo>
                <a:cubicBezTo>
                  <a:pt x="4362" y="368744"/>
                  <a:pt x="1091" y="360017"/>
                  <a:pt x="1091" y="351290"/>
                </a:cubicBezTo>
                <a:cubicBezTo>
                  <a:pt x="1091" y="338198"/>
                  <a:pt x="0" y="326197"/>
                  <a:pt x="0" y="314197"/>
                </a:cubicBezTo>
                <a:cubicBezTo>
                  <a:pt x="0" y="312015"/>
                  <a:pt x="0" y="309833"/>
                  <a:pt x="1091" y="308742"/>
                </a:cubicBezTo>
                <a:cubicBezTo>
                  <a:pt x="1091" y="305469"/>
                  <a:pt x="4362" y="304378"/>
                  <a:pt x="6543" y="307651"/>
                </a:cubicBezTo>
                <a:cubicBezTo>
                  <a:pt x="7634" y="308742"/>
                  <a:pt x="7634" y="309833"/>
                  <a:pt x="8724" y="310924"/>
                </a:cubicBezTo>
                <a:cubicBezTo>
                  <a:pt x="9815" y="312015"/>
                  <a:pt x="9815" y="314197"/>
                  <a:pt x="10905" y="316379"/>
                </a:cubicBezTo>
                <a:cubicBezTo>
                  <a:pt x="17449" y="324015"/>
                  <a:pt x="25082" y="328379"/>
                  <a:pt x="34897" y="325106"/>
                </a:cubicBezTo>
                <a:cubicBezTo>
                  <a:pt x="40349" y="324015"/>
                  <a:pt x="44712" y="321833"/>
                  <a:pt x="50165" y="319651"/>
                </a:cubicBezTo>
                <a:cubicBezTo>
                  <a:pt x="52346" y="318560"/>
                  <a:pt x="55617" y="317470"/>
                  <a:pt x="57798" y="317470"/>
                </a:cubicBezTo>
                <a:cubicBezTo>
                  <a:pt x="63251" y="318560"/>
                  <a:pt x="66523" y="316379"/>
                  <a:pt x="70885" y="314197"/>
                </a:cubicBezTo>
                <a:cubicBezTo>
                  <a:pt x="83971" y="307651"/>
                  <a:pt x="97057" y="300015"/>
                  <a:pt x="109054" y="292378"/>
                </a:cubicBezTo>
                <a:cubicBezTo>
                  <a:pt x="128683" y="281468"/>
                  <a:pt x="149403" y="273831"/>
                  <a:pt x="170123" y="266195"/>
                </a:cubicBezTo>
                <a:cubicBezTo>
                  <a:pt x="184300" y="260740"/>
                  <a:pt x="199567" y="255285"/>
                  <a:pt x="214834" y="249831"/>
                </a:cubicBezTo>
                <a:cubicBezTo>
                  <a:pt x="217015" y="248740"/>
                  <a:pt x="219197" y="247649"/>
                  <a:pt x="221378" y="246558"/>
                </a:cubicBezTo>
                <a:cubicBezTo>
                  <a:pt x="231192" y="242193"/>
                  <a:pt x="237735" y="234556"/>
                  <a:pt x="238826" y="222556"/>
                </a:cubicBezTo>
                <a:cubicBezTo>
                  <a:pt x="241007" y="194191"/>
                  <a:pt x="243188" y="164736"/>
                  <a:pt x="242098" y="135279"/>
                </a:cubicBezTo>
                <a:cubicBezTo>
                  <a:pt x="241007" y="114551"/>
                  <a:pt x="237735" y="94913"/>
                  <a:pt x="229011" y="75277"/>
                </a:cubicBezTo>
                <a:cubicBezTo>
                  <a:pt x="223558" y="63275"/>
                  <a:pt x="219197" y="51275"/>
                  <a:pt x="214834" y="39275"/>
                </a:cubicBezTo>
                <a:cubicBezTo>
                  <a:pt x="211563" y="30547"/>
                  <a:pt x="210472" y="20728"/>
                  <a:pt x="211563" y="10909"/>
                </a:cubicBezTo>
                <a:cubicBezTo>
                  <a:pt x="211563" y="4364"/>
                  <a:pt x="217015" y="0"/>
                  <a:pt x="223558" y="2182"/>
                </a:cubicBezTo>
                <a:cubicBezTo>
                  <a:pt x="232283" y="4364"/>
                  <a:pt x="242098" y="5455"/>
                  <a:pt x="250822" y="7637"/>
                </a:cubicBezTo>
                <a:cubicBezTo>
                  <a:pt x="254094" y="7637"/>
                  <a:pt x="256275" y="9818"/>
                  <a:pt x="258455" y="10909"/>
                </a:cubicBezTo>
                <a:cubicBezTo>
                  <a:pt x="262818" y="14182"/>
                  <a:pt x="266089" y="17455"/>
                  <a:pt x="270452" y="20728"/>
                </a:cubicBezTo>
                <a:cubicBezTo>
                  <a:pt x="275904" y="25093"/>
                  <a:pt x="282447" y="28365"/>
                  <a:pt x="288991" y="31638"/>
                </a:cubicBezTo>
                <a:cubicBezTo>
                  <a:pt x="298806" y="36002"/>
                  <a:pt x="304258" y="43638"/>
                  <a:pt x="305349" y="53457"/>
                </a:cubicBezTo>
                <a:cubicBezTo>
                  <a:pt x="305349" y="60002"/>
                  <a:pt x="305349" y="65457"/>
                  <a:pt x="303167" y="72004"/>
                </a:cubicBezTo>
                <a:cubicBezTo>
                  <a:pt x="302077" y="74186"/>
                  <a:pt x="299895" y="76368"/>
                  <a:pt x="297715" y="78550"/>
                </a:cubicBezTo>
                <a:cubicBezTo>
                  <a:pt x="295534" y="80731"/>
                  <a:pt x="294443" y="81822"/>
                  <a:pt x="294443" y="84004"/>
                </a:cubicBezTo>
                <a:cubicBezTo>
                  <a:pt x="295534" y="113461"/>
                  <a:pt x="295534" y="142916"/>
                  <a:pt x="295534" y="172372"/>
                </a:cubicBezTo>
                <a:cubicBezTo>
                  <a:pt x="296624" y="180009"/>
                  <a:pt x="296624" y="187645"/>
                  <a:pt x="297715" y="195282"/>
                </a:cubicBezTo>
                <a:cubicBezTo>
                  <a:pt x="298806" y="199645"/>
                  <a:pt x="299895" y="200737"/>
                  <a:pt x="303167" y="198554"/>
                </a:cubicBezTo>
                <a:cubicBezTo>
                  <a:pt x="317344" y="192009"/>
                  <a:pt x="330431" y="185463"/>
                  <a:pt x="341335" y="174554"/>
                </a:cubicBezTo>
                <a:cubicBezTo>
                  <a:pt x="345698" y="169099"/>
                  <a:pt x="350060" y="163645"/>
                  <a:pt x="354423" y="157099"/>
                </a:cubicBezTo>
                <a:cubicBezTo>
                  <a:pt x="359875" y="150552"/>
                  <a:pt x="365327" y="144007"/>
                  <a:pt x="371871" y="139643"/>
                </a:cubicBezTo>
                <a:cubicBezTo>
                  <a:pt x="381686" y="133097"/>
                  <a:pt x="391500" y="130915"/>
                  <a:pt x="402406" y="133097"/>
                </a:cubicBezTo>
                <a:cubicBezTo>
                  <a:pt x="413311" y="135279"/>
                  <a:pt x="417673" y="142916"/>
                  <a:pt x="414401" y="153825"/>
                </a:cubicBezTo>
                <a:cubicBezTo>
                  <a:pt x="413311" y="159281"/>
                  <a:pt x="410040" y="164736"/>
                  <a:pt x="405677" y="168008"/>
                </a:cubicBezTo>
                <a:cubicBezTo>
                  <a:pt x="400224" y="174554"/>
                  <a:pt x="393681" y="180009"/>
                  <a:pt x="387138" y="184372"/>
                </a:cubicBezTo>
                <a:cubicBezTo>
                  <a:pt x="371871" y="194191"/>
                  <a:pt x="357694" y="206192"/>
                  <a:pt x="342426" y="217101"/>
                </a:cubicBezTo>
                <a:cubicBezTo>
                  <a:pt x="328249" y="228011"/>
                  <a:pt x="315163" y="238920"/>
                  <a:pt x="299895" y="249831"/>
                </a:cubicBezTo>
                <a:cubicBezTo>
                  <a:pt x="296624" y="253103"/>
                  <a:pt x="295534" y="255285"/>
                  <a:pt x="295534" y="259649"/>
                </a:cubicBezTo>
                <a:cubicBezTo>
                  <a:pt x="291172" y="286922"/>
                  <a:pt x="285718" y="313106"/>
                  <a:pt x="276995" y="338198"/>
                </a:cubicBezTo>
                <a:cubicBezTo>
                  <a:pt x="275904" y="342562"/>
                  <a:pt x="273723" y="345835"/>
                  <a:pt x="272632" y="349108"/>
                </a:cubicBezTo>
                <a:cubicBezTo>
                  <a:pt x="271543" y="351290"/>
                  <a:pt x="271543" y="353471"/>
                  <a:pt x="269361" y="354562"/>
                </a:cubicBezTo>
                <a:cubicBezTo>
                  <a:pt x="246460" y="380746"/>
                  <a:pt x="220287" y="404746"/>
                  <a:pt x="188662" y="421110"/>
                </a:cubicBezTo>
                <a:cubicBezTo>
                  <a:pt x="162489" y="436385"/>
                  <a:pt x="134135" y="445112"/>
                  <a:pt x="103600" y="447294"/>
                </a:cubicBezTo>
                <a:cubicBezTo>
                  <a:pt x="101420" y="447294"/>
                  <a:pt x="98148" y="448385"/>
                  <a:pt x="95966" y="448385"/>
                </a:cubicBezTo>
                <a:cubicBezTo>
                  <a:pt x="94877" y="448385"/>
                  <a:pt x="92695" y="448385"/>
                  <a:pt x="90514" y="44729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5575300" y="952500"/>
            <a:ext cx="211294" cy="490153"/>
          </a:xfrm>
          <a:custGeom>
            <a:avLst/>
            <a:gdLst/>
            <a:ahLst/>
            <a:cxnLst/>
            <a:rect l="l" t="t" r="r" b="b"/>
            <a:pathLst>
              <a:path w="211294" h="490153">
                <a:moveTo>
                  <a:pt x="143417" y="400637"/>
                </a:moveTo>
                <a:cubicBezTo>
                  <a:pt x="141228" y="402821"/>
                  <a:pt x="140133" y="403912"/>
                  <a:pt x="139038" y="405004"/>
                </a:cubicBezTo>
                <a:cubicBezTo>
                  <a:pt x="122616" y="420287"/>
                  <a:pt x="106195" y="433388"/>
                  <a:pt x="87583" y="445395"/>
                </a:cubicBezTo>
                <a:cubicBezTo>
                  <a:pt x="81015" y="448671"/>
                  <a:pt x="75541" y="451945"/>
                  <a:pt x="68971" y="455220"/>
                </a:cubicBezTo>
                <a:cubicBezTo>
                  <a:pt x="66782" y="457403"/>
                  <a:pt x="64592" y="458495"/>
                  <a:pt x="62403" y="460679"/>
                </a:cubicBezTo>
                <a:cubicBezTo>
                  <a:pt x="59118" y="465045"/>
                  <a:pt x="54740" y="469411"/>
                  <a:pt x="51455" y="472686"/>
                </a:cubicBezTo>
                <a:cubicBezTo>
                  <a:pt x="48171" y="475962"/>
                  <a:pt x="44887" y="479237"/>
                  <a:pt x="41601" y="481420"/>
                </a:cubicBezTo>
                <a:cubicBezTo>
                  <a:pt x="29559" y="490153"/>
                  <a:pt x="14232" y="486879"/>
                  <a:pt x="7663" y="473779"/>
                </a:cubicBezTo>
                <a:cubicBezTo>
                  <a:pt x="4379" y="467228"/>
                  <a:pt x="2189" y="459586"/>
                  <a:pt x="1095" y="453037"/>
                </a:cubicBezTo>
                <a:cubicBezTo>
                  <a:pt x="0" y="441029"/>
                  <a:pt x="0" y="430112"/>
                  <a:pt x="1095" y="418104"/>
                </a:cubicBezTo>
                <a:cubicBezTo>
                  <a:pt x="2189" y="413737"/>
                  <a:pt x="3284" y="408278"/>
                  <a:pt x="7663" y="406095"/>
                </a:cubicBezTo>
                <a:cubicBezTo>
                  <a:pt x="21896" y="394087"/>
                  <a:pt x="30654" y="377712"/>
                  <a:pt x="36128" y="361338"/>
                </a:cubicBezTo>
                <a:cubicBezTo>
                  <a:pt x="39412" y="354787"/>
                  <a:pt x="40507" y="348238"/>
                  <a:pt x="42696" y="341688"/>
                </a:cubicBezTo>
                <a:cubicBezTo>
                  <a:pt x="45982" y="331862"/>
                  <a:pt x="49266" y="320947"/>
                  <a:pt x="53645" y="312213"/>
                </a:cubicBezTo>
                <a:cubicBezTo>
                  <a:pt x="61308" y="296930"/>
                  <a:pt x="61308" y="281647"/>
                  <a:pt x="58024" y="266363"/>
                </a:cubicBezTo>
                <a:cubicBezTo>
                  <a:pt x="56929" y="261997"/>
                  <a:pt x="55834" y="258722"/>
                  <a:pt x="54740" y="254356"/>
                </a:cubicBezTo>
                <a:cubicBezTo>
                  <a:pt x="53645" y="249989"/>
                  <a:pt x="51455" y="245622"/>
                  <a:pt x="48171" y="241256"/>
                </a:cubicBezTo>
                <a:cubicBezTo>
                  <a:pt x="45982" y="236889"/>
                  <a:pt x="42696" y="231431"/>
                  <a:pt x="41601" y="225972"/>
                </a:cubicBezTo>
                <a:cubicBezTo>
                  <a:pt x="39412" y="220514"/>
                  <a:pt x="41601" y="217240"/>
                  <a:pt x="48171" y="217240"/>
                </a:cubicBezTo>
                <a:cubicBezTo>
                  <a:pt x="52550" y="217240"/>
                  <a:pt x="55834" y="217240"/>
                  <a:pt x="59118" y="219423"/>
                </a:cubicBezTo>
                <a:cubicBezTo>
                  <a:pt x="60213" y="220514"/>
                  <a:pt x="61308" y="221606"/>
                  <a:pt x="62403" y="221606"/>
                </a:cubicBezTo>
                <a:cubicBezTo>
                  <a:pt x="67876" y="227065"/>
                  <a:pt x="74446" y="228156"/>
                  <a:pt x="82109" y="228156"/>
                </a:cubicBezTo>
                <a:cubicBezTo>
                  <a:pt x="90867" y="228156"/>
                  <a:pt x="98530" y="231431"/>
                  <a:pt x="105100" y="237980"/>
                </a:cubicBezTo>
                <a:cubicBezTo>
                  <a:pt x="108384" y="241256"/>
                  <a:pt x="112763" y="243439"/>
                  <a:pt x="117142" y="243439"/>
                </a:cubicBezTo>
                <a:cubicBezTo>
                  <a:pt x="120426" y="243439"/>
                  <a:pt x="122616" y="244531"/>
                  <a:pt x="125900" y="245622"/>
                </a:cubicBezTo>
                <a:cubicBezTo>
                  <a:pt x="131374" y="246714"/>
                  <a:pt x="135754" y="249989"/>
                  <a:pt x="137944" y="254356"/>
                </a:cubicBezTo>
                <a:cubicBezTo>
                  <a:pt x="137944" y="255448"/>
                  <a:pt x="139038" y="256539"/>
                  <a:pt x="140133" y="257631"/>
                </a:cubicBezTo>
                <a:cubicBezTo>
                  <a:pt x="143417" y="257631"/>
                  <a:pt x="144512" y="255448"/>
                  <a:pt x="145607" y="252172"/>
                </a:cubicBezTo>
                <a:cubicBezTo>
                  <a:pt x="146702" y="249989"/>
                  <a:pt x="146702" y="247806"/>
                  <a:pt x="146702" y="245622"/>
                </a:cubicBezTo>
                <a:cubicBezTo>
                  <a:pt x="146702" y="236889"/>
                  <a:pt x="146702" y="227065"/>
                  <a:pt x="147796" y="218331"/>
                </a:cubicBezTo>
                <a:cubicBezTo>
                  <a:pt x="149986" y="192131"/>
                  <a:pt x="152175" y="164840"/>
                  <a:pt x="149986" y="138640"/>
                </a:cubicBezTo>
                <a:cubicBezTo>
                  <a:pt x="149986" y="128815"/>
                  <a:pt x="147796" y="118990"/>
                  <a:pt x="145607" y="108073"/>
                </a:cubicBezTo>
                <a:cubicBezTo>
                  <a:pt x="144512" y="98248"/>
                  <a:pt x="139038" y="88424"/>
                  <a:pt x="132470" y="80782"/>
                </a:cubicBezTo>
                <a:cubicBezTo>
                  <a:pt x="126995" y="73141"/>
                  <a:pt x="121521" y="66591"/>
                  <a:pt x="114953" y="60041"/>
                </a:cubicBezTo>
                <a:cubicBezTo>
                  <a:pt x="107290" y="50216"/>
                  <a:pt x="98530" y="39300"/>
                  <a:pt x="90867" y="29474"/>
                </a:cubicBezTo>
                <a:cubicBezTo>
                  <a:pt x="86488" y="24017"/>
                  <a:pt x="84299" y="16375"/>
                  <a:pt x="84299" y="9825"/>
                </a:cubicBezTo>
                <a:cubicBezTo>
                  <a:pt x="84299" y="3275"/>
                  <a:pt x="87583" y="0"/>
                  <a:pt x="94151" y="2183"/>
                </a:cubicBezTo>
                <a:cubicBezTo>
                  <a:pt x="97436" y="2183"/>
                  <a:pt x="100720" y="4366"/>
                  <a:pt x="104005" y="6549"/>
                </a:cubicBezTo>
                <a:cubicBezTo>
                  <a:pt x="114953" y="16375"/>
                  <a:pt x="126995" y="24017"/>
                  <a:pt x="140133" y="30566"/>
                </a:cubicBezTo>
                <a:cubicBezTo>
                  <a:pt x="154365" y="38208"/>
                  <a:pt x="168598" y="46942"/>
                  <a:pt x="180640" y="56766"/>
                </a:cubicBezTo>
                <a:cubicBezTo>
                  <a:pt x="188303" y="63316"/>
                  <a:pt x="195967" y="69867"/>
                  <a:pt x="201441" y="78599"/>
                </a:cubicBezTo>
                <a:cubicBezTo>
                  <a:pt x="203631" y="81874"/>
                  <a:pt x="205820" y="85150"/>
                  <a:pt x="206915" y="90607"/>
                </a:cubicBezTo>
                <a:cubicBezTo>
                  <a:pt x="210199" y="133182"/>
                  <a:pt x="211294" y="176848"/>
                  <a:pt x="211294" y="220514"/>
                </a:cubicBezTo>
                <a:cubicBezTo>
                  <a:pt x="211294" y="253263"/>
                  <a:pt x="210199" y="286014"/>
                  <a:pt x="206915" y="318764"/>
                </a:cubicBezTo>
                <a:cubicBezTo>
                  <a:pt x="203631" y="350421"/>
                  <a:pt x="200346" y="382080"/>
                  <a:pt x="192683" y="412646"/>
                </a:cubicBezTo>
                <a:cubicBezTo>
                  <a:pt x="189398" y="423562"/>
                  <a:pt x="186113" y="435571"/>
                  <a:pt x="180640" y="446486"/>
                </a:cubicBezTo>
                <a:cubicBezTo>
                  <a:pt x="177356" y="451945"/>
                  <a:pt x="174071" y="457403"/>
                  <a:pt x="169692" y="461769"/>
                </a:cubicBezTo>
                <a:cubicBezTo>
                  <a:pt x="166408" y="465045"/>
                  <a:pt x="163124" y="467228"/>
                  <a:pt x="158744" y="467228"/>
                </a:cubicBezTo>
                <a:cubicBezTo>
                  <a:pt x="153270" y="468320"/>
                  <a:pt x="148891" y="466137"/>
                  <a:pt x="147796" y="460679"/>
                </a:cubicBezTo>
                <a:cubicBezTo>
                  <a:pt x="147796" y="458495"/>
                  <a:pt x="147796" y="456312"/>
                  <a:pt x="146702" y="453037"/>
                </a:cubicBezTo>
                <a:cubicBezTo>
                  <a:pt x="146702" y="444303"/>
                  <a:pt x="147796" y="435571"/>
                  <a:pt x="147796" y="426837"/>
                </a:cubicBezTo>
                <a:cubicBezTo>
                  <a:pt x="146702" y="418104"/>
                  <a:pt x="146702" y="409371"/>
                  <a:pt x="143417" y="400637"/>
                </a:cubicBezTo>
                <a:close/>
                <a:moveTo>
                  <a:pt x="144512" y="278373"/>
                </a:moveTo>
                <a:cubicBezTo>
                  <a:pt x="139038" y="280556"/>
                  <a:pt x="136849" y="283830"/>
                  <a:pt x="135754" y="288197"/>
                </a:cubicBezTo>
                <a:cubicBezTo>
                  <a:pt x="134659" y="291471"/>
                  <a:pt x="133565" y="295839"/>
                  <a:pt x="130279" y="298022"/>
                </a:cubicBezTo>
                <a:cubicBezTo>
                  <a:pt x="124805" y="302388"/>
                  <a:pt x="118237" y="305664"/>
                  <a:pt x="111669" y="305664"/>
                </a:cubicBezTo>
                <a:cubicBezTo>
                  <a:pt x="106195" y="305664"/>
                  <a:pt x="102911" y="307847"/>
                  <a:pt x="99625" y="311122"/>
                </a:cubicBezTo>
                <a:cubicBezTo>
                  <a:pt x="95246" y="315488"/>
                  <a:pt x="91962" y="318764"/>
                  <a:pt x="88678" y="323130"/>
                </a:cubicBezTo>
                <a:cubicBezTo>
                  <a:pt x="85394" y="326405"/>
                  <a:pt x="83204" y="329679"/>
                  <a:pt x="82109" y="332955"/>
                </a:cubicBezTo>
                <a:cubicBezTo>
                  <a:pt x="77730" y="343872"/>
                  <a:pt x="72255" y="352604"/>
                  <a:pt x="64592" y="361338"/>
                </a:cubicBezTo>
                <a:cubicBezTo>
                  <a:pt x="59118" y="367887"/>
                  <a:pt x="54740" y="374438"/>
                  <a:pt x="49266" y="380987"/>
                </a:cubicBezTo>
                <a:cubicBezTo>
                  <a:pt x="42696" y="388629"/>
                  <a:pt x="37222" y="397363"/>
                  <a:pt x="33938" y="407187"/>
                </a:cubicBezTo>
                <a:cubicBezTo>
                  <a:pt x="31749" y="411554"/>
                  <a:pt x="31749" y="413737"/>
                  <a:pt x="37222" y="415920"/>
                </a:cubicBezTo>
                <a:cubicBezTo>
                  <a:pt x="41601" y="417012"/>
                  <a:pt x="45982" y="418104"/>
                  <a:pt x="50361" y="417012"/>
                </a:cubicBezTo>
                <a:cubicBezTo>
                  <a:pt x="58024" y="415920"/>
                  <a:pt x="64592" y="412646"/>
                  <a:pt x="70066" y="408278"/>
                </a:cubicBezTo>
                <a:cubicBezTo>
                  <a:pt x="75541" y="405004"/>
                  <a:pt x="79920" y="400637"/>
                  <a:pt x="85394" y="396270"/>
                </a:cubicBezTo>
                <a:cubicBezTo>
                  <a:pt x="88678" y="394087"/>
                  <a:pt x="90867" y="391904"/>
                  <a:pt x="95246" y="390812"/>
                </a:cubicBezTo>
                <a:cubicBezTo>
                  <a:pt x="106195" y="388629"/>
                  <a:pt x="116048" y="383170"/>
                  <a:pt x="124805" y="377712"/>
                </a:cubicBezTo>
                <a:cubicBezTo>
                  <a:pt x="130279" y="374438"/>
                  <a:pt x="134659" y="371163"/>
                  <a:pt x="139038" y="368979"/>
                </a:cubicBezTo>
                <a:cubicBezTo>
                  <a:pt x="143417" y="365704"/>
                  <a:pt x="145607" y="361338"/>
                  <a:pt x="145607" y="354787"/>
                </a:cubicBezTo>
                <a:cubicBezTo>
                  <a:pt x="144512" y="331862"/>
                  <a:pt x="144512" y="307847"/>
                  <a:pt x="144512" y="283830"/>
                </a:cubicBezTo>
                <a:cubicBezTo>
                  <a:pt x="144512" y="282739"/>
                  <a:pt x="144512" y="280556"/>
                  <a:pt x="144512" y="27837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5880100" y="1016000"/>
            <a:ext cx="249376" cy="345195"/>
          </a:xfrm>
          <a:custGeom>
            <a:avLst/>
            <a:gdLst/>
            <a:ahLst/>
            <a:cxnLst/>
            <a:rect l="l" t="t" r="r" b="b"/>
            <a:pathLst>
              <a:path w="249376" h="345195">
                <a:moveTo>
                  <a:pt x="37026" y="0"/>
                </a:moveTo>
                <a:cubicBezTo>
                  <a:pt x="38114" y="1092"/>
                  <a:pt x="39204" y="2184"/>
                  <a:pt x="40292" y="2184"/>
                </a:cubicBezTo>
                <a:cubicBezTo>
                  <a:pt x="52271" y="13109"/>
                  <a:pt x="63161" y="24032"/>
                  <a:pt x="75140" y="34957"/>
                </a:cubicBezTo>
                <a:cubicBezTo>
                  <a:pt x="77318" y="37141"/>
                  <a:pt x="78406" y="39326"/>
                  <a:pt x="79496" y="41511"/>
                </a:cubicBezTo>
                <a:cubicBezTo>
                  <a:pt x="93652" y="68820"/>
                  <a:pt x="102365" y="97222"/>
                  <a:pt x="107809" y="127809"/>
                </a:cubicBezTo>
                <a:cubicBezTo>
                  <a:pt x="107809" y="131087"/>
                  <a:pt x="108897" y="135456"/>
                  <a:pt x="109987" y="139826"/>
                </a:cubicBezTo>
                <a:cubicBezTo>
                  <a:pt x="112165" y="145288"/>
                  <a:pt x="116521" y="146380"/>
                  <a:pt x="121966" y="144196"/>
                </a:cubicBezTo>
                <a:cubicBezTo>
                  <a:pt x="125232" y="142010"/>
                  <a:pt x="127410" y="140918"/>
                  <a:pt x="130678" y="138734"/>
                </a:cubicBezTo>
                <a:cubicBezTo>
                  <a:pt x="139389" y="132179"/>
                  <a:pt x="148101" y="125625"/>
                  <a:pt x="157902" y="119070"/>
                </a:cubicBezTo>
                <a:cubicBezTo>
                  <a:pt x="160080" y="117978"/>
                  <a:pt x="161169" y="115794"/>
                  <a:pt x="161169" y="112516"/>
                </a:cubicBezTo>
                <a:cubicBezTo>
                  <a:pt x="161169" y="103777"/>
                  <a:pt x="161169" y="96130"/>
                  <a:pt x="161169" y="87391"/>
                </a:cubicBezTo>
                <a:cubicBezTo>
                  <a:pt x="161169" y="81929"/>
                  <a:pt x="166614" y="75374"/>
                  <a:pt x="173148" y="75374"/>
                </a:cubicBezTo>
                <a:cubicBezTo>
                  <a:pt x="174236" y="75374"/>
                  <a:pt x="176414" y="76467"/>
                  <a:pt x="176414" y="77560"/>
                </a:cubicBezTo>
                <a:cubicBezTo>
                  <a:pt x="177503" y="78652"/>
                  <a:pt x="178592" y="79745"/>
                  <a:pt x="178592" y="81929"/>
                </a:cubicBezTo>
                <a:cubicBezTo>
                  <a:pt x="178592" y="86299"/>
                  <a:pt x="181859" y="90668"/>
                  <a:pt x="186215" y="93946"/>
                </a:cubicBezTo>
                <a:cubicBezTo>
                  <a:pt x="197105" y="102685"/>
                  <a:pt x="209084" y="109239"/>
                  <a:pt x="222151" y="113608"/>
                </a:cubicBezTo>
                <a:cubicBezTo>
                  <a:pt x="226507" y="115794"/>
                  <a:pt x="227597" y="117978"/>
                  <a:pt x="227597" y="122348"/>
                </a:cubicBezTo>
                <a:cubicBezTo>
                  <a:pt x="228685" y="152935"/>
                  <a:pt x="213440" y="174782"/>
                  <a:pt x="184037" y="185706"/>
                </a:cubicBezTo>
                <a:cubicBezTo>
                  <a:pt x="169880" y="191168"/>
                  <a:pt x="154635" y="193352"/>
                  <a:pt x="139389" y="191168"/>
                </a:cubicBezTo>
                <a:cubicBezTo>
                  <a:pt x="129588" y="188984"/>
                  <a:pt x="121966" y="198815"/>
                  <a:pt x="124144" y="207554"/>
                </a:cubicBezTo>
                <a:cubicBezTo>
                  <a:pt x="124144" y="209739"/>
                  <a:pt x="125232" y="211924"/>
                  <a:pt x="125232" y="214108"/>
                </a:cubicBezTo>
                <a:cubicBezTo>
                  <a:pt x="128500" y="221755"/>
                  <a:pt x="128500" y="230494"/>
                  <a:pt x="125232" y="239234"/>
                </a:cubicBezTo>
                <a:cubicBezTo>
                  <a:pt x="124144" y="242510"/>
                  <a:pt x="121966" y="244695"/>
                  <a:pt x="118698" y="246880"/>
                </a:cubicBezTo>
                <a:cubicBezTo>
                  <a:pt x="109987" y="252341"/>
                  <a:pt x="103453" y="259988"/>
                  <a:pt x="96919" y="268728"/>
                </a:cubicBezTo>
                <a:cubicBezTo>
                  <a:pt x="91474" y="277467"/>
                  <a:pt x="92563" y="281836"/>
                  <a:pt x="103453" y="284022"/>
                </a:cubicBezTo>
                <a:cubicBezTo>
                  <a:pt x="109987" y="285114"/>
                  <a:pt x="116521" y="285114"/>
                  <a:pt x="123054" y="282929"/>
                </a:cubicBezTo>
                <a:cubicBezTo>
                  <a:pt x="136122" y="279651"/>
                  <a:pt x="149189" y="275283"/>
                  <a:pt x="161169" y="270913"/>
                </a:cubicBezTo>
                <a:cubicBezTo>
                  <a:pt x="168792" y="267636"/>
                  <a:pt x="176414" y="265450"/>
                  <a:pt x="185127" y="265450"/>
                </a:cubicBezTo>
                <a:cubicBezTo>
                  <a:pt x="191661" y="264358"/>
                  <a:pt x="198194" y="262174"/>
                  <a:pt x="203639" y="258896"/>
                </a:cubicBezTo>
                <a:cubicBezTo>
                  <a:pt x="212350" y="255619"/>
                  <a:pt x="221063" y="251249"/>
                  <a:pt x="230863" y="250157"/>
                </a:cubicBezTo>
                <a:cubicBezTo>
                  <a:pt x="233041" y="250157"/>
                  <a:pt x="236308" y="250157"/>
                  <a:pt x="239575" y="250157"/>
                </a:cubicBezTo>
                <a:cubicBezTo>
                  <a:pt x="246109" y="251249"/>
                  <a:pt x="249376" y="257804"/>
                  <a:pt x="247198" y="263266"/>
                </a:cubicBezTo>
                <a:cubicBezTo>
                  <a:pt x="242842" y="273097"/>
                  <a:pt x="237397" y="282929"/>
                  <a:pt x="233041" y="291668"/>
                </a:cubicBezTo>
                <a:cubicBezTo>
                  <a:pt x="229775" y="296037"/>
                  <a:pt x="225419" y="299315"/>
                  <a:pt x="221063" y="302591"/>
                </a:cubicBezTo>
                <a:cubicBezTo>
                  <a:pt x="211262" y="308054"/>
                  <a:pt x="200372" y="312424"/>
                  <a:pt x="189483" y="315700"/>
                </a:cubicBezTo>
                <a:cubicBezTo>
                  <a:pt x="177503" y="318978"/>
                  <a:pt x="164436" y="322255"/>
                  <a:pt x="152457" y="325531"/>
                </a:cubicBezTo>
                <a:cubicBezTo>
                  <a:pt x="148101" y="326625"/>
                  <a:pt x="142657" y="325531"/>
                  <a:pt x="138300" y="325531"/>
                </a:cubicBezTo>
                <a:cubicBezTo>
                  <a:pt x="132856" y="325531"/>
                  <a:pt x="129588" y="326625"/>
                  <a:pt x="126322" y="328809"/>
                </a:cubicBezTo>
                <a:cubicBezTo>
                  <a:pt x="105631" y="344103"/>
                  <a:pt x="80584" y="345195"/>
                  <a:pt x="59893" y="332086"/>
                </a:cubicBezTo>
                <a:cubicBezTo>
                  <a:pt x="55538" y="328809"/>
                  <a:pt x="51182" y="324439"/>
                  <a:pt x="47915" y="318978"/>
                </a:cubicBezTo>
                <a:cubicBezTo>
                  <a:pt x="40292" y="306962"/>
                  <a:pt x="34848" y="293853"/>
                  <a:pt x="29403" y="280744"/>
                </a:cubicBezTo>
                <a:cubicBezTo>
                  <a:pt x="28313" y="278559"/>
                  <a:pt x="28313" y="277467"/>
                  <a:pt x="27225" y="275283"/>
                </a:cubicBezTo>
                <a:cubicBezTo>
                  <a:pt x="21779" y="263266"/>
                  <a:pt x="18513" y="251249"/>
                  <a:pt x="19601" y="237048"/>
                </a:cubicBezTo>
                <a:cubicBezTo>
                  <a:pt x="20691" y="234864"/>
                  <a:pt x="19601" y="232679"/>
                  <a:pt x="19601" y="229401"/>
                </a:cubicBezTo>
                <a:cubicBezTo>
                  <a:pt x="13068" y="204277"/>
                  <a:pt x="6534" y="178059"/>
                  <a:pt x="1088" y="152935"/>
                </a:cubicBezTo>
                <a:cubicBezTo>
                  <a:pt x="0" y="150750"/>
                  <a:pt x="0" y="148565"/>
                  <a:pt x="0" y="146380"/>
                </a:cubicBezTo>
                <a:cubicBezTo>
                  <a:pt x="6534" y="115794"/>
                  <a:pt x="13068" y="85207"/>
                  <a:pt x="19601" y="54619"/>
                </a:cubicBezTo>
                <a:cubicBezTo>
                  <a:pt x="23957" y="38233"/>
                  <a:pt x="28313" y="20756"/>
                  <a:pt x="34848" y="4370"/>
                </a:cubicBezTo>
                <a:cubicBezTo>
                  <a:pt x="35936" y="2184"/>
                  <a:pt x="35936" y="1092"/>
                  <a:pt x="37026"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6248400" y="1155700"/>
            <a:ext cx="296057" cy="327997"/>
          </a:xfrm>
          <a:custGeom>
            <a:avLst/>
            <a:gdLst/>
            <a:ahLst/>
            <a:cxnLst/>
            <a:rect l="l" t="t" r="r" b="b"/>
            <a:pathLst>
              <a:path w="296057" h="327997">
                <a:moveTo>
                  <a:pt x="202105" y="111519"/>
                </a:moveTo>
                <a:cubicBezTo>
                  <a:pt x="205383" y="110425"/>
                  <a:pt x="208660" y="108240"/>
                  <a:pt x="211938" y="107146"/>
                </a:cubicBezTo>
                <a:cubicBezTo>
                  <a:pt x="218492" y="102772"/>
                  <a:pt x="225047" y="99492"/>
                  <a:pt x="232694" y="98400"/>
                </a:cubicBezTo>
                <a:cubicBezTo>
                  <a:pt x="241433" y="97306"/>
                  <a:pt x="250173" y="100585"/>
                  <a:pt x="257821" y="104959"/>
                </a:cubicBezTo>
                <a:cubicBezTo>
                  <a:pt x="258914" y="106053"/>
                  <a:pt x="260006" y="107146"/>
                  <a:pt x="261098" y="108240"/>
                </a:cubicBezTo>
                <a:cubicBezTo>
                  <a:pt x="264376" y="112612"/>
                  <a:pt x="264376" y="118080"/>
                  <a:pt x="258914" y="121359"/>
                </a:cubicBezTo>
                <a:cubicBezTo>
                  <a:pt x="240341" y="138852"/>
                  <a:pt x="218492" y="151972"/>
                  <a:pt x="195551" y="161812"/>
                </a:cubicBezTo>
                <a:cubicBezTo>
                  <a:pt x="194459" y="162905"/>
                  <a:pt x="192273" y="162905"/>
                  <a:pt x="191181" y="163999"/>
                </a:cubicBezTo>
                <a:cubicBezTo>
                  <a:pt x="182441" y="167278"/>
                  <a:pt x="179164" y="173839"/>
                  <a:pt x="178072" y="183679"/>
                </a:cubicBezTo>
                <a:cubicBezTo>
                  <a:pt x="178072" y="193519"/>
                  <a:pt x="180256" y="204451"/>
                  <a:pt x="184626" y="213197"/>
                </a:cubicBezTo>
                <a:cubicBezTo>
                  <a:pt x="198827" y="247091"/>
                  <a:pt x="203197" y="283171"/>
                  <a:pt x="202105" y="319250"/>
                </a:cubicBezTo>
                <a:cubicBezTo>
                  <a:pt x="202105" y="325811"/>
                  <a:pt x="199921" y="327997"/>
                  <a:pt x="193365" y="326903"/>
                </a:cubicBezTo>
                <a:cubicBezTo>
                  <a:pt x="186811" y="326903"/>
                  <a:pt x="180256" y="324717"/>
                  <a:pt x="175886" y="319250"/>
                </a:cubicBezTo>
                <a:cubicBezTo>
                  <a:pt x="173702" y="317064"/>
                  <a:pt x="173702" y="313784"/>
                  <a:pt x="173702" y="311597"/>
                </a:cubicBezTo>
                <a:cubicBezTo>
                  <a:pt x="173702" y="310504"/>
                  <a:pt x="173702" y="308317"/>
                  <a:pt x="173702" y="307224"/>
                </a:cubicBezTo>
                <a:cubicBezTo>
                  <a:pt x="173702" y="299570"/>
                  <a:pt x="170424" y="294104"/>
                  <a:pt x="163869" y="290824"/>
                </a:cubicBezTo>
                <a:cubicBezTo>
                  <a:pt x="159499" y="287545"/>
                  <a:pt x="154037" y="286451"/>
                  <a:pt x="148575" y="284264"/>
                </a:cubicBezTo>
                <a:cubicBezTo>
                  <a:pt x="147483" y="284264"/>
                  <a:pt x="146390" y="284264"/>
                  <a:pt x="145297" y="284264"/>
                </a:cubicBezTo>
                <a:cubicBezTo>
                  <a:pt x="140928" y="282077"/>
                  <a:pt x="137650" y="278798"/>
                  <a:pt x="137650" y="275518"/>
                </a:cubicBezTo>
                <a:cubicBezTo>
                  <a:pt x="136558" y="271144"/>
                  <a:pt x="139835" y="266771"/>
                  <a:pt x="144205" y="265678"/>
                </a:cubicBezTo>
                <a:cubicBezTo>
                  <a:pt x="146390" y="264584"/>
                  <a:pt x="148575" y="264584"/>
                  <a:pt x="150759" y="264584"/>
                </a:cubicBezTo>
                <a:cubicBezTo>
                  <a:pt x="157315" y="263491"/>
                  <a:pt x="160592" y="260212"/>
                  <a:pt x="162777" y="253651"/>
                </a:cubicBezTo>
                <a:cubicBezTo>
                  <a:pt x="167146" y="240532"/>
                  <a:pt x="164962" y="227411"/>
                  <a:pt x="157315" y="215384"/>
                </a:cubicBezTo>
                <a:cubicBezTo>
                  <a:pt x="155129" y="213197"/>
                  <a:pt x="154037" y="213197"/>
                  <a:pt x="151853" y="215384"/>
                </a:cubicBezTo>
                <a:cubicBezTo>
                  <a:pt x="150759" y="215384"/>
                  <a:pt x="149667" y="216478"/>
                  <a:pt x="148575" y="217571"/>
                </a:cubicBezTo>
                <a:cubicBezTo>
                  <a:pt x="140928" y="224131"/>
                  <a:pt x="134372" y="229598"/>
                  <a:pt x="127818" y="236158"/>
                </a:cubicBezTo>
                <a:cubicBezTo>
                  <a:pt x="122356" y="240532"/>
                  <a:pt x="117986" y="245998"/>
                  <a:pt x="114709" y="252557"/>
                </a:cubicBezTo>
                <a:cubicBezTo>
                  <a:pt x="113615" y="253651"/>
                  <a:pt x="112523" y="254744"/>
                  <a:pt x="110339" y="256931"/>
                </a:cubicBezTo>
                <a:cubicBezTo>
                  <a:pt x="91766" y="276611"/>
                  <a:pt x="72103" y="295198"/>
                  <a:pt x="52438" y="314877"/>
                </a:cubicBezTo>
                <a:cubicBezTo>
                  <a:pt x="44790" y="323624"/>
                  <a:pt x="38236" y="324717"/>
                  <a:pt x="28404" y="320344"/>
                </a:cubicBezTo>
                <a:cubicBezTo>
                  <a:pt x="21849" y="318157"/>
                  <a:pt x="17479" y="313784"/>
                  <a:pt x="14202" y="308317"/>
                </a:cubicBezTo>
                <a:cubicBezTo>
                  <a:pt x="4370" y="296291"/>
                  <a:pt x="1092" y="280984"/>
                  <a:pt x="0" y="265678"/>
                </a:cubicBezTo>
                <a:cubicBezTo>
                  <a:pt x="0" y="262397"/>
                  <a:pt x="1092" y="261304"/>
                  <a:pt x="3278" y="261304"/>
                </a:cubicBezTo>
                <a:cubicBezTo>
                  <a:pt x="5462" y="260212"/>
                  <a:pt x="7647" y="259118"/>
                  <a:pt x="9832" y="259118"/>
                </a:cubicBezTo>
                <a:cubicBezTo>
                  <a:pt x="14202" y="256931"/>
                  <a:pt x="17479" y="256931"/>
                  <a:pt x="21849" y="259118"/>
                </a:cubicBezTo>
                <a:cubicBezTo>
                  <a:pt x="26219" y="261304"/>
                  <a:pt x="30589" y="260212"/>
                  <a:pt x="34959" y="255838"/>
                </a:cubicBezTo>
                <a:cubicBezTo>
                  <a:pt x="37144" y="254744"/>
                  <a:pt x="40422" y="252557"/>
                  <a:pt x="42606" y="251464"/>
                </a:cubicBezTo>
                <a:cubicBezTo>
                  <a:pt x="50253" y="247091"/>
                  <a:pt x="56808" y="242717"/>
                  <a:pt x="64455" y="239438"/>
                </a:cubicBezTo>
                <a:cubicBezTo>
                  <a:pt x="65547" y="238345"/>
                  <a:pt x="67733" y="237251"/>
                  <a:pt x="68825" y="236158"/>
                </a:cubicBezTo>
                <a:cubicBezTo>
                  <a:pt x="88490" y="225224"/>
                  <a:pt x="107061" y="213197"/>
                  <a:pt x="126726" y="202265"/>
                </a:cubicBezTo>
                <a:cubicBezTo>
                  <a:pt x="133280" y="197891"/>
                  <a:pt x="139835" y="193519"/>
                  <a:pt x="146390" y="188051"/>
                </a:cubicBezTo>
                <a:cubicBezTo>
                  <a:pt x="151853" y="183679"/>
                  <a:pt x="156221" y="178211"/>
                  <a:pt x="158407" y="169465"/>
                </a:cubicBezTo>
                <a:cubicBezTo>
                  <a:pt x="156221" y="169465"/>
                  <a:pt x="155129" y="168372"/>
                  <a:pt x="152945" y="168372"/>
                </a:cubicBezTo>
                <a:cubicBezTo>
                  <a:pt x="146390" y="166185"/>
                  <a:pt x="144205" y="161812"/>
                  <a:pt x="145297" y="155252"/>
                </a:cubicBezTo>
                <a:cubicBezTo>
                  <a:pt x="146390" y="153065"/>
                  <a:pt x="147483" y="149785"/>
                  <a:pt x="148575" y="147598"/>
                </a:cubicBezTo>
                <a:cubicBezTo>
                  <a:pt x="151853" y="138852"/>
                  <a:pt x="155129" y="130105"/>
                  <a:pt x="158407" y="122452"/>
                </a:cubicBezTo>
                <a:cubicBezTo>
                  <a:pt x="158407" y="121359"/>
                  <a:pt x="159499" y="120265"/>
                  <a:pt x="159499" y="119172"/>
                </a:cubicBezTo>
                <a:cubicBezTo>
                  <a:pt x="160592" y="114799"/>
                  <a:pt x="159499" y="113706"/>
                  <a:pt x="156221" y="113706"/>
                </a:cubicBezTo>
                <a:cubicBezTo>
                  <a:pt x="152945" y="113706"/>
                  <a:pt x="150759" y="113706"/>
                  <a:pt x="147483" y="114799"/>
                </a:cubicBezTo>
                <a:cubicBezTo>
                  <a:pt x="144205" y="115893"/>
                  <a:pt x="139835" y="116986"/>
                  <a:pt x="135466" y="118080"/>
                </a:cubicBezTo>
                <a:cubicBezTo>
                  <a:pt x="133280" y="119172"/>
                  <a:pt x="132188" y="121359"/>
                  <a:pt x="132188" y="123546"/>
                </a:cubicBezTo>
                <a:cubicBezTo>
                  <a:pt x="132188" y="133386"/>
                  <a:pt x="132188" y="143226"/>
                  <a:pt x="132188" y="153065"/>
                </a:cubicBezTo>
                <a:cubicBezTo>
                  <a:pt x="132188" y="155252"/>
                  <a:pt x="131096" y="157438"/>
                  <a:pt x="130002" y="159625"/>
                </a:cubicBezTo>
                <a:cubicBezTo>
                  <a:pt x="117986" y="174932"/>
                  <a:pt x="107061" y="190238"/>
                  <a:pt x="95044" y="205544"/>
                </a:cubicBezTo>
                <a:cubicBezTo>
                  <a:pt x="95044" y="206638"/>
                  <a:pt x="93952" y="206638"/>
                  <a:pt x="93952" y="207731"/>
                </a:cubicBezTo>
                <a:cubicBezTo>
                  <a:pt x="88490" y="202265"/>
                  <a:pt x="84120" y="197891"/>
                  <a:pt x="79750" y="192425"/>
                </a:cubicBezTo>
                <a:cubicBezTo>
                  <a:pt x="76472" y="189145"/>
                  <a:pt x="75380" y="185864"/>
                  <a:pt x="75380" y="181492"/>
                </a:cubicBezTo>
                <a:cubicBezTo>
                  <a:pt x="74287" y="179305"/>
                  <a:pt x="74287" y="176025"/>
                  <a:pt x="73195" y="173839"/>
                </a:cubicBezTo>
                <a:cubicBezTo>
                  <a:pt x="63363" y="150879"/>
                  <a:pt x="62271" y="127918"/>
                  <a:pt x="68825" y="103866"/>
                </a:cubicBezTo>
                <a:cubicBezTo>
                  <a:pt x="73195" y="91839"/>
                  <a:pt x="73195" y="80905"/>
                  <a:pt x="72103" y="68880"/>
                </a:cubicBezTo>
                <a:cubicBezTo>
                  <a:pt x="72103" y="65599"/>
                  <a:pt x="72103" y="62319"/>
                  <a:pt x="72103" y="59040"/>
                </a:cubicBezTo>
                <a:cubicBezTo>
                  <a:pt x="72103" y="54666"/>
                  <a:pt x="74287" y="51387"/>
                  <a:pt x="78657" y="51387"/>
                </a:cubicBezTo>
                <a:cubicBezTo>
                  <a:pt x="81934" y="50293"/>
                  <a:pt x="85212" y="51387"/>
                  <a:pt x="87396" y="52479"/>
                </a:cubicBezTo>
                <a:cubicBezTo>
                  <a:pt x="90674" y="54666"/>
                  <a:pt x="92859" y="56853"/>
                  <a:pt x="96136" y="60133"/>
                </a:cubicBezTo>
                <a:cubicBezTo>
                  <a:pt x="98322" y="62319"/>
                  <a:pt x="99414" y="64506"/>
                  <a:pt x="101599" y="66693"/>
                </a:cubicBezTo>
                <a:cubicBezTo>
                  <a:pt x="108153" y="72159"/>
                  <a:pt x="112523" y="73252"/>
                  <a:pt x="119078" y="68880"/>
                </a:cubicBezTo>
                <a:cubicBezTo>
                  <a:pt x="127818" y="63412"/>
                  <a:pt x="136558" y="57946"/>
                  <a:pt x="145297" y="52479"/>
                </a:cubicBezTo>
                <a:cubicBezTo>
                  <a:pt x="155129" y="44826"/>
                  <a:pt x="164962" y="38266"/>
                  <a:pt x="174794" y="30613"/>
                </a:cubicBezTo>
                <a:cubicBezTo>
                  <a:pt x="178072" y="27333"/>
                  <a:pt x="182441" y="26239"/>
                  <a:pt x="186811" y="25146"/>
                </a:cubicBezTo>
                <a:cubicBezTo>
                  <a:pt x="193365" y="25146"/>
                  <a:pt x="198827" y="21867"/>
                  <a:pt x="204290" y="17493"/>
                </a:cubicBezTo>
                <a:cubicBezTo>
                  <a:pt x="214122" y="6560"/>
                  <a:pt x="227232" y="2187"/>
                  <a:pt x="241433" y="1093"/>
                </a:cubicBezTo>
                <a:cubicBezTo>
                  <a:pt x="254544" y="0"/>
                  <a:pt x="268746" y="0"/>
                  <a:pt x="281855" y="4374"/>
                </a:cubicBezTo>
                <a:cubicBezTo>
                  <a:pt x="285133" y="5466"/>
                  <a:pt x="288409" y="7653"/>
                  <a:pt x="291687" y="9840"/>
                </a:cubicBezTo>
                <a:cubicBezTo>
                  <a:pt x="294965" y="10933"/>
                  <a:pt x="296057" y="14213"/>
                  <a:pt x="296057" y="17493"/>
                </a:cubicBezTo>
                <a:cubicBezTo>
                  <a:pt x="296057" y="19680"/>
                  <a:pt x="296057" y="20773"/>
                  <a:pt x="293872" y="22960"/>
                </a:cubicBezTo>
                <a:cubicBezTo>
                  <a:pt x="286225" y="28426"/>
                  <a:pt x="278577" y="33892"/>
                  <a:pt x="270930" y="40453"/>
                </a:cubicBezTo>
                <a:cubicBezTo>
                  <a:pt x="262190" y="47013"/>
                  <a:pt x="253451" y="54666"/>
                  <a:pt x="246896" y="63412"/>
                </a:cubicBezTo>
                <a:cubicBezTo>
                  <a:pt x="243619" y="67786"/>
                  <a:pt x="239249" y="71065"/>
                  <a:pt x="234879" y="73252"/>
                </a:cubicBezTo>
                <a:cubicBezTo>
                  <a:pt x="232694" y="74346"/>
                  <a:pt x="231602" y="75439"/>
                  <a:pt x="230509" y="76533"/>
                </a:cubicBezTo>
                <a:cubicBezTo>
                  <a:pt x="220678" y="86373"/>
                  <a:pt x="211938" y="95119"/>
                  <a:pt x="203197" y="103866"/>
                </a:cubicBezTo>
                <a:cubicBezTo>
                  <a:pt x="201013" y="106053"/>
                  <a:pt x="199921" y="108240"/>
                  <a:pt x="202105" y="1115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7315200" y="1270000"/>
            <a:ext cx="305885" cy="194095"/>
          </a:xfrm>
          <a:custGeom>
            <a:avLst/>
            <a:gdLst/>
            <a:ahLst/>
            <a:cxnLst/>
            <a:rect l="l" t="t" r="r" b="b"/>
            <a:pathLst>
              <a:path w="305885" h="194095">
                <a:moveTo>
                  <a:pt x="17479" y="145026"/>
                </a:moveTo>
                <a:cubicBezTo>
                  <a:pt x="19663" y="140664"/>
                  <a:pt x="17479" y="138483"/>
                  <a:pt x="15295" y="135212"/>
                </a:cubicBezTo>
                <a:cubicBezTo>
                  <a:pt x="9832" y="128670"/>
                  <a:pt x="5462" y="121037"/>
                  <a:pt x="2184" y="112314"/>
                </a:cubicBezTo>
                <a:cubicBezTo>
                  <a:pt x="0" y="103590"/>
                  <a:pt x="1092" y="95957"/>
                  <a:pt x="6554" y="88325"/>
                </a:cubicBezTo>
                <a:cubicBezTo>
                  <a:pt x="9832" y="85053"/>
                  <a:pt x="13109" y="82873"/>
                  <a:pt x="17479" y="83962"/>
                </a:cubicBezTo>
                <a:cubicBezTo>
                  <a:pt x="19663" y="83962"/>
                  <a:pt x="21849" y="82873"/>
                  <a:pt x="24033" y="83962"/>
                </a:cubicBezTo>
                <a:cubicBezTo>
                  <a:pt x="31681" y="86143"/>
                  <a:pt x="39328" y="82873"/>
                  <a:pt x="43698" y="77420"/>
                </a:cubicBezTo>
                <a:cubicBezTo>
                  <a:pt x="48067" y="73058"/>
                  <a:pt x="53529" y="70877"/>
                  <a:pt x="58992" y="69786"/>
                </a:cubicBezTo>
                <a:cubicBezTo>
                  <a:pt x="62269" y="69786"/>
                  <a:pt x="65546" y="67606"/>
                  <a:pt x="68824" y="66516"/>
                </a:cubicBezTo>
                <a:cubicBezTo>
                  <a:pt x="97227" y="51250"/>
                  <a:pt x="126723" y="38165"/>
                  <a:pt x="157312" y="27261"/>
                </a:cubicBezTo>
                <a:cubicBezTo>
                  <a:pt x="166051" y="23989"/>
                  <a:pt x="175884" y="20718"/>
                  <a:pt x="184622" y="17447"/>
                </a:cubicBezTo>
                <a:cubicBezTo>
                  <a:pt x="190085" y="15265"/>
                  <a:pt x="196639" y="15265"/>
                  <a:pt x="203195" y="14176"/>
                </a:cubicBezTo>
                <a:cubicBezTo>
                  <a:pt x="211934" y="13085"/>
                  <a:pt x="219580" y="11995"/>
                  <a:pt x="228321" y="9813"/>
                </a:cubicBezTo>
                <a:cubicBezTo>
                  <a:pt x="233783" y="8724"/>
                  <a:pt x="239245" y="5452"/>
                  <a:pt x="244707" y="3272"/>
                </a:cubicBezTo>
                <a:cubicBezTo>
                  <a:pt x="247984" y="1091"/>
                  <a:pt x="251262" y="0"/>
                  <a:pt x="254540" y="0"/>
                </a:cubicBezTo>
                <a:cubicBezTo>
                  <a:pt x="266556" y="0"/>
                  <a:pt x="278573" y="1091"/>
                  <a:pt x="289498" y="5452"/>
                </a:cubicBezTo>
                <a:cubicBezTo>
                  <a:pt x="301515" y="9813"/>
                  <a:pt x="305885" y="20718"/>
                  <a:pt x="299329" y="31622"/>
                </a:cubicBezTo>
                <a:cubicBezTo>
                  <a:pt x="294960" y="41436"/>
                  <a:pt x="287312" y="49069"/>
                  <a:pt x="279665" y="54521"/>
                </a:cubicBezTo>
                <a:cubicBezTo>
                  <a:pt x="275295" y="57793"/>
                  <a:pt x="272019" y="57793"/>
                  <a:pt x="267649" y="57793"/>
                </a:cubicBezTo>
                <a:cubicBezTo>
                  <a:pt x="257816" y="58882"/>
                  <a:pt x="249077" y="59973"/>
                  <a:pt x="240337" y="61064"/>
                </a:cubicBezTo>
                <a:cubicBezTo>
                  <a:pt x="238153" y="62154"/>
                  <a:pt x="234875" y="62154"/>
                  <a:pt x="232691" y="63245"/>
                </a:cubicBezTo>
                <a:cubicBezTo>
                  <a:pt x="228321" y="65425"/>
                  <a:pt x="227228" y="68697"/>
                  <a:pt x="227228" y="73058"/>
                </a:cubicBezTo>
                <a:cubicBezTo>
                  <a:pt x="227228" y="76330"/>
                  <a:pt x="228321" y="79601"/>
                  <a:pt x="229413" y="82873"/>
                </a:cubicBezTo>
                <a:cubicBezTo>
                  <a:pt x="232691" y="89414"/>
                  <a:pt x="234875" y="94866"/>
                  <a:pt x="238153" y="100319"/>
                </a:cubicBezTo>
                <a:cubicBezTo>
                  <a:pt x="241430" y="109042"/>
                  <a:pt x="244707" y="116675"/>
                  <a:pt x="244707" y="125399"/>
                </a:cubicBezTo>
                <a:cubicBezTo>
                  <a:pt x="244707" y="137394"/>
                  <a:pt x="243615" y="148298"/>
                  <a:pt x="240337" y="159202"/>
                </a:cubicBezTo>
                <a:cubicBezTo>
                  <a:pt x="235967" y="171196"/>
                  <a:pt x="228321" y="176648"/>
                  <a:pt x="215212" y="177739"/>
                </a:cubicBezTo>
                <a:cubicBezTo>
                  <a:pt x="211934" y="177739"/>
                  <a:pt x="209749" y="177739"/>
                  <a:pt x="206472" y="177739"/>
                </a:cubicBezTo>
                <a:cubicBezTo>
                  <a:pt x="203195" y="177739"/>
                  <a:pt x="199917" y="177739"/>
                  <a:pt x="197733" y="182100"/>
                </a:cubicBezTo>
                <a:cubicBezTo>
                  <a:pt x="196639" y="183191"/>
                  <a:pt x="195547" y="184281"/>
                  <a:pt x="194455" y="185372"/>
                </a:cubicBezTo>
                <a:cubicBezTo>
                  <a:pt x="186808" y="191915"/>
                  <a:pt x="179160" y="194095"/>
                  <a:pt x="170421" y="190824"/>
                </a:cubicBezTo>
                <a:cubicBezTo>
                  <a:pt x="164959" y="187552"/>
                  <a:pt x="158405" y="184281"/>
                  <a:pt x="152942" y="181011"/>
                </a:cubicBezTo>
                <a:cubicBezTo>
                  <a:pt x="148572" y="177739"/>
                  <a:pt x="144202" y="176648"/>
                  <a:pt x="137648" y="176648"/>
                </a:cubicBezTo>
                <a:cubicBezTo>
                  <a:pt x="135463" y="176648"/>
                  <a:pt x="132185" y="177739"/>
                  <a:pt x="130001" y="174468"/>
                </a:cubicBezTo>
                <a:cubicBezTo>
                  <a:pt x="126723" y="171196"/>
                  <a:pt x="124539" y="167924"/>
                  <a:pt x="123447" y="163563"/>
                </a:cubicBezTo>
                <a:cubicBezTo>
                  <a:pt x="122353" y="161383"/>
                  <a:pt x="123447" y="160292"/>
                  <a:pt x="125631" y="160292"/>
                </a:cubicBezTo>
                <a:cubicBezTo>
                  <a:pt x="127815" y="160292"/>
                  <a:pt x="131093" y="160292"/>
                  <a:pt x="133278" y="160292"/>
                </a:cubicBezTo>
                <a:cubicBezTo>
                  <a:pt x="149664" y="161383"/>
                  <a:pt x="166051" y="159202"/>
                  <a:pt x="181346" y="153750"/>
                </a:cubicBezTo>
                <a:cubicBezTo>
                  <a:pt x="188993" y="150478"/>
                  <a:pt x="195547" y="146116"/>
                  <a:pt x="202101" y="140664"/>
                </a:cubicBezTo>
                <a:cubicBezTo>
                  <a:pt x="205379" y="137394"/>
                  <a:pt x="206472" y="134122"/>
                  <a:pt x="205379" y="130851"/>
                </a:cubicBezTo>
                <a:cubicBezTo>
                  <a:pt x="204287" y="121037"/>
                  <a:pt x="203195" y="111223"/>
                  <a:pt x="202101" y="100319"/>
                </a:cubicBezTo>
                <a:cubicBezTo>
                  <a:pt x="201009" y="94866"/>
                  <a:pt x="201009" y="89414"/>
                  <a:pt x="201009" y="83962"/>
                </a:cubicBezTo>
                <a:cubicBezTo>
                  <a:pt x="201009" y="79601"/>
                  <a:pt x="199917" y="77420"/>
                  <a:pt x="195547" y="77420"/>
                </a:cubicBezTo>
                <a:cubicBezTo>
                  <a:pt x="188993" y="76330"/>
                  <a:pt x="183530" y="76330"/>
                  <a:pt x="178068" y="81782"/>
                </a:cubicBezTo>
                <a:cubicBezTo>
                  <a:pt x="176976" y="82873"/>
                  <a:pt x="174791" y="83962"/>
                  <a:pt x="172606" y="86143"/>
                </a:cubicBezTo>
                <a:cubicBezTo>
                  <a:pt x="168236" y="88325"/>
                  <a:pt x="163867" y="90505"/>
                  <a:pt x="158405" y="89414"/>
                </a:cubicBezTo>
                <a:cubicBezTo>
                  <a:pt x="146388" y="89414"/>
                  <a:pt x="135463" y="92686"/>
                  <a:pt x="126723" y="99229"/>
                </a:cubicBezTo>
                <a:cubicBezTo>
                  <a:pt x="113614" y="109042"/>
                  <a:pt x="100505" y="118855"/>
                  <a:pt x="87395" y="128670"/>
                </a:cubicBezTo>
                <a:cubicBezTo>
                  <a:pt x="77564" y="135212"/>
                  <a:pt x="67732" y="142846"/>
                  <a:pt x="56807" y="147207"/>
                </a:cubicBezTo>
                <a:cubicBezTo>
                  <a:pt x="45883" y="151568"/>
                  <a:pt x="34958" y="152659"/>
                  <a:pt x="24033" y="148298"/>
                </a:cubicBezTo>
                <a:cubicBezTo>
                  <a:pt x="21849" y="148298"/>
                  <a:pt x="20757" y="147207"/>
                  <a:pt x="19663" y="146116"/>
                </a:cubicBezTo>
                <a:cubicBezTo>
                  <a:pt x="18571" y="146116"/>
                  <a:pt x="18571" y="146116"/>
                  <a:pt x="17479" y="14502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6324600" y="1028700"/>
            <a:ext cx="232178" cy="124074"/>
          </a:xfrm>
          <a:custGeom>
            <a:avLst/>
            <a:gdLst/>
            <a:ahLst/>
            <a:cxnLst/>
            <a:rect l="l" t="t" r="r" b="b"/>
            <a:pathLst>
              <a:path w="232178" h="124074">
                <a:moveTo>
                  <a:pt x="215749" y="0"/>
                </a:moveTo>
                <a:cubicBezTo>
                  <a:pt x="217940" y="0"/>
                  <a:pt x="221225" y="0"/>
                  <a:pt x="224511" y="0"/>
                </a:cubicBezTo>
                <a:cubicBezTo>
                  <a:pt x="228892" y="1088"/>
                  <a:pt x="232178" y="5442"/>
                  <a:pt x="231082" y="9796"/>
                </a:cubicBezTo>
                <a:cubicBezTo>
                  <a:pt x="226701" y="19591"/>
                  <a:pt x="219034" y="27210"/>
                  <a:pt x="209178" y="31563"/>
                </a:cubicBezTo>
                <a:cubicBezTo>
                  <a:pt x="206988" y="31563"/>
                  <a:pt x="205892" y="31563"/>
                  <a:pt x="204798" y="31563"/>
                </a:cubicBezTo>
                <a:cubicBezTo>
                  <a:pt x="199321" y="30475"/>
                  <a:pt x="194941" y="32650"/>
                  <a:pt x="190561" y="35916"/>
                </a:cubicBezTo>
                <a:cubicBezTo>
                  <a:pt x="173038" y="46800"/>
                  <a:pt x="157705" y="58772"/>
                  <a:pt x="144563" y="72921"/>
                </a:cubicBezTo>
                <a:cubicBezTo>
                  <a:pt x="135801" y="81628"/>
                  <a:pt x="127041" y="90335"/>
                  <a:pt x="119374" y="99041"/>
                </a:cubicBezTo>
                <a:cubicBezTo>
                  <a:pt x="108422" y="111013"/>
                  <a:pt x="94184" y="119720"/>
                  <a:pt x="77757" y="121897"/>
                </a:cubicBezTo>
                <a:cubicBezTo>
                  <a:pt x="66806" y="124074"/>
                  <a:pt x="54759" y="121897"/>
                  <a:pt x="43807" y="117544"/>
                </a:cubicBezTo>
                <a:cubicBezTo>
                  <a:pt x="31760" y="113190"/>
                  <a:pt x="20809" y="106660"/>
                  <a:pt x="9856" y="97953"/>
                </a:cubicBezTo>
                <a:cubicBezTo>
                  <a:pt x="9856" y="97953"/>
                  <a:pt x="9856" y="96864"/>
                  <a:pt x="8762" y="96864"/>
                </a:cubicBezTo>
                <a:cubicBezTo>
                  <a:pt x="0" y="88158"/>
                  <a:pt x="2191" y="76186"/>
                  <a:pt x="12047" y="69656"/>
                </a:cubicBezTo>
                <a:cubicBezTo>
                  <a:pt x="13142" y="68567"/>
                  <a:pt x="15333" y="68567"/>
                  <a:pt x="16427" y="67479"/>
                </a:cubicBezTo>
                <a:cubicBezTo>
                  <a:pt x="52568" y="53330"/>
                  <a:pt x="88710" y="39181"/>
                  <a:pt x="124850" y="25033"/>
                </a:cubicBezTo>
                <a:cubicBezTo>
                  <a:pt x="130326" y="22856"/>
                  <a:pt x="136897" y="20679"/>
                  <a:pt x="142372" y="19591"/>
                </a:cubicBezTo>
                <a:cubicBezTo>
                  <a:pt x="155515" y="16326"/>
                  <a:pt x="167561" y="13061"/>
                  <a:pt x="179608" y="7619"/>
                </a:cubicBezTo>
                <a:cubicBezTo>
                  <a:pt x="191656" y="2177"/>
                  <a:pt x="203703" y="0"/>
                  <a:pt x="215749"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6400800" y="876300"/>
            <a:ext cx="124074" cy="137587"/>
          </a:xfrm>
          <a:custGeom>
            <a:avLst/>
            <a:gdLst/>
            <a:ahLst/>
            <a:cxnLst/>
            <a:rect l="l" t="t" r="r" b="b"/>
            <a:pathLst>
              <a:path w="124074" h="137587">
                <a:moveTo>
                  <a:pt x="124074" y="76437"/>
                </a:moveTo>
                <a:cubicBezTo>
                  <a:pt x="124074" y="86265"/>
                  <a:pt x="118632" y="93909"/>
                  <a:pt x="109925" y="99369"/>
                </a:cubicBezTo>
                <a:cubicBezTo>
                  <a:pt x="102306" y="103736"/>
                  <a:pt x="93600" y="105921"/>
                  <a:pt x="84893" y="105921"/>
                </a:cubicBezTo>
                <a:cubicBezTo>
                  <a:pt x="69656" y="105921"/>
                  <a:pt x="71832" y="107013"/>
                  <a:pt x="63125" y="115748"/>
                </a:cubicBezTo>
                <a:cubicBezTo>
                  <a:pt x="56595" y="121208"/>
                  <a:pt x="50065" y="126667"/>
                  <a:pt x="43534" y="132127"/>
                </a:cubicBezTo>
                <a:cubicBezTo>
                  <a:pt x="41358" y="134311"/>
                  <a:pt x="38092" y="135404"/>
                  <a:pt x="33739" y="136495"/>
                </a:cubicBezTo>
                <a:cubicBezTo>
                  <a:pt x="30475" y="137587"/>
                  <a:pt x="27210" y="136495"/>
                  <a:pt x="25033" y="133219"/>
                </a:cubicBezTo>
                <a:cubicBezTo>
                  <a:pt x="23945" y="128852"/>
                  <a:pt x="22856" y="125575"/>
                  <a:pt x="25033" y="122300"/>
                </a:cubicBezTo>
                <a:cubicBezTo>
                  <a:pt x="35916" y="107013"/>
                  <a:pt x="35916" y="90632"/>
                  <a:pt x="28298" y="74253"/>
                </a:cubicBezTo>
                <a:cubicBezTo>
                  <a:pt x="25033" y="66609"/>
                  <a:pt x="20679" y="61149"/>
                  <a:pt x="17414" y="54599"/>
                </a:cubicBezTo>
                <a:cubicBezTo>
                  <a:pt x="15237" y="50230"/>
                  <a:pt x="13061" y="46954"/>
                  <a:pt x="11972" y="42587"/>
                </a:cubicBezTo>
                <a:cubicBezTo>
                  <a:pt x="9796" y="36035"/>
                  <a:pt x="7619" y="29483"/>
                  <a:pt x="3265" y="22931"/>
                </a:cubicBezTo>
                <a:cubicBezTo>
                  <a:pt x="0" y="18564"/>
                  <a:pt x="0" y="13104"/>
                  <a:pt x="3265" y="6552"/>
                </a:cubicBezTo>
                <a:cubicBezTo>
                  <a:pt x="5442" y="2184"/>
                  <a:pt x="8707" y="0"/>
                  <a:pt x="13061" y="0"/>
                </a:cubicBezTo>
                <a:cubicBezTo>
                  <a:pt x="15237" y="0"/>
                  <a:pt x="17414" y="1092"/>
                  <a:pt x="19591" y="1092"/>
                </a:cubicBezTo>
                <a:cubicBezTo>
                  <a:pt x="31563" y="3275"/>
                  <a:pt x="43534" y="7644"/>
                  <a:pt x="54418" y="13104"/>
                </a:cubicBezTo>
                <a:cubicBezTo>
                  <a:pt x="67479" y="20747"/>
                  <a:pt x="80540" y="27299"/>
                  <a:pt x="93600" y="33851"/>
                </a:cubicBezTo>
                <a:cubicBezTo>
                  <a:pt x="102306" y="39310"/>
                  <a:pt x="109925" y="44770"/>
                  <a:pt x="115367" y="52414"/>
                </a:cubicBezTo>
                <a:cubicBezTo>
                  <a:pt x="120809" y="58966"/>
                  <a:pt x="124074" y="66609"/>
                  <a:pt x="124074" y="7643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7353300" y="990600"/>
            <a:ext cx="121616" cy="164614"/>
          </a:xfrm>
          <a:custGeom>
            <a:avLst/>
            <a:gdLst/>
            <a:ahLst/>
            <a:cxnLst/>
            <a:rect l="l" t="t" r="r" b="b"/>
            <a:pathLst>
              <a:path w="121616" h="164614">
                <a:moveTo>
                  <a:pt x="121616" y="129496"/>
                </a:moveTo>
                <a:cubicBezTo>
                  <a:pt x="120522" y="131690"/>
                  <a:pt x="119426" y="134983"/>
                  <a:pt x="118330" y="137178"/>
                </a:cubicBezTo>
                <a:cubicBezTo>
                  <a:pt x="112852" y="143761"/>
                  <a:pt x="108469" y="149249"/>
                  <a:pt x="102991" y="155834"/>
                </a:cubicBezTo>
                <a:cubicBezTo>
                  <a:pt x="98608" y="160223"/>
                  <a:pt x="94226" y="162418"/>
                  <a:pt x="87652" y="163515"/>
                </a:cubicBezTo>
                <a:cubicBezTo>
                  <a:pt x="82174" y="164614"/>
                  <a:pt x="79982" y="163515"/>
                  <a:pt x="78887" y="158029"/>
                </a:cubicBezTo>
                <a:cubicBezTo>
                  <a:pt x="76695" y="148152"/>
                  <a:pt x="74505" y="138275"/>
                  <a:pt x="72313" y="128398"/>
                </a:cubicBezTo>
                <a:cubicBezTo>
                  <a:pt x="70122" y="118521"/>
                  <a:pt x="69026" y="108645"/>
                  <a:pt x="64643" y="98768"/>
                </a:cubicBezTo>
                <a:cubicBezTo>
                  <a:pt x="62452" y="93280"/>
                  <a:pt x="59165" y="87794"/>
                  <a:pt x="54783" y="82306"/>
                </a:cubicBezTo>
                <a:cubicBezTo>
                  <a:pt x="43826" y="69138"/>
                  <a:pt x="31774" y="55969"/>
                  <a:pt x="20818" y="43896"/>
                </a:cubicBezTo>
                <a:cubicBezTo>
                  <a:pt x="16435" y="38410"/>
                  <a:pt x="12052" y="34019"/>
                  <a:pt x="6574" y="29630"/>
                </a:cubicBezTo>
                <a:cubicBezTo>
                  <a:pt x="1096" y="24143"/>
                  <a:pt x="0" y="18656"/>
                  <a:pt x="0" y="10974"/>
                </a:cubicBezTo>
                <a:cubicBezTo>
                  <a:pt x="0" y="9877"/>
                  <a:pt x="0" y="9877"/>
                  <a:pt x="0" y="8780"/>
                </a:cubicBezTo>
                <a:cubicBezTo>
                  <a:pt x="2191" y="1097"/>
                  <a:pt x="3287" y="0"/>
                  <a:pt x="9860" y="2195"/>
                </a:cubicBezTo>
                <a:cubicBezTo>
                  <a:pt x="13148" y="4389"/>
                  <a:pt x="16435" y="5488"/>
                  <a:pt x="19722" y="7682"/>
                </a:cubicBezTo>
                <a:cubicBezTo>
                  <a:pt x="23009" y="10974"/>
                  <a:pt x="26295" y="13169"/>
                  <a:pt x="29582" y="16462"/>
                </a:cubicBezTo>
                <a:cubicBezTo>
                  <a:pt x="35061" y="21948"/>
                  <a:pt x="41634" y="26339"/>
                  <a:pt x="48208" y="28533"/>
                </a:cubicBezTo>
                <a:cubicBezTo>
                  <a:pt x="66835" y="36215"/>
                  <a:pt x="81078" y="47189"/>
                  <a:pt x="93130" y="62553"/>
                </a:cubicBezTo>
                <a:cubicBezTo>
                  <a:pt x="107373" y="80112"/>
                  <a:pt x="117235" y="100962"/>
                  <a:pt x="120522" y="125106"/>
                </a:cubicBezTo>
                <a:cubicBezTo>
                  <a:pt x="120522" y="126204"/>
                  <a:pt x="120522" y="127301"/>
                  <a:pt x="120522" y="128398"/>
                </a:cubicBezTo>
                <a:cubicBezTo>
                  <a:pt x="120522" y="128398"/>
                  <a:pt x="120522" y="129496"/>
                  <a:pt x="121616" y="12949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6502400" y="1308100"/>
            <a:ext cx="88449" cy="108104"/>
          </a:xfrm>
          <a:custGeom>
            <a:avLst/>
            <a:gdLst/>
            <a:ahLst/>
            <a:cxnLst/>
            <a:rect l="l" t="t" r="r" b="b"/>
            <a:pathLst>
              <a:path w="88449" h="108104">
                <a:moveTo>
                  <a:pt x="0" y="19656"/>
                </a:moveTo>
                <a:cubicBezTo>
                  <a:pt x="1092" y="16379"/>
                  <a:pt x="1092" y="13104"/>
                  <a:pt x="1092" y="9827"/>
                </a:cubicBezTo>
                <a:cubicBezTo>
                  <a:pt x="2184" y="4368"/>
                  <a:pt x="5460" y="1092"/>
                  <a:pt x="12012" y="1092"/>
                </a:cubicBezTo>
                <a:cubicBezTo>
                  <a:pt x="27299" y="0"/>
                  <a:pt x="42587" y="2184"/>
                  <a:pt x="54599" y="13104"/>
                </a:cubicBezTo>
                <a:cubicBezTo>
                  <a:pt x="67701" y="22931"/>
                  <a:pt x="76437" y="34943"/>
                  <a:pt x="85173" y="48047"/>
                </a:cubicBezTo>
                <a:cubicBezTo>
                  <a:pt x="86265" y="50230"/>
                  <a:pt x="87357" y="53506"/>
                  <a:pt x="87357" y="55690"/>
                </a:cubicBezTo>
                <a:cubicBezTo>
                  <a:pt x="88449" y="66609"/>
                  <a:pt x="87357" y="76437"/>
                  <a:pt x="84082" y="86265"/>
                </a:cubicBezTo>
                <a:cubicBezTo>
                  <a:pt x="80805" y="97184"/>
                  <a:pt x="62241" y="108104"/>
                  <a:pt x="46954" y="100461"/>
                </a:cubicBezTo>
                <a:cubicBezTo>
                  <a:pt x="41495" y="97184"/>
                  <a:pt x="36035" y="93909"/>
                  <a:pt x="32758" y="88449"/>
                </a:cubicBezTo>
                <a:cubicBezTo>
                  <a:pt x="26208" y="80805"/>
                  <a:pt x="19656" y="73161"/>
                  <a:pt x="13104" y="65518"/>
                </a:cubicBezTo>
                <a:cubicBezTo>
                  <a:pt x="4368" y="53506"/>
                  <a:pt x="2184" y="40403"/>
                  <a:pt x="1092" y="26206"/>
                </a:cubicBezTo>
                <a:cubicBezTo>
                  <a:pt x="1092" y="24023"/>
                  <a:pt x="1092" y="21839"/>
                  <a:pt x="1092" y="19656"/>
                </a:cubicBezTo>
                <a:cubicBezTo>
                  <a:pt x="1092" y="19656"/>
                  <a:pt x="1092" y="19656"/>
                  <a:pt x="0" y="1965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7073900" y="1282700"/>
            <a:ext cx="94591" cy="109332"/>
          </a:xfrm>
          <a:custGeom>
            <a:avLst/>
            <a:gdLst/>
            <a:ahLst/>
            <a:cxnLst/>
            <a:rect l="l" t="t" r="r" b="b"/>
            <a:pathLst>
              <a:path w="94591" h="109332">
                <a:moveTo>
                  <a:pt x="41316" y="109332"/>
                </a:moveTo>
                <a:cubicBezTo>
                  <a:pt x="36967" y="108238"/>
                  <a:pt x="33705" y="108238"/>
                  <a:pt x="29356" y="107145"/>
                </a:cubicBezTo>
                <a:cubicBezTo>
                  <a:pt x="26095" y="106053"/>
                  <a:pt x="23919" y="102772"/>
                  <a:pt x="23919" y="99492"/>
                </a:cubicBezTo>
                <a:cubicBezTo>
                  <a:pt x="25006" y="88558"/>
                  <a:pt x="21745" y="79812"/>
                  <a:pt x="18484" y="71065"/>
                </a:cubicBezTo>
                <a:cubicBezTo>
                  <a:pt x="11960" y="53572"/>
                  <a:pt x="4348" y="36079"/>
                  <a:pt x="1087" y="17493"/>
                </a:cubicBezTo>
                <a:cubicBezTo>
                  <a:pt x="0" y="13120"/>
                  <a:pt x="0" y="8746"/>
                  <a:pt x="0" y="4374"/>
                </a:cubicBezTo>
                <a:cubicBezTo>
                  <a:pt x="0" y="2187"/>
                  <a:pt x="2174" y="0"/>
                  <a:pt x="4348" y="0"/>
                </a:cubicBezTo>
                <a:cubicBezTo>
                  <a:pt x="7611" y="0"/>
                  <a:pt x="10872" y="0"/>
                  <a:pt x="13047" y="0"/>
                </a:cubicBezTo>
                <a:cubicBezTo>
                  <a:pt x="16309" y="1093"/>
                  <a:pt x="19571" y="2187"/>
                  <a:pt x="21745" y="4374"/>
                </a:cubicBezTo>
                <a:cubicBezTo>
                  <a:pt x="26095" y="7653"/>
                  <a:pt x="30443" y="9840"/>
                  <a:pt x="33705" y="13120"/>
                </a:cubicBezTo>
                <a:cubicBezTo>
                  <a:pt x="45664" y="24053"/>
                  <a:pt x="58712" y="33892"/>
                  <a:pt x="70672" y="44826"/>
                </a:cubicBezTo>
                <a:cubicBezTo>
                  <a:pt x="76107" y="49200"/>
                  <a:pt x="80457" y="55759"/>
                  <a:pt x="84806" y="61225"/>
                </a:cubicBezTo>
                <a:cubicBezTo>
                  <a:pt x="94591" y="75439"/>
                  <a:pt x="92417" y="85279"/>
                  <a:pt x="79370" y="95119"/>
                </a:cubicBezTo>
                <a:cubicBezTo>
                  <a:pt x="69585" y="103866"/>
                  <a:pt x="54362" y="109332"/>
                  <a:pt x="41316" y="1093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7340600" y="1130300"/>
            <a:ext cx="49138" cy="94591"/>
          </a:xfrm>
          <a:custGeom>
            <a:avLst/>
            <a:gdLst/>
            <a:ahLst/>
            <a:cxnLst/>
            <a:rect l="l" t="t" r="r" b="b"/>
            <a:pathLst>
              <a:path w="49138" h="94591">
                <a:moveTo>
                  <a:pt x="6701" y="61973"/>
                </a:moveTo>
                <a:cubicBezTo>
                  <a:pt x="7817" y="42403"/>
                  <a:pt x="5584" y="25006"/>
                  <a:pt x="2234" y="8698"/>
                </a:cubicBezTo>
                <a:cubicBezTo>
                  <a:pt x="1116" y="6524"/>
                  <a:pt x="0" y="3261"/>
                  <a:pt x="3350" y="2174"/>
                </a:cubicBezTo>
                <a:cubicBezTo>
                  <a:pt x="5584" y="0"/>
                  <a:pt x="7817" y="0"/>
                  <a:pt x="11167" y="2174"/>
                </a:cubicBezTo>
                <a:cubicBezTo>
                  <a:pt x="13401" y="3261"/>
                  <a:pt x="15635" y="4348"/>
                  <a:pt x="16751" y="6524"/>
                </a:cubicBezTo>
                <a:cubicBezTo>
                  <a:pt x="22335" y="11960"/>
                  <a:pt x="27920" y="18484"/>
                  <a:pt x="32386" y="23919"/>
                </a:cubicBezTo>
                <a:cubicBezTo>
                  <a:pt x="36854" y="29356"/>
                  <a:pt x="40204" y="34792"/>
                  <a:pt x="43555" y="39141"/>
                </a:cubicBezTo>
                <a:cubicBezTo>
                  <a:pt x="46905" y="44577"/>
                  <a:pt x="49138" y="50014"/>
                  <a:pt x="48021" y="56537"/>
                </a:cubicBezTo>
                <a:cubicBezTo>
                  <a:pt x="46905" y="64148"/>
                  <a:pt x="45787" y="72846"/>
                  <a:pt x="42437" y="80457"/>
                </a:cubicBezTo>
                <a:cubicBezTo>
                  <a:pt x="36854" y="90242"/>
                  <a:pt x="30152" y="94591"/>
                  <a:pt x="17869" y="94591"/>
                </a:cubicBezTo>
                <a:cubicBezTo>
                  <a:pt x="13401" y="94591"/>
                  <a:pt x="11167" y="92417"/>
                  <a:pt x="8934" y="88067"/>
                </a:cubicBezTo>
                <a:cubicBezTo>
                  <a:pt x="6701" y="82631"/>
                  <a:pt x="6701" y="77194"/>
                  <a:pt x="6701" y="70672"/>
                </a:cubicBezTo>
                <a:cubicBezTo>
                  <a:pt x="6701" y="67409"/>
                  <a:pt x="6701" y="64148"/>
                  <a:pt x="6701" y="6197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4470400" y="800100"/>
            <a:ext cx="960650" cy="958411"/>
          </a:xfrm>
          <a:custGeom>
            <a:avLst/>
            <a:gdLst/>
            <a:ahLst/>
            <a:cxnLst/>
            <a:rect l="l" t="t" r="r" b="b"/>
            <a:pathLst>
              <a:path w="960650" h="958411">
                <a:moveTo>
                  <a:pt x="0" y="462784"/>
                </a:moveTo>
                <a:cubicBezTo>
                  <a:pt x="0" y="458803"/>
                  <a:pt x="996" y="454821"/>
                  <a:pt x="996" y="450841"/>
                </a:cubicBezTo>
                <a:cubicBezTo>
                  <a:pt x="2987" y="427951"/>
                  <a:pt x="5973" y="405060"/>
                  <a:pt x="9956" y="382170"/>
                </a:cubicBezTo>
                <a:cubicBezTo>
                  <a:pt x="18914" y="342360"/>
                  <a:pt x="31855" y="304541"/>
                  <a:pt x="49775" y="267717"/>
                </a:cubicBezTo>
                <a:cubicBezTo>
                  <a:pt x="88599" y="189094"/>
                  <a:pt x="145341" y="126394"/>
                  <a:pt x="219008" y="77629"/>
                </a:cubicBezTo>
                <a:cubicBezTo>
                  <a:pt x="263806" y="47771"/>
                  <a:pt x="313580" y="26872"/>
                  <a:pt x="366340" y="13933"/>
                </a:cubicBezTo>
                <a:cubicBezTo>
                  <a:pt x="396206" y="5972"/>
                  <a:pt x="427065" y="1990"/>
                  <a:pt x="456931" y="996"/>
                </a:cubicBezTo>
                <a:cubicBezTo>
                  <a:pt x="458921" y="996"/>
                  <a:pt x="460912" y="0"/>
                  <a:pt x="462904" y="0"/>
                </a:cubicBezTo>
                <a:cubicBezTo>
                  <a:pt x="473854" y="0"/>
                  <a:pt x="484805" y="0"/>
                  <a:pt x="495755" y="0"/>
                </a:cubicBezTo>
                <a:cubicBezTo>
                  <a:pt x="497746" y="0"/>
                  <a:pt x="498742" y="996"/>
                  <a:pt x="500732" y="996"/>
                </a:cubicBezTo>
                <a:cubicBezTo>
                  <a:pt x="589331" y="4976"/>
                  <a:pt x="669966" y="30852"/>
                  <a:pt x="742636" y="79619"/>
                </a:cubicBezTo>
                <a:cubicBezTo>
                  <a:pt x="837208" y="142319"/>
                  <a:pt x="901915" y="227909"/>
                  <a:pt x="936757" y="336389"/>
                </a:cubicBezTo>
                <a:cubicBezTo>
                  <a:pt x="947707" y="371222"/>
                  <a:pt x="954676" y="408046"/>
                  <a:pt x="957663" y="444870"/>
                </a:cubicBezTo>
                <a:cubicBezTo>
                  <a:pt x="960650" y="500602"/>
                  <a:pt x="955671" y="555341"/>
                  <a:pt x="940740" y="609083"/>
                </a:cubicBezTo>
                <a:cubicBezTo>
                  <a:pt x="922820" y="670787"/>
                  <a:pt x="892956" y="727516"/>
                  <a:pt x="853136" y="778273"/>
                </a:cubicBezTo>
                <a:cubicBezTo>
                  <a:pt x="815307" y="825049"/>
                  <a:pt x="770510" y="862867"/>
                  <a:pt x="718745" y="892725"/>
                </a:cubicBezTo>
                <a:cubicBezTo>
                  <a:pt x="675938" y="918601"/>
                  <a:pt x="630146" y="935520"/>
                  <a:pt x="581367" y="946468"/>
                </a:cubicBezTo>
                <a:cubicBezTo>
                  <a:pt x="554488" y="952439"/>
                  <a:pt x="527610" y="955425"/>
                  <a:pt x="499736" y="957415"/>
                </a:cubicBezTo>
                <a:cubicBezTo>
                  <a:pt x="497746" y="957415"/>
                  <a:pt x="495755" y="957415"/>
                  <a:pt x="494759" y="958411"/>
                </a:cubicBezTo>
                <a:cubicBezTo>
                  <a:pt x="484805" y="958411"/>
                  <a:pt x="473854" y="958411"/>
                  <a:pt x="463899" y="958411"/>
                </a:cubicBezTo>
                <a:cubicBezTo>
                  <a:pt x="457926" y="957415"/>
                  <a:pt x="452948" y="956419"/>
                  <a:pt x="446975" y="956419"/>
                </a:cubicBezTo>
                <a:cubicBezTo>
                  <a:pt x="407156" y="953433"/>
                  <a:pt x="368332" y="946468"/>
                  <a:pt x="330504" y="933529"/>
                </a:cubicBezTo>
                <a:cubicBezTo>
                  <a:pt x="205071" y="890734"/>
                  <a:pt x="111495" y="810120"/>
                  <a:pt x="50770" y="691688"/>
                </a:cubicBezTo>
                <a:cubicBezTo>
                  <a:pt x="29865" y="650883"/>
                  <a:pt x="15928" y="607093"/>
                  <a:pt x="7964" y="561312"/>
                </a:cubicBezTo>
                <a:cubicBezTo>
                  <a:pt x="3981" y="543397"/>
                  <a:pt x="1991" y="525483"/>
                  <a:pt x="996" y="507569"/>
                </a:cubicBezTo>
                <a:cubicBezTo>
                  <a:pt x="996" y="503588"/>
                  <a:pt x="0" y="498612"/>
                  <a:pt x="0" y="494631"/>
                </a:cubicBezTo>
                <a:cubicBezTo>
                  <a:pt x="0" y="483683"/>
                  <a:pt x="0" y="472736"/>
                  <a:pt x="0" y="462784"/>
                </a:cubicBezTo>
                <a:close/>
                <a:moveTo>
                  <a:pt x="478831" y="941492"/>
                </a:moveTo>
                <a:cubicBezTo>
                  <a:pt x="734672" y="941492"/>
                  <a:pt x="941734" y="732492"/>
                  <a:pt x="941734" y="478707"/>
                </a:cubicBezTo>
                <a:cubicBezTo>
                  <a:pt x="942730" y="226913"/>
                  <a:pt x="736664" y="16919"/>
                  <a:pt x="479826" y="16919"/>
                </a:cubicBezTo>
                <a:cubicBezTo>
                  <a:pt x="224980" y="15923"/>
                  <a:pt x="16923" y="223928"/>
                  <a:pt x="16923" y="477712"/>
                </a:cubicBezTo>
                <a:cubicBezTo>
                  <a:pt x="15928" y="732492"/>
                  <a:pt x="223986" y="940496"/>
                  <a:pt x="478831" y="9414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4597400" y="927100"/>
            <a:ext cx="708731" cy="707611"/>
          </a:xfrm>
          <a:custGeom>
            <a:avLst/>
            <a:gdLst/>
            <a:ahLst/>
            <a:cxnLst/>
            <a:rect l="l" t="t" r="r" b="b"/>
            <a:pathLst>
              <a:path w="708731" h="707611">
                <a:moveTo>
                  <a:pt x="708731" y="354303"/>
                </a:moveTo>
                <a:cubicBezTo>
                  <a:pt x="708731" y="549369"/>
                  <a:pt x="549242" y="707611"/>
                  <a:pt x="353868" y="707611"/>
                </a:cubicBezTo>
                <a:cubicBezTo>
                  <a:pt x="158492" y="707611"/>
                  <a:pt x="997" y="548373"/>
                  <a:pt x="0" y="355298"/>
                </a:cubicBezTo>
                <a:cubicBezTo>
                  <a:pt x="0" y="161228"/>
                  <a:pt x="157495" y="1990"/>
                  <a:pt x="352871" y="996"/>
                </a:cubicBezTo>
                <a:cubicBezTo>
                  <a:pt x="549242" y="0"/>
                  <a:pt x="708731" y="158242"/>
                  <a:pt x="708731" y="354303"/>
                </a:cubicBezTo>
                <a:close/>
                <a:moveTo>
                  <a:pt x="353868" y="696664"/>
                </a:moveTo>
                <a:cubicBezTo>
                  <a:pt x="543260" y="697659"/>
                  <a:pt x="697766" y="543397"/>
                  <a:pt x="697766" y="354303"/>
                </a:cubicBezTo>
                <a:cubicBezTo>
                  <a:pt x="697766" y="165209"/>
                  <a:pt x="543260" y="11943"/>
                  <a:pt x="353868" y="11943"/>
                </a:cubicBezTo>
                <a:cubicBezTo>
                  <a:pt x="165471" y="11943"/>
                  <a:pt x="10965" y="165209"/>
                  <a:pt x="10965" y="354303"/>
                </a:cubicBezTo>
                <a:cubicBezTo>
                  <a:pt x="10965" y="542402"/>
                  <a:pt x="165471" y="696664"/>
                  <a:pt x="353868" y="6966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5232400" y="1003300"/>
            <a:ext cx="78376" cy="94050"/>
          </a:xfrm>
          <a:custGeom>
            <a:avLst/>
            <a:gdLst/>
            <a:ahLst/>
            <a:cxnLst/>
            <a:rect l="l" t="t" r="r" b="b"/>
            <a:pathLst>
              <a:path w="78376" h="94050">
                <a:moveTo>
                  <a:pt x="36707" y="41022"/>
                </a:moveTo>
                <a:cubicBezTo>
                  <a:pt x="31747" y="46025"/>
                  <a:pt x="25794" y="50027"/>
                  <a:pt x="20834" y="55029"/>
                </a:cubicBezTo>
                <a:cubicBezTo>
                  <a:pt x="17857" y="57031"/>
                  <a:pt x="17857" y="60032"/>
                  <a:pt x="18849" y="62033"/>
                </a:cubicBezTo>
                <a:cubicBezTo>
                  <a:pt x="19841" y="64035"/>
                  <a:pt x="19841" y="65034"/>
                  <a:pt x="19841" y="66035"/>
                </a:cubicBezTo>
                <a:cubicBezTo>
                  <a:pt x="16866" y="65034"/>
                  <a:pt x="2977" y="47026"/>
                  <a:pt x="0" y="40022"/>
                </a:cubicBezTo>
                <a:cubicBezTo>
                  <a:pt x="1984" y="41022"/>
                  <a:pt x="1984" y="41022"/>
                  <a:pt x="2977" y="42022"/>
                </a:cubicBezTo>
                <a:cubicBezTo>
                  <a:pt x="6944" y="44023"/>
                  <a:pt x="8929" y="44023"/>
                  <a:pt x="11905" y="42022"/>
                </a:cubicBezTo>
                <a:cubicBezTo>
                  <a:pt x="23810" y="32017"/>
                  <a:pt x="35715" y="22012"/>
                  <a:pt x="47620" y="12007"/>
                </a:cubicBezTo>
                <a:cubicBezTo>
                  <a:pt x="51589" y="9004"/>
                  <a:pt x="51589" y="7004"/>
                  <a:pt x="49605" y="2002"/>
                </a:cubicBezTo>
                <a:cubicBezTo>
                  <a:pt x="49605" y="1001"/>
                  <a:pt x="49605" y="1001"/>
                  <a:pt x="49605" y="0"/>
                </a:cubicBezTo>
                <a:cubicBezTo>
                  <a:pt x="50597" y="1001"/>
                  <a:pt x="51589" y="1001"/>
                  <a:pt x="51589" y="2002"/>
                </a:cubicBezTo>
                <a:cubicBezTo>
                  <a:pt x="57541" y="10005"/>
                  <a:pt x="63494" y="18010"/>
                  <a:pt x="69446" y="26013"/>
                </a:cubicBezTo>
                <a:cubicBezTo>
                  <a:pt x="72423" y="30016"/>
                  <a:pt x="74407" y="35019"/>
                  <a:pt x="76390" y="40022"/>
                </a:cubicBezTo>
                <a:cubicBezTo>
                  <a:pt x="78376" y="45024"/>
                  <a:pt x="78376" y="50027"/>
                  <a:pt x="74407" y="54028"/>
                </a:cubicBezTo>
                <a:cubicBezTo>
                  <a:pt x="70438" y="60032"/>
                  <a:pt x="63494" y="62033"/>
                  <a:pt x="56549" y="59031"/>
                </a:cubicBezTo>
                <a:cubicBezTo>
                  <a:pt x="54564" y="58031"/>
                  <a:pt x="52581" y="57031"/>
                  <a:pt x="49605" y="56030"/>
                </a:cubicBezTo>
                <a:cubicBezTo>
                  <a:pt x="46628" y="69037"/>
                  <a:pt x="41667" y="81043"/>
                  <a:pt x="39684" y="94050"/>
                </a:cubicBezTo>
                <a:cubicBezTo>
                  <a:pt x="39684" y="94050"/>
                  <a:pt x="38692" y="93049"/>
                  <a:pt x="37700" y="92048"/>
                </a:cubicBezTo>
                <a:cubicBezTo>
                  <a:pt x="35715" y="89047"/>
                  <a:pt x="32739" y="85046"/>
                  <a:pt x="30754" y="82043"/>
                </a:cubicBezTo>
                <a:cubicBezTo>
                  <a:pt x="28771" y="80043"/>
                  <a:pt x="28771" y="78042"/>
                  <a:pt x="28771" y="75040"/>
                </a:cubicBezTo>
                <a:cubicBezTo>
                  <a:pt x="32739" y="66035"/>
                  <a:pt x="35715" y="56030"/>
                  <a:pt x="37700" y="47026"/>
                </a:cubicBezTo>
                <a:cubicBezTo>
                  <a:pt x="38692" y="45024"/>
                  <a:pt x="39684" y="43023"/>
                  <a:pt x="36707" y="41022"/>
                </a:cubicBezTo>
                <a:close/>
                <a:moveTo>
                  <a:pt x="39684" y="39021"/>
                </a:moveTo>
                <a:cubicBezTo>
                  <a:pt x="41667" y="41022"/>
                  <a:pt x="42659" y="43023"/>
                  <a:pt x="44644" y="45024"/>
                </a:cubicBezTo>
                <a:cubicBezTo>
                  <a:pt x="49605" y="50027"/>
                  <a:pt x="54564" y="50027"/>
                  <a:pt x="60518" y="45024"/>
                </a:cubicBezTo>
                <a:cubicBezTo>
                  <a:pt x="62502" y="45024"/>
                  <a:pt x="63494" y="44023"/>
                  <a:pt x="64486" y="43023"/>
                </a:cubicBezTo>
                <a:cubicBezTo>
                  <a:pt x="70438" y="37019"/>
                  <a:pt x="70438" y="31016"/>
                  <a:pt x="64486" y="24013"/>
                </a:cubicBezTo>
                <a:cubicBezTo>
                  <a:pt x="62502" y="22012"/>
                  <a:pt x="61510" y="21011"/>
                  <a:pt x="58533" y="24013"/>
                </a:cubicBezTo>
                <a:cubicBezTo>
                  <a:pt x="53572" y="27014"/>
                  <a:pt x="49605" y="31016"/>
                  <a:pt x="44644" y="35019"/>
                </a:cubicBezTo>
                <a:cubicBezTo>
                  <a:pt x="43652" y="36020"/>
                  <a:pt x="41667" y="38020"/>
                  <a:pt x="39684" y="390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4508500" y="1181100"/>
            <a:ext cx="75016" cy="80615"/>
          </a:xfrm>
          <a:custGeom>
            <a:avLst/>
            <a:gdLst/>
            <a:ahLst/>
            <a:cxnLst/>
            <a:rect l="l" t="t" r="r" b="b"/>
            <a:pathLst>
              <a:path w="75016" h="80615">
                <a:moveTo>
                  <a:pt x="0" y="68522"/>
                </a:moveTo>
                <a:cubicBezTo>
                  <a:pt x="1974" y="57437"/>
                  <a:pt x="3948" y="47361"/>
                  <a:pt x="4935" y="36276"/>
                </a:cubicBezTo>
                <a:cubicBezTo>
                  <a:pt x="5922" y="36276"/>
                  <a:pt x="5922" y="36276"/>
                  <a:pt x="6909" y="36276"/>
                </a:cubicBezTo>
                <a:cubicBezTo>
                  <a:pt x="6909" y="37283"/>
                  <a:pt x="6909" y="38292"/>
                  <a:pt x="6909" y="39299"/>
                </a:cubicBezTo>
                <a:cubicBezTo>
                  <a:pt x="7897" y="43330"/>
                  <a:pt x="8884" y="45345"/>
                  <a:pt x="12832" y="46352"/>
                </a:cubicBezTo>
                <a:cubicBezTo>
                  <a:pt x="19741" y="48368"/>
                  <a:pt x="26651" y="49376"/>
                  <a:pt x="34547" y="50383"/>
                </a:cubicBezTo>
                <a:cubicBezTo>
                  <a:pt x="33560" y="49376"/>
                  <a:pt x="33560" y="48368"/>
                  <a:pt x="32573" y="47361"/>
                </a:cubicBezTo>
                <a:cubicBezTo>
                  <a:pt x="27638" y="39299"/>
                  <a:pt x="22703" y="32245"/>
                  <a:pt x="17767" y="24185"/>
                </a:cubicBezTo>
                <a:cubicBezTo>
                  <a:pt x="17767" y="24185"/>
                  <a:pt x="16781" y="23176"/>
                  <a:pt x="16781" y="22169"/>
                </a:cubicBezTo>
                <a:cubicBezTo>
                  <a:pt x="13819" y="19145"/>
                  <a:pt x="11844" y="20154"/>
                  <a:pt x="9870" y="23176"/>
                </a:cubicBezTo>
                <a:cubicBezTo>
                  <a:pt x="9870" y="25192"/>
                  <a:pt x="8884" y="26200"/>
                  <a:pt x="7897" y="29223"/>
                </a:cubicBezTo>
                <a:cubicBezTo>
                  <a:pt x="6909" y="24185"/>
                  <a:pt x="9870" y="4031"/>
                  <a:pt x="11844" y="0"/>
                </a:cubicBezTo>
                <a:cubicBezTo>
                  <a:pt x="12832" y="0"/>
                  <a:pt x="12832" y="1007"/>
                  <a:pt x="12832" y="1007"/>
                </a:cubicBezTo>
                <a:cubicBezTo>
                  <a:pt x="12832" y="8062"/>
                  <a:pt x="15792" y="14107"/>
                  <a:pt x="18754" y="19145"/>
                </a:cubicBezTo>
                <a:cubicBezTo>
                  <a:pt x="21716" y="25192"/>
                  <a:pt x="25663" y="30230"/>
                  <a:pt x="28625" y="35269"/>
                </a:cubicBezTo>
                <a:cubicBezTo>
                  <a:pt x="30598" y="35269"/>
                  <a:pt x="31586" y="34261"/>
                  <a:pt x="32573" y="34261"/>
                </a:cubicBezTo>
                <a:cubicBezTo>
                  <a:pt x="44417" y="27207"/>
                  <a:pt x="56262" y="20154"/>
                  <a:pt x="68106" y="13100"/>
                </a:cubicBezTo>
                <a:cubicBezTo>
                  <a:pt x="70081" y="12092"/>
                  <a:pt x="72055" y="10076"/>
                  <a:pt x="74030" y="8062"/>
                </a:cubicBezTo>
                <a:cubicBezTo>
                  <a:pt x="75016" y="12092"/>
                  <a:pt x="73042" y="15116"/>
                  <a:pt x="73042" y="18138"/>
                </a:cubicBezTo>
                <a:cubicBezTo>
                  <a:pt x="72055" y="22169"/>
                  <a:pt x="72055" y="26200"/>
                  <a:pt x="71068" y="30230"/>
                </a:cubicBezTo>
                <a:cubicBezTo>
                  <a:pt x="70081" y="33254"/>
                  <a:pt x="70081" y="37283"/>
                  <a:pt x="69093" y="40307"/>
                </a:cubicBezTo>
                <a:cubicBezTo>
                  <a:pt x="68106" y="40307"/>
                  <a:pt x="68106" y="40307"/>
                  <a:pt x="68106" y="40307"/>
                </a:cubicBezTo>
                <a:cubicBezTo>
                  <a:pt x="67120" y="38292"/>
                  <a:pt x="67120" y="35269"/>
                  <a:pt x="67120" y="32245"/>
                </a:cubicBezTo>
                <a:cubicBezTo>
                  <a:pt x="65146" y="32245"/>
                  <a:pt x="64158" y="33254"/>
                  <a:pt x="63171" y="33254"/>
                </a:cubicBezTo>
                <a:cubicBezTo>
                  <a:pt x="54287" y="38292"/>
                  <a:pt x="46392" y="43330"/>
                  <a:pt x="38495" y="48368"/>
                </a:cubicBezTo>
                <a:cubicBezTo>
                  <a:pt x="38495" y="50383"/>
                  <a:pt x="39482" y="51392"/>
                  <a:pt x="41457" y="51392"/>
                </a:cubicBezTo>
                <a:cubicBezTo>
                  <a:pt x="47379" y="53407"/>
                  <a:pt x="53301" y="54414"/>
                  <a:pt x="59223" y="55422"/>
                </a:cubicBezTo>
                <a:cubicBezTo>
                  <a:pt x="62184" y="55422"/>
                  <a:pt x="63171" y="54414"/>
                  <a:pt x="65146" y="51392"/>
                </a:cubicBezTo>
                <a:cubicBezTo>
                  <a:pt x="65146" y="50383"/>
                  <a:pt x="66133" y="49376"/>
                  <a:pt x="67120" y="48368"/>
                </a:cubicBezTo>
                <a:cubicBezTo>
                  <a:pt x="66133" y="58445"/>
                  <a:pt x="64158" y="69530"/>
                  <a:pt x="62184" y="80615"/>
                </a:cubicBezTo>
                <a:cubicBezTo>
                  <a:pt x="62184" y="80615"/>
                  <a:pt x="62184" y="80615"/>
                  <a:pt x="61197" y="80615"/>
                </a:cubicBezTo>
                <a:cubicBezTo>
                  <a:pt x="61197" y="79606"/>
                  <a:pt x="61197" y="78599"/>
                  <a:pt x="61197" y="77591"/>
                </a:cubicBezTo>
                <a:cubicBezTo>
                  <a:pt x="60211" y="72553"/>
                  <a:pt x="59223" y="71545"/>
                  <a:pt x="54287" y="70537"/>
                </a:cubicBezTo>
                <a:cubicBezTo>
                  <a:pt x="39482" y="67514"/>
                  <a:pt x="25663" y="64491"/>
                  <a:pt x="10857" y="62476"/>
                </a:cubicBezTo>
                <a:cubicBezTo>
                  <a:pt x="5922" y="61468"/>
                  <a:pt x="4935" y="62476"/>
                  <a:pt x="2962" y="66506"/>
                </a:cubicBezTo>
                <a:cubicBezTo>
                  <a:pt x="1974" y="67514"/>
                  <a:pt x="1974" y="68522"/>
                  <a:pt x="987" y="68522"/>
                </a:cubicBezTo>
                <a:cubicBezTo>
                  <a:pt x="987" y="68522"/>
                  <a:pt x="987" y="68522"/>
                  <a:pt x="0" y="6852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5168900" y="914400"/>
            <a:ext cx="81733" cy="87332"/>
          </a:xfrm>
          <a:custGeom>
            <a:avLst/>
            <a:gdLst/>
            <a:ahLst/>
            <a:cxnLst/>
            <a:rect l="l" t="t" r="r" b="b"/>
            <a:pathLst>
              <a:path w="81733" h="87332">
                <a:moveTo>
                  <a:pt x="60803" y="37141"/>
                </a:moveTo>
                <a:cubicBezTo>
                  <a:pt x="59806" y="41157"/>
                  <a:pt x="45851" y="62236"/>
                  <a:pt x="41864" y="65248"/>
                </a:cubicBezTo>
                <a:cubicBezTo>
                  <a:pt x="42860" y="62236"/>
                  <a:pt x="42860" y="60228"/>
                  <a:pt x="43857" y="59225"/>
                </a:cubicBezTo>
                <a:cubicBezTo>
                  <a:pt x="45851" y="52198"/>
                  <a:pt x="43857" y="46176"/>
                  <a:pt x="36880" y="42160"/>
                </a:cubicBezTo>
                <a:cubicBezTo>
                  <a:pt x="36880" y="42160"/>
                  <a:pt x="35884" y="43163"/>
                  <a:pt x="35884" y="44168"/>
                </a:cubicBezTo>
                <a:cubicBezTo>
                  <a:pt x="31896" y="50190"/>
                  <a:pt x="27910" y="55209"/>
                  <a:pt x="23922" y="61233"/>
                </a:cubicBezTo>
                <a:cubicBezTo>
                  <a:pt x="21929" y="64244"/>
                  <a:pt x="21929" y="66252"/>
                  <a:pt x="24919" y="68260"/>
                </a:cubicBezTo>
                <a:cubicBezTo>
                  <a:pt x="32893" y="76290"/>
                  <a:pt x="41864" y="80306"/>
                  <a:pt x="53825" y="74282"/>
                </a:cubicBezTo>
                <a:cubicBezTo>
                  <a:pt x="55818" y="73279"/>
                  <a:pt x="55818" y="73279"/>
                  <a:pt x="58809" y="73279"/>
                </a:cubicBezTo>
                <a:cubicBezTo>
                  <a:pt x="56815" y="76290"/>
                  <a:pt x="49837" y="84320"/>
                  <a:pt x="44854" y="87332"/>
                </a:cubicBezTo>
                <a:cubicBezTo>
                  <a:pt x="35884" y="82313"/>
                  <a:pt x="1994" y="56214"/>
                  <a:pt x="0" y="52198"/>
                </a:cubicBezTo>
                <a:cubicBezTo>
                  <a:pt x="1994" y="53203"/>
                  <a:pt x="2991" y="53203"/>
                  <a:pt x="3987" y="54206"/>
                </a:cubicBezTo>
                <a:cubicBezTo>
                  <a:pt x="7974" y="55209"/>
                  <a:pt x="9967" y="54206"/>
                  <a:pt x="11961" y="51195"/>
                </a:cubicBezTo>
                <a:cubicBezTo>
                  <a:pt x="20932" y="38144"/>
                  <a:pt x="29902" y="25095"/>
                  <a:pt x="38873" y="12046"/>
                </a:cubicBezTo>
                <a:cubicBezTo>
                  <a:pt x="41864" y="8030"/>
                  <a:pt x="40867" y="6022"/>
                  <a:pt x="38873" y="3011"/>
                </a:cubicBezTo>
                <a:cubicBezTo>
                  <a:pt x="37876" y="2008"/>
                  <a:pt x="37876" y="1003"/>
                  <a:pt x="36880" y="0"/>
                </a:cubicBezTo>
                <a:cubicBezTo>
                  <a:pt x="39870" y="1003"/>
                  <a:pt x="75753" y="27103"/>
                  <a:pt x="81733" y="33125"/>
                </a:cubicBezTo>
                <a:cubicBezTo>
                  <a:pt x="78744" y="38144"/>
                  <a:pt x="72763" y="46176"/>
                  <a:pt x="69773" y="48184"/>
                </a:cubicBezTo>
                <a:cubicBezTo>
                  <a:pt x="69773" y="47179"/>
                  <a:pt x="69773" y="46176"/>
                  <a:pt x="69773" y="46176"/>
                </a:cubicBezTo>
                <a:cubicBezTo>
                  <a:pt x="73760" y="36138"/>
                  <a:pt x="71766" y="30114"/>
                  <a:pt x="64789" y="24092"/>
                </a:cubicBezTo>
                <a:cubicBezTo>
                  <a:pt x="62795" y="22084"/>
                  <a:pt x="60803" y="20076"/>
                  <a:pt x="57812" y="19073"/>
                </a:cubicBezTo>
                <a:cubicBezTo>
                  <a:pt x="55818" y="17065"/>
                  <a:pt x="53825" y="18068"/>
                  <a:pt x="52828" y="20076"/>
                </a:cubicBezTo>
                <a:cubicBezTo>
                  <a:pt x="48842" y="25095"/>
                  <a:pt x="44854" y="30114"/>
                  <a:pt x="40867" y="36138"/>
                </a:cubicBezTo>
                <a:cubicBezTo>
                  <a:pt x="40867" y="37141"/>
                  <a:pt x="39870" y="38144"/>
                  <a:pt x="39870" y="39149"/>
                </a:cubicBezTo>
                <a:cubicBezTo>
                  <a:pt x="42860" y="42160"/>
                  <a:pt x="45851" y="44168"/>
                  <a:pt x="50834" y="43163"/>
                </a:cubicBezTo>
                <a:cubicBezTo>
                  <a:pt x="53825" y="42160"/>
                  <a:pt x="57812" y="39149"/>
                  <a:pt x="60803" y="3714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4508500" y="1295400"/>
            <a:ext cx="70537" cy="67178"/>
          </a:xfrm>
          <a:custGeom>
            <a:avLst/>
            <a:gdLst/>
            <a:ahLst/>
            <a:cxnLst/>
            <a:rect l="l" t="t" r="r" b="b"/>
            <a:pathLst>
              <a:path w="70537" h="67178">
                <a:moveTo>
                  <a:pt x="48680" y="19759"/>
                </a:moveTo>
                <a:cubicBezTo>
                  <a:pt x="43713" y="21734"/>
                  <a:pt x="38745" y="23710"/>
                  <a:pt x="36759" y="28650"/>
                </a:cubicBezTo>
                <a:cubicBezTo>
                  <a:pt x="35766" y="31613"/>
                  <a:pt x="35766" y="34577"/>
                  <a:pt x="37752" y="38528"/>
                </a:cubicBezTo>
                <a:cubicBezTo>
                  <a:pt x="39740" y="37541"/>
                  <a:pt x="41726" y="37541"/>
                  <a:pt x="43713" y="37541"/>
                </a:cubicBezTo>
                <a:cubicBezTo>
                  <a:pt x="48680" y="36553"/>
                  <a:pt x="53647" y="35565"/>
                  <a:pt x="59609" y="35565"/>
                </a:cubicBezTo>
                <a:cubicBezTo>
                  <a:pt x="62589" y="34577"/>
                  <a:pt x="63583" y="33589"/>
                  <a:pt x="64576" y="29637"/>
                </a:cubicBezTo>
                <a:cubicBezTo>
                  <a:pt x="64576" y="17783"/>
                  <a:pt x="58616" y="7903"/>
                  <a:pt x="47687" y="3952"/>
                </a:cubicBezTo>
                <a:cubicBezTo>
                  <a:pt x="46694" y="2964"/>
                  <a:pt x="44707" y="2964"/>
                  <a:pt x="43713" y="0"/>
                </a:cubicBezTo>
                <a:cubicBezTo>
                  <a:pt x="50668" y="0"/>
                  <a:pt x="56628" y="988"/>
                  <a:pt x="62589" y="988"/>
                </a:cubicBezTo>
                <a:cubicBezTo>
                  <a:pt x="64576" y="4939"/>
                  <a:pt x="70537" y="53348"/>
                  <a:pt x="69544" y="58287"/>
                </a:cubicBezTo>
                <a:cubicBezTo>
                  <a:pt x="68550" y="56311"/>
                  <a:pt x="68550" y="55322"/>
                  <a:pt x="67556" y="54336"/>
                </a:cubicBezTo>
                <a:cubicBezTo>
                  <a:pt x="66563" y="51372"/>
                  <a:pt x="64576" y="50383"/>
                  <a:pt x="61596" y="50383"/>
                </a:cubicBezTo>
                <a:cubicBezTo>
                  <a:pt x="45700" y="52360"/>
                  <a:pt x="30798" y="54336"/>
                  <a:pt x="15895" y="57299"/>
                </a:cubicBezTo>
                <a:cubicBezTo>
                  <a:pt x="11921" y="57299"/>
                  <a:pt x="9935" y="59275"/>
                  <a:pt x="8941" y="64214"/>
                </a:cubicBezTo>
                <a:cubicBezTo>
                  <a:pt x="8941" y="65202"/>
                  <a:pt x="8941" y="66190"/>
                  <a:pt x="8941" y="67178"/>
                </a:cubicBezTo>
                <a:cubicBezTo>
                  <a:pt x="6955" y="64214"/>
                  <a:pt x="0" y="16794"/>
                  <a:pt x="993" y="10867"/>
                </a:cubicBezTo>
                <a:cubicBezTo>
                  <a:pt x="6955" y="9879"/>
                  <a:pt x="11921" y="8891"/>
                  <a:pt x="17883" y="8891"/>
                </a:cubicBezTo>
                <a:cubicBezTo>
                  <a:pt x="17883" y="8891"/>
                  <a:pt x="18876" y="8891"/>
                  <a:pt x="18876" y="9879"/>
                </a:cubicBezTo>
                <a:cubicBezTo>
                  <a:pt x="17883" y="9879"/>
                  <a:pt x="17883" y="10867"/>
                  <a:pt x="16890" y="10867"/>
                </a:cubicBezTo>
                <a:cubicBezTo>
                  <a:pt x="7948" y="13830"/>
                  <a:pt x="4967" y="20747"/>
                  <a:pt x="5961" y="29637"/>
                </a:cubicBezTo>
                <a:cubicBezTo>
                  <a:pt x="5961" y="31613"/>
                  <a:pt x="5961" y="34577"/>
                  <a:pt x="6955" y="37541"/>
                </a:cubicBezTo>
                <a:cubicBezTo>
                  <a:pt x="6955" y="41492"/>
                  <a:pt x="7948" y="42480"/>
                  <a:pt x="12915" y="41492"/>
                </a:cubicBezTo>
                <a:cubicBezTo>
                  <a:pt x="19869" y="40504"/>
                  <a:pt x="25831" y="39516"/>
                  <a:pt x="32785" y="38528"/>
                </a:cubicBezTo>
                <a:cubicBezTo>
                  <a:pt x="33778" y="33589"/>
                  <a:pt x="32785" y="29637"/>
                  <a:pt x="28811" y="27662"/>
                </a:cubicBezTo>
                <a:cubicBezTo>
                  <a:pt x="25831" y="25686"/>
                  <a:pt x="21857" y="24698"/>
                  <a:pt x="17883" y="23710"/>
                </a:cubicBezTo>
                <a:cubicBezTo>
                  <a:pt x="17883" y="22722"/>
                  <a:pt x="18876" y="22722"/>
                  <a:pt x="18876" y="21734"/>
                </a:cubicBezTo>
                <a:cubicBezTo>
                  <a:pt x="28811" y="20747"/>
                  <a:pt x="38745" y="19759"/>
                  <a:pt x="48680" y="17783"/>
                </a:cubicBezTo>
                <a:cubicBezTo>
                  <a:pt x="48680" y="18771"/>
                  <a:pt x="48680" y="18771"/>
                  <a:pt x="48680" y="1975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4864100" y="1651000"/>
            <a:ext cx="49265" cy="70537"/>
          </a:xfrm>
          <a:custGeom>
            <a:avLst/>
            <a:gdLst/>
            <a:ahLst/>
            <a:cxnLst/>
            <a:rect l="l" t="t" r="r" b="b"/>
            <a:pathLst>
              <a:path w="49265" h="70537">
                <a:moveTo>
                  <a:pt x="16750" y="35268"/>
                </a:moveTo>
                <a:cubicBezTo>
                  <a:pt x="14779" y="33254"/>
                  <a:pt x="11824" y="30230"/>
                  <a:pt x="9853" y="27207"/>
                </a:cubicBezTo>
                <a:cubicBezTo>
                  <a:pt x="6897" y="22169"/>
                  <a:pt x="5912" y="17131"/>
                  <a:pt x="7882" y="11085"/>
                </a:cubicBezTo>
                <a:cubicBezTo>
                  <a:pt x="9853" y="6046"/>
                  <a:pt x="13793" y="3023"/>
                  <a:pt x="18720" y="1007"/>
                </a:cubicBezTo>
                <a:cubicBezTo>
                  <a:pt x="25617" y="0"/>
                  <a:pt x="32515" y="0"/>
                  <a:pt x="38426" y="3023"/>
                </a:cubicBezTo>
                <a:cubicBezTo>
                  <a:pt x="42367" y="5038"/>
                  <a:pt x="45322" y="8062"/>
                  <a:pt x="47294" y="12092"/>
                </a:cubicBezTo>
                <a:cubicBezTo>
                  <a:pt x="49265" y="18138"/>
                  <a:pt x="47294" y="24185"/>
                  <a:pt x="41382" y="27207"/>
                </a:cubicBezTo>
                <a:cubicBezTo>
                  <a:pt x="38426" y="28214"/>
                  <a:pt x="36455" y="29223"/>
                  <a:pt x="33500" y="30230"/>
                </a:cubicBezTo>
                <a:cubicBezTo>
                  <a:pt x="34484" y="31238"/>
                  <a:pt x="35470" y="32245"/>
                  <a:pt x="36455" y="33254"/>
                </a:cubicBezTo>
                <a:cubicBezTo>
                  <a:pt x="39411" y="37283"/>
                  <a:pt x="42367" y="40307"/>
                  <a:pt x="43353" y="44337"/>
                </a:cubicBezTo>
                <a:cubicBezTo>
                  <a:pt x="47294" y="55422"/>
                  <a:pt x="41382" y="66506"/>
                  <a:pt x="29558" y="69530"/>
                </a:cubicBezTo>
                <a:cubicBezTo>
                  <a:pt x="22662" y="70537"/>
                  <a:pt x="15765" y="69530"/>
                  <a:pt x="8867" y="65499"/>
                </a:cubicBezTo>
                <a:cubicBezTo>
                  <a:pt x="2955" y="62475"/>
                  <a:pt x="0" y="57437"/>
                  <a:pt x="986" y="51392"/>
                </a:cubicBezTo>
                <a:cubicBezTo>
                  <a:pt x="986" y="44337"/>
                  <a:pt x="4926" y="40307"/>
                  <a:pt x="10838" y="38292"/>
                </a:cubicBezTo>
                <a:cubicBezTo>
                  <a:pt x="12809" y="37283"/>
                  <a:pt x="14779" y="36276"/>
                  <a:pt x="16750" y="35268"/>
                </a:cubicBezTo>
                <a:close/>
                <a:moveTo>
                  <a:pt x="19705" y="38292"/>
                </a:moveTo>
                <a:cubicBezTo>
                  <a:pt x="12809" y="44337"/>
                  <a:pt x="9853" y="54414"/>
                  <a:pt x="13793" y="61468"/>
                </a:cubicBezTo>
                <a:cubicBezTo>
                  <a:pt x="14779" y="65499"/>
                  <a:pt x="17736" y="67514"/>
                  <a:pt x="21676" y="67514"/>
                </a:cubicBezTo>
                <a:cubicBezTo>
                  <a:pt x="25617" y="67514"/>
                  <a:pt x="27588" y="64491"/>
                  <a:pt x="29558" y="61468"/>
                </a:cubicBezTo>
                <a:cubicBezTo>
                  <a:pt x="32515" y="53406"/>
                  <a:pt x="28574" y="44337"/>
                  <a:pt x="19705" y="38292"/>
                </a:cubicBezTo>
                <a:close/>
                <a:moveTo>
                  <a:pt x="30544" y="27207"/>
                </a:moveTo>
                <a:cubicBezTo>
                  <a:pt x="36455" y="23176"/>
                  <a:pt x="38426" y="14107"/>
                  <a:pt x="35470" y="8062"/>
                </a:cubicBezTo>
                <a:cubicBezTo>
                  <a:pt x="34484" y="4031"/>
                  <a:pt x="31529" y="3023"/>
                  <a:pt x="27588" y="3023"/>
                </a:cubicBezTo>
                <a:cubicBezTo>
                  <a:pt x="24632" y="3023"/>
                  <a:pt x="22662" y="5038"/>
                  <a:pt x="20691" y="8062"/>
                </a:cubicBezTo>
                <a:cubicBezTo>
                  <a:pt x="19705" y="11085"/>
                  <a:pt x="19705" y="15116"/>
                  <a:pt x="21676" y="18138"/>
                </a:cubicBezTo>
                <a:cubicBezTo>
                  <a:pt x="23646" y="22169"/>
                  <a:pt x="26603" y="25192"/>
                  <a:pt x="30544" y="2720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4533900" y="1409700"/>
            <a:ext cx="72776" cy="62700"/>
          </a:xfrm>
          <a:custGeom>
            <a:avLst/>
            <a:gdLst/>
            <a:ahLst/>
            <a:cxnLst/>
            <a:rect l="l" t="t" r="r" b="b"/>
            <a:pathLst>
              <a:path w="72776" h="62700">
                <a:moveTo>
                  <a:pt x="15735" y="62700"/>
                </a:moveTo>
                <a:cubicBezTo>
                  <a:pt x="14752" y="61704"/>
                  <a:pt x="13768" y="60710"/>
                  <a:pt x="13768" y="59714"/>
                </a:cubicBezTo>
                <a:cubicBezTo>
                  <a:pt x="9835" y="50757"/>
                  <a:pt x="6885" y="41800"/>
                  <a:pt x="2950" y="33838"/>
                </a:cubicBezTo>
                <a:cubicBezTo>
                  <a:pt x="983" y="28862"/>
                  <a:pt x="0" y="22890"/>
                  <a:pt x="0" y="17915"/>
                </a:cubicBezTo>
                <a:cubicBezTo>
                  <a:pt x="0" y="10947"/>
                  <a:pt x="1967" y="5972"/>
                  <a:pt x="7868" y="2986"/>
                </a:cubicBezTo>
                <a:cubicBezTo>
                  <a:pt x="13768" y="0"/>
                  <a:pt x="18686" y="996"/>
                  <a:pt x="24586" y="3981"/>
                </a:cubicBezTo>
                <a:cubicBezTo>
                  <a:pt x="27537" y="5972"/>
                  <a:pt x="30488" y="9953"/>
                  <a:pt x="32454" y="12937"/>
                </a:cubicBezTo>
                <a:cubicBezTo>
                  <a:pt x="34421" y="16919"/>
                  <a:pt x="35405" y="21895"/>
                  <a:pt x="37371" y="25876"/>
                </a:cubicBezTo>
                <a:cubicBezTo>
                  <a:pt x="39338" y="24881"/>
                  <a:pt x="40321" y="24881"/>
                  <a:pt x="41305" y="24881"/>
                </a:cubicBezTo>
                <a:cubicBezTo>
                  <a:pt x="45239" y="22890"/>
                  <a:pt x="50156" y="20900"/>
                  <a:pt x="54091" y="18909"/>
                </a:cubicBezTo>
                <a:cubicBezTo>
                  <a:pt x="59991" y="15923"/>
                  <a:pt x="60974" y="14929"/>
                  <a:pt x="59991" y="8957"/>
                </a:cubicBezTo>
                <a:cubicBezTo>
                  <a:pt x="59991" y="7962"/>
                  <a:pt x="59991" y="6967"/>
                  <a:pt x="59991" y="5972"/>
                </a:cubicBezTo>
                <a:cubicBezTo>
                  <a:pt x="62941" y="8957"/>
                  <a:pt x="62941" y="12937"/>
                  <a:pt x="64908" y="15923"/>
                </a:cubicBezTo>
                <a:cubicBezTo>
                  <a:pt x="65891" y="19905"/>
                  <a:pt x="67859" y="22890"/>
                  <a:pt x="68842" y="26872"/>
                </a:cubicBezTo>
                <a:cubicBezTo>
                  <a:pt x="69826" y="29858"/>
                  <a:pt x="72776" y="32843"/>
                  <a:pt x="71793" y="37819"/>
                </a:cubicBezTo>
                <a:cubicBezTo>
                  <a:pt x="70809" y="35828"/>
                  <a:pt x="69826" y="34834"/>
                  <a:pt x="68842" y="33838"/>
                </a:cubicBezTo>
                <a:cubicBezTo>
                  <a:pt x="66876" y="31848"/>
                  <a:pt x="64908" y="30852"/>
                  <a:pt x="62941" y="31848"/>
                </a:cubicBezTo>
                <a:cubicBezTo>
                  <a:pt x="60974" y="32843"/>
                  <a:pt x="59008" y="33838"/>
                  <a:pt x="57041" y="34834"/>
                </a:cubicBezTo>
                <a:cubicBezTo>
                  <a:pt x="45239" y="39809"/>
                  <a:pt x="33438" y="44785"/>
                  <a:pt x="21636" y="49762"/>
                </a:cubicBezTo>
                <a:cubicBezTo>
                  <a:pt x="15735" y="52748"/>
                  <a:pt x="15735" y="53743"/>
                  <a:pt x="15735" y="60710"/>
                </a:cubicBezTo>
                <a:cubicBezTo>
                  <a:pt x="15735" y="61704"/>
                  <a:pt x="15735" y="61704"/>
                  <a:pt x="15735" y="62700"/>
                </a:cubicBezTo>
                <a:close/>
                <a:moveTo>
                  <a:pt x="35405" y="26872"/>
                </a:moveTo>
                <a:cubicBezTo>
                  <a:pt x="33438" y="24881"/>
                  <a:pt x="33438" y="21895"/>
                  <a:pt x="31471" y="19905"/>
                </a:cubicBezTo>
                <a:cubicBezTo>
                  <a:pt x="28520" y="15923"/>
                  <a:pt x="24586" y="13933"/>
                  <a:pt x="20653" y="15923"/>
                </a:cubicBezTo>
                <a:cubicBezTo>
                  <a:pt x="16718" y="16919"/>
                  <a:pt x="12785" y="18909"/>
                  <a:pt x="9835" y="20900"/>
                </a:cubicBezTo>
                <a:cubicBezTo>
                  <a:pt x="4917" y="23886"/>
                  <a:pt x="3934" y="29858"/>
                  <a:pt x="6885" y="34834"/>
                </a:cubicBezTo>
                <a:cubicBezTo>
                  <a:pt x="8851" y="37819"/>
                  <a:pt x="9835" y="38814"/>
                  <a:pt x="12785" y="37819"/>
                </a:cubicBezTo>
                <a:cubicBezTo>
                  <a:pt x="19670" y="33838"/>
                  <a:pt x="27537" y="30852"/>
                  <a:pt x="35405" y="268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4572000" y="990600"/>
            <a:ext cx="86211" cy="94050"/>
          </a:xfrm>
          <a:custGeom>
            <a:avLst/>
            <a:gdLst/>
            <a:ahLst/>
            <a:cxnLst/>
            <a:rect l="l" t="t" r="r" b="b"/>
            <a:pathLst>
              <a:path w="86211" h="94050">
                <a:moveTo>
                  <a:pt x="0" y="50490"/>
                </a:moveTo>
                <a:cubicBezTo>
                  <a:pt x="1982" y="48510"/>
                  <a:pt x="4954" y="45540"/>
                  <a:pt x="5946" y="42570"/>
                </a:cubicBezTo>
                <a:cubicBezTo>
                  <a:pt x="9910" y="36631"/>
                  <a:pt x="14864" y="34649"/>
                  <a:pt x="21801" y="35640"/>
                </a:cubicBezTo>
                <a:cubicBezTo>
                  <a:pt x="33692" y="35640"/>
                  <a:pt x="46575" y="35640"/>
                  <a:pt x="58466" y="35640"/>
                </a:cubicBezTo>
                <a:cubicBezTo>
                  <a:pt x="60447" y="35640"/>
                  <a:pt x="61439" y="35640"/>
                  <a:pt x="63420" y="35640"/>
                </a:cubicBezTo>
                <a:cubicBezTo>
                  <a:pt x="62429" y="34649"/>
                  <a:pt x="62429" y="33660"/>
                  <a:pt x="61439" y="32669"/>
                </a:cubicBezTo>
                <a:cubicBezTo>
                  <a:pt x="55493" y="27720"/>
                  <a:pt x="49547" y="22770"/>
                  <a:pt x="43602" y="17819"/>
                </a:cubicBezTo>
                <a:cubicBezTo>
                  <a:pt x="37656" y="11880"/>
                  <a:pt x="36665" y="11880"/>
                  <a:pt x="29728" y="15839"/>
                </a:cubicBezTo>
                <a:cubicBezTo>
                  <a:pt x="29728" y="16830"/>
                  <a:pt x="29728" y="15839"/>
                  <a:pt x="28738" y="15839"/>
                </a:cubicBezTo>
                <a:cubicBezTo>
                  <a:pt x="29728" y="12870"/>
                  <a:pt x="37656" y="2971"/>
                  <a:pt x="41619" y="0"/>
                </a:cubicBezTo>
                <a:cubicBezTo>
                  <a:pt x="41619" y="1980"/>
                  <a:pt x="41619" y="1980"/>
                  <a:pt x="41619" y="2971"/>
                </a:cubicBezTo>
                <a:cubicBezTo>
                  <a:pt x="39638" y="6930"/>
                  <a:pt x="40629" y="9900"/>
                  <a:pt x="43602" y="12870"/>
                </a:cubicBezTo>
                <a:cubicBezTo>
                  <a:pt x="53511" y="20790"/>
                  <a:pt x="63420" y="29700"/>
                  <a:pt x="73330" y="37620"/>
                </a:cubicBezTo>
                <a:cubicBezTo>
                  <a:pt x="77293" y="41580"/>
                  <a:pt x="81257" y="45540"/>
                  <a:pt x="86211" y="49500"/>
                </a:cubicBezTo>
                <a:cubicBezTo>
                  <a:pt x="84230" y="50490"/>
                  <a:pt x="83240" y="51479"/>
                  <a:pt x="82248" y="51479"/>
                </a:cubicBezTo>
                <a:cubicBezTo>
                  <a:pt x="80267" y="51479"/>
                  <a:pt x="78284" y="51479"/>
                  <a:pt x="76303" y="51479"/>
                </a:cubicBezTo>
                <a:cubicBezTo>
                  <a:pt x="59456" y="51479"/>
                  <a:pt x="41619" y="51479"/>
                  <a:pt x="24774" y="50490"/>
                </a:cubicBezTo>
                <a:cubicBezTo>
                  <a:pt x="22791" y="50490"/>
                  <a:pt x="21801" y="50490"/>
                  <a:pt x="18828" y="50490"/>
                </a:cubicBezTo>
                <a:cubicBezTo>
                  <a:pt x="19818" y="52470"/>
                  <a:pt x="20810" y="53459"/>
                  <a:pt x="21801" y="54450"/>
                </a:cubicBezTo>
                <a:cubicBezTo>
                  <a:pt x="29728" y="61380"/>
                  <a:pt x="38647" y="68309"/>
                  <a:pt x="46575" y="76230"/>
                </a:cubicBezTo>
                <a:cubicBezTo>
                  <a:pt x="50538" y="80190"/>
                  <a:pt x="54502" y="82170"/>
                  <a:pt x="60447" y="77220"/>
                </a:cubicBezTo>
                <a:cubicBezTo>
                  <a:pt x="60447" y="76230"/>
                  <a:pt x="60447" y="76230"/>
                  <a:pt x="60447" y="76230"/>
                </a:cubicBezTo>
                <a:cubicBezTo>
                  <a:pt x="60447" y="79200"/>
                  <a:pt x="51529" y="91081"/>
                  <a:pt x="47565" y="94050"/>
                </a:cubicBezTo>
                <a:cubicBezTo>
                  <a:pt x="47565" y="92070"/>
                  <a:pt x="47565" y="91081"/>
                  <a:pt x="48556" y="90090"/>
                </a:cubicBezTo>
                <a:cubicBezTo>
                  <a:pt x="50538" y="86130"/>
                  <a:pt x="49547" y="84150"/>
                  <a:pt x="46575" y="81180"/>
                </a:cubicBezTo>
                <a:cubicBezTo>
                  <a:pt x="40629" y="76230"/>
                  <a:pt x="34682" y="71280"/>
                  <a:pt x="29728" y="66330"/>
                </a:cubicBezTo>
                <a:cubicBezTo>
                  <a:pt x="24774" y="61380"/>
                  <a:pt x="19818" y="57421"/>
                  <a:pt x="14864" y="53459"/>
                </a:cubicBezTo>
                <a:cubicBezTo>
                  <a:pt x="11891" y="50490"/>
                  <a:pt x="9910" y="50490"/>
                  <a:pt x="6937" y="50490"/>
                </a:cubicBezTo>
                <a:cubicBezTo>
                  <a:pt x="4954" y="51479"/>
                  <a:pt x="2973" y="51479"/>
                  <a:pt x="991" y="51479"/>
                </a:cubicBezTo>
                <a:cubicBezTo>
                  <a:pt x="0" y="51479"/>
                  <a:pt x="0" y="51479"/>
                  <a:pt x="0" y="504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5080000" y="1625600"/>
            <a:ext cx="60460" cy="69417"/>
          </a:xfrm>
          <a:custGeom>
            <a:avLst/>
            <a:gdLst/>
            <a:ahLst/>
            <a:cxnLst/>
            <a:rect l="l" t="t" r="r" b="b"/>
            <a:pathLst>
              <a:path w="60460" h="69417">
                <a:moveTo>
                  <a:pt x="35682" y="25784"/>
                </a:moveTo>
                <a:cubicBezTo>
                  <a:pt x="39646" y="26775"/>
                  <a:pt x="42620" y="27767"/>
                  <a:pt x="45593" y="28758"/>
                </a:cubicBezTo>
                <a:cubicBezTo>
                  <a:pt x="53522" y="30742"/>
                  <a:pt x="58477" y="36692"/>
                  <a:pt x="59469" y="44625"/>
                </a:cubicBezTo>
                <a:cubicBezTo>
                  <a:pt x="60460" y="50575"/>
                  <a:pt x="58477" y="54541"/>
                  <a:pt x="54513" y="58509"/>
                </a:cubicBezTo>
                <a:cubicBezTo>
                  <a:pt x="49558" y="64459"/>
                  <a:pt x="41628" y="68425"/>
                  <a:pt x="33699" y="68425"/>
                </a:cubicBezTo>
                <a:cubicBezTo>
                  <a:pt x="27752" y="69417"/>
                  <a:pt x="23787" y="66443"/>
                  <a:pt x="20814" y="61483"/>
                </a:cubicBezTo>
                <a:cubicBezTo>
                  <a:pt x="16849" y="56525"/>
                  <a:pt x="16849" y="50575"/>
                  <a:pt x="20814" y="45617"/>
                </a:cubicBezTo>
                <a:cubicBezTo>
                  <a:pt x="21805" y="43633"/>
                  <a:pt x="23787" y="41650"/>
                  <a:pt x="25770" y="38675"/>
                </a:cubicBezTo>
                <a:cubicBezTo>
                  <a:pt x="22796" y="38675"/>
                  <a:pt x="19823" y="37683"/>
                  <a:pt x="16849" y="36692"/>
                </a:cubicBezTo>
                <a:cubicBezTo>
                  <a:pt x="2973" y="31733"/>
                  <a:pt x="0" y="16858"/>
                  <a:pt x="10903" y="7934"/>
                </a:cubicBezTo>
                <a:cubicBezTo>
                  <a:pt x="15858" y="3966"/>
                  <a:pt x="21805" y="992"/>
                  <a:pt x="27752" y="0"/>
                </a:cubicBezTo>
                <a:cubicBezTo>
                  <a:pt x="33699" y="0"/>
                  <a:pt x="38655" y="1984"/>
                  <a:pt x="41628" y="6942"/>
                </a:cubicBezTo>
                <a:cubicBezTo>
                  <a:pt x="44601" y="11900"/>
                  <a:pt x="42620" y="16858"/>
                  <a:pt x="39646" y="20825"/>
                </a:cubicBezTo>
                <a:cubicBezTo>
                  <a:pt x="38655" y="22808"/>
                  <a:pt x="37663" y="23800"/>
                  <a:pt x="35682" y="25784"/>
                </a:cubicBezTo>
                <a:close/>
                <a:moveTo>
                  <a:pt x="28744" y="39667"/>
                </a:moveTo>
                <a:cubicBezTo>
                  <a:pt x="28744" y="42642"/>
                  <a:pt x="27752" y="45617"/>
                  <a:pt x="27752" y="47600"/>
                </a:cubicBezTo>
                <a:cubicBezTo>
                  <a:pt x="28744" y="53551"/>
                  <a:pt x="31717" y="58509"/>
                  <a:pt x="36673" y="62475"/>
                </a:cubicBezTo>
                <a:cubicBezTo>
                  <a:pt x="39646" y="64459"/>
                  <a:pt x="42620" y="65451"/>
                  <a:pt x="45593" y="63467"/>
                </a:cubicBezTo>
                <a:cubicBezTo>
                  <a:pt x="49558" y="61483"/>
                  <a:pt x="50549" y="57517"/>
                  <a:pt x="49558" y="54541"/>
                </a:cubicBezTo>
                <a:cubicBezTo>
                  <a:pt x="48566" y="48591"/>
                  <a:pt x="45593" y="44625"/>
                  <a:pt x="40637" y="42642"/>
                </a:cubicBezTo>
                <a:cubicBezTo>
                  <a:pt x="36673" y="40659"/>
                  <a:pt x="33699" y="40659"/>
                  <a:pt x="28744" y="39667"/>
                </a:cubicBezTo>
                <a:close/>
                <a:moveTo>
                  <a:pt x="32708" y="25784"/>
                </a:moveTo>
                <a:cubicBezTo>
                  <a:pt x="34690" y="17850"/>
                  <a:pt x="32708" y="11900"/>
                  <a:pt x="27752" y="6942"/>
                </a:cubicBezTo>
                <a:cubicBezTo>
                  <a:pt x="25770" y="4958"/>
                  <a:pt x="23787" y="4958"/>
                  <a:pt x="21805" y="4958"/>
                </a:cubicBezTo>
                <a:cubicBezTo>
                  <a:pt x="17841" y="4958"/>
                  <a:pt x="15858" y="6942"/>
                  <a:pt x="13876" y="9916"/>
                </a:cubicBezTo>
                <a:cubicBezTo>
                  <a:pt x="12885" y="12892"/>
                  <a:pt x="13876" y="15866"/>
                  <a:pt x="15858" y="18842"/>
                </a:cubicBezTo>
                <a:cubicBezTo>
                  <a:pt x="20814" y="23800"/>
                  <a:pt x="25770" y="24792"/>
                  <a:pt x="32708" y="2578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4660900" y="914400"/>
            <a:ext cx="81733" cy="79494"/>
          </a:xfrm>
          <a:custGeom>
            <a:avLst/>
            <a:gdLst/>
            <a:ahLst/>
            <a:cxnLst/>
            <a:rect l="l" t="t" r="r" b="b"/>
            <a:pathLst>
              <a:path w="81733" h="79494">
                <a:moveTo>
                  <a:pt x="43857" y="0"/>
                </a:moveTo>
                <a:cubicBezTo>
                  <a:pt x="46848" y="1988"/>
                  <a:pt x="55818" y="13912"/>
                  <a:pt x="56815" y="18880"/>
                </a:cubicBezTo>
                <a:cubicBezTo>
                  <a:pt x="55818" y="19873"/>
                  <a:pt x="54822" y="17887"/>
                  <a:pt x="52828" y="17887"/>
                </a:cubicBezTo>
                <a:cubicBezTo>
                  <a:pt x="47845" y="14905"/>
                  <a:pt x="42860" y="13912"/>
                  <a:pt x="37876" y="13912"/>
                </a:cubicBezTo>
                <a:cubicBezTo>
                  <a:pt x="25916" y="13912"/>
                  <a:pt x="17941" y="22855"/>
                  <a:pt x="20932" y="34779"/>
                </a:cubicBezTo>
                <a:cubicBezTo>
                  <a:pt x="24919" y="47696"/>
                  <a:pt x="32893" y="59620"/>
                  <a:pt x="43857" y="67570"/>
                </a:cubicBezTo>
                <a:cubicBezTo>
                  <a:pt x="51831" y="73532"/>
                  <a:pt x="59806" y="72539"/>
                  <a:pt x="66783" y="65583"/>
                </a:cubicBezTo>
                <a:cubicBezTo>
                  <a:pt x="69773" y="62602"/>
                  <a:pt x="70769" y="59620"/>
                  <a:pt x="67780" y="55646"/>
                </a:cubicBezTo>
                <a:cubicBezTo>
                  <a:pt x="65786" y="53659"/>
                  <a:pt x="63792" y="50677"/>
                  <a:pt x="61799" y="47696"/>
                </a:cubicBezTo>
                <a:cubicBezTo>
                  <a:pt x="58809" y="43722"/>
                  <a:pt x="57812" y="43722"/>
                  <a:pt x="52828" y="45709"/>
                </a:cubicBezTo>
                <a:cubicBezTo>
                  <a:pt x="51831" y="46703"/>
                  <a:pt x="50834" y="46703"/>
                  <a:pt x="49837" y="46703"/>
                </a:cubicBezTo>
                <a:cubicBezTo>
                  <a:pt x="51831" y="43722"/>
                  <a:pt x="54822" y="41735"/>
                  <a:pt x="57812" y="39747"/>
                </a:cubicBezTo>
                <a:cubicBezTo>
                  <a:pt x="60803" y="37760"/>
                  <a:pt x="63792" y="34779"/>
                  <a:pt x="66783" y="32791"/>
                </a:cubicBezTo>
                <a:cubicBezTo>
                  <a:pt x="69773" y="30804"/>
                  <a:pt x="71766" y="28816"/>
                  <a:pt x="74757" y="26829"/>
                </a:cubicBezTo>
                <a:cubicBezTo>
                  <a:pt x="75753" y="26829"/>
                  <a:pt x="75753" y="26829"/>
                  <a:pt x="75753" y="27823"/>
                </a:cubicBezTo>
                <a:cubicBezTo>
                  <a:pt x="75753" y="27823"/>
                  <a:pt x="74757" y="28816"/>
                  <a:pt x="74757" y="28816"/>
                </a:cubicBezTo>
                <a:cubicBezTo>
                  <a:pt x="71766" y="33785"/>
                  <a:pt x="70769" y="35772"/>
                  <a:pt x="74757" y="39747"/>
                </a:cubicBezTo>
                <a:cubicBezTo>
                  <a:pt x="76750" y="43722"/>
                  <a:pt x="79741" y="46703"/>
                  <a:pt x="81733" y="49684"/>
                </a:cubicBezTo>
                <a:cubicBezTo>
                  <a:pt x="81733" y="50677"/>
                  <a:pt x="81733" y="50677"/>
                  <a:pt x="81733" y="51671"/>
                </a:cubicBezTo>
                <a:cubicBezTo>
                  <a:pt x="73760" y="63595"/>
                  <a:pt x="63792" y="73532"/>
                  <a:pt x="48842" y="77507"/>
                </a:cubicBezTo>
                <a:cubicBezTo>
                  <a:pt x="42860" y="79494"/>
                  <a:pt x="36880" y="78500"/>
                  <a:pt x="30899" y="75519"/>
                </a:cubicBezTo>
                <a:cubicBezTo>
                  <a:pt x="10964" y="65583"/>
                  <a:pt x="0" y="34779"/>
                  <a:pt x="23922" y="14905"/>
                </a:cubicBezTo>
                <a:cubicBezTo>
                  <a:pt x="26913" y="12917"/>
                  <a:pt x="31896" y="11924"/>
                  <a:pt x="35884" y="9936"/>
                </a:cubicBezTo>
                <a:cubicBezTo>
                  <a:pt x="36880" y="8943"/>
                  <a:pt x="37876" y="8943"/>
                  <a:pt x="38873" y="8943"/>
                </a:cubicBezTo>
                <a:cubicBezTo>
                  <a:pt x="43857" y="6956"/>
                  <a:pt x="43857" y="6956"/>
                  <a:pt x="43857" y="1988"/>
                </a:cubicBezTo>
                <a:cubicBezTo>
                  <a:pt x="43857" y="1988"/>
                  <a:pt x="43857" y="1988"/>
                  <a:pt x="43857" y="993"/>
                </a:cubicBezTo>
                <a:cubicBezTo>
                  <a:pt x="43857" y="993"/>
                  <a:pt x="43857" y="993"/>
                  <a:pt x="4385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4902200" y="838200"/>
            <a:ext cx="64939" cy="70537"/>
          </a:xfrm>
          <a:custGeom>
            <a:avLst/>
            <a:gdLst/>
            <a:ahLst/>
            <a:cxnLst/>
            <a:rect l="l" t="t" r="r" b="b"/>
            <a:pathLst>
              <a:path w="64939" h="70537">
                <a:moveTo>
                  <a:pt x="57945" y="69530"/>
                </a:moveTo>
                <a:cubicBezTo>
                  <a:pt x="53950" y="70537"/>
                  <a:pt x="53950" y="68522"/>
                  <a:pt x="52950" y="66506"/>
                </a:cubicBezTo>
                <a:cubicBezTo>
                  <a:pt x="42959" y="55422"/>
                  <a:pt x="33969" y="43330"/>
                  <a:pt x="24977" y="31238"/>
                </a:cubicBezTo>
                <a:cubicBezTo>
                  <a:pt x="20980" y="27207"/>
                  <a:pt x="16984" y="22169"/>
                  <a:pt x="12988" y="17131"/>
                </a:cubicBezTo>
                <a:cubicBezTo>
                  <a:pt x="12988" y="19145"/>
                  <a:pt x="11989" y="20154"/>
                  <a:pt x="11989" y="21161"/>
                </a:cubicBezTo>
                <a:cubicBezTo>
                  <a:pt x="11989" y="33254"/>
                  <a:pt x="11989" y="44337"/>
                  <a:pt x="11989" y="56430"/>
                </a:cubicBezTo>
                <a:cubicBezTo>
                  <a:pt x="11989" y="63483"/>
                  <a:pt x="12988" y="64491"/>
                  <a:pt x="19981" y="66506"/>
                </a:cubicBezTo>
                <a:cubicBezTo>
                  <a:pt x="19981" y="67514"/>
                  <a:pt x="20980" y="67514"/>
                  <a:pt x="20980" y="68522"/>
                </a:cubicBezTo>
                <a:cubicBezTo>
                  <a:pt x="17983" y="69530"/>
                  <a:pt x="4995" y="69530"/>
                  <a:pt x="0" y="68522"/>
                </a:cubicBezTo>
                <a:cubicBezTo>
                  <a:pt x="999" y="67514"/>
                  <a:pt x="1998" y="66506"/>
                  <a:pt x="2997" y="66506"/>
                </a:cubicBezTo>
                <a:cubicBezTo>
                  <a:pt x="6994" y="65499"/>
                  <a:pt x="8992" y="63483"/>
                  <a:pt x="8992" y="58445"/>
                </a:cubicBezTo>
                <a:cubicBezTo>
                  <a:pt x="8992" y="44337"/>
                  <a:pt x="8992" y="29223"/>
                  <a:pt x="8992" y="14107"/>
                </a:cubicBezTo>
                <a:cubicBezTo>
                  <a:pt x="8992" y="11085"/>
                  <a:pt x="6994" y="9069"/>
                  <a:pt x="5994" y="8062"/>
                </a:cubicBezTo>
                <a:cubicBezTo>
                  <a:pt x="3997" y="6046"/>
                  <a:pt x="1998" y="4031"/>
                  <a:pt x="0" y="2015"/>
                </a:cubicBezTo>
                <a:cubicBezTo>
                  <a:pt x="3997" y="1007"/>
                  <a:pt x="6994" y="2015"/>
                  <a:pt x="9991" y="1007"/>
                </a:cubicBezTo>
                <a:cubicBezTo>
                  <a:pt x="17983" y="0"/>
                  <a:pt x="21980" y="3023"/>
                  <a:pt x="26975" y="9069"/>
                </a:cubicBezTo>
                <a:cubicBezTo>
                  <a:pt x="33969" y="19145"/>
                  <a:pt x="41961" y="29223"/>
                  <a:pt x="49953" y="39299"/>
                </a:cubicBezTo>
                <a:cubicBezTo>
                  <a:pt x="50952" y="40307"/>
                  <a:pt x="51951" y="41314"/>
                  <a:pt x="53950" y="42323"/>
                </a:cubicBezTo>
                <a:cubicBezTo>
                  <a:pt x="53950" y="41314"/>
                  <a:pt x="53950" y="39299"/>
                  <a:pt x="53950" y="38292"/>
                </a:cubicBezTo>
                <a:cubicBezTo>
                  <a:pt x="53950" y="30230"/>
                  <a:pt x="53950" y="23176"/>
                  <a:pt x="53950" y="15116"/>
                </a:cubicBezTo>
                <a:cubicBezTo>
                  <a:pt x="53950" y="9069"/>
                  <a:pt x="52950" y="4031"/>
                  <a:pt x="45956" y="3023"/>
                </a:cubicBezTo>
                <a:cubicBezTo>
                  <a:pt x="45956" y="3023"/>
                  <a:pt x="44958" y="3023"/>
                  <a:pt x="44958" y="3023"/>
                </a:cubicBezTo>
                <a:cubicBezTo>
                  <a:pt x="47955" y="1007"/>
                  <a:pt x="60942" y="1007"/>
                  <a:pt x="64939" y="2015"/>
                </a:cubicBezTo>
                <a:cubicBezTo>
                  <a:pt x="63939" y="3023"/>
                  <a:pt x="63939" y="3023"/>
                  <a:pt x="62941" y="4031"/>
                </a:cubicBezTo>
                <a:cubicBezTo>
                  <a:pt x="58945" y="5038"/>
                  <a:pt x="56947" y="8062"/>
                  <a:pt x="57945" y="12092"/>
                </a:cubicBezTo>
                <a:cubicBezTo>
                  <a:pt x="57945" y="17131"/>
                  <a:pt x="57945" y="22169"/>
                  <a:pt x="57945" y="26199"/>
                </a:cubicBezTo>
                <a:cubicBezTo>
                  <a:pt x="57945" y="39299"/>
                  <a:pt x="57945" y="51392"/>
                  <a:pt x="57945" y="64491"/>
                </a:cubicBezTo>
                <a:cubicBezTo>
                  <a:pt x="57945" y="66506"/>
                  <a:pt x="57945" y="67514"/>
                  <a:pt x="57945" y="6953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4978400" y="1651000"/>
            <a:ext cx="50383" cy="71657"/>
          </a:xfrm>
          <a:custGeom>
            <a:avLst/>
            <a:gdLst/>
            <a:ahLst/>
            <a:cxnLst/>
            <a:rect l="l" t="t" r="r" b="b"/>
            <a:pathLst>
              <a:path w="50383" h="71657">
                <a:moveTo>
                  <a:pt x="9069" y="71657"/>
                </a:moveTo>
                <a:cubicBezTo>
                  <a:pt x="22169" y="66610"/>
                  <a:pt x="29223" y="55509"/>
                  <a:pt x="31238" y="41379"/>
                </a:cubicBezTo>
                <a:cubicBezTo>
                  <a:pt x="28216" y="42389"/>
                  <a:pt x="26200" y="43398"/>
                  <a:pt x="23176" y="44407"/>
                </a:cubicBezTo>
                <a:cubicBezTo>
                  <a:pt x="14107" y="46426"/>
                  <a:pt x="7054" y="42389"/>
                  <a:pt x="3023" y="33306"/>
                </a:cubicBezTo>
                <a:cubicBezTo>
                  <a:pt x="0" y="26241"/>
                  <a:pt x="1007" y="19176"/>
                  <a:pt x="3023" y="13120"/>
                </a:cubicBezTo>
                <a:cubicBezTo>
                  <a:pt x="7054" y="5046"/>
                  <a:pt x="13100" y="1010"/>
                  <a:pt x="21161" y="1010"/>
                </a:cubicBezTo>
                <a:cubicBezTo>
                  <a:pt x="29223" y="0"/>
                  <a:pt x="36276" y="3028"/>
                  <a:pt x="41314" y="11102"/>
                </a:cubicBezTo>
                <a:cubicBezTo>
                  <a:pt x="50383" y="26241"/>
                  <a:pt x="47361" y="47435"/>
                  <a:pt x="34261" y="59546"/>
                </a:cubicBezTo>
                <a:cubicBezTo>
                  <a:pt x="28216" y="65602"/>
                  <a:pt x="17131" y="70648"/>
                  <a:pt x="9069" y="71657"/>
                </a:cubicBezTo>
                <a:close/>
                <a:moveTo>
                  <a:pt x="31238" y="32296"/>
                </a:moveTo>
                <a:cubicBezTo>
                  <a:pt x="31238" y="32296"/>
                  <a:pt x="31238" y="32296"/>
                  <a:pt x="32245" y="32296"/>
                </a:cubicBezTo>
                <a:cubicBezTo>
                  <a:pt x="30230" y="25231"/>
                  <a:pt x="29223" y="19176"/>
                  <a:pt x="28216" y="12111"/>
                </a:cubicBezTo>
                <a:cubicBezTo>
                  <a:pt x="27207" y="10093"/>
                  <a:pt x="26200" y="8075"/>
                  <a:pt x="25192" y="6055"/>
                </a:cubicBezTo>
                <a:cubicBezTo>
                  <a:pt x="24185" y="4037"/>
                  <a:pt x="22169" y="3028"/>
                  <a:pt x="19147" y="3028"/>
                </a:cubicBezTo>
                <a:cubicBezTo>
                  <a:pt x="17131" y="4037"/>
                  <a:pt x="15116" y="5046"/>
                  <a:pt x="15116" y="8075"/>
                </a:cubicBezTo>
                <a:cubicBezTo>
                  <a:pt x="15116" y="9083"/>
                  <a:pt x="14107" y="10093"/>
                  <a:pt x="14107" y="10093"/>
                </a:cubicBezTo>
                <a:cubicBezTo>
                  <a:pt x="15116" y="18166"/>
                  <a:pt x="16123" y="25231"/>
                  <a:pt x="18138" y="32296"/>
                </a:cubicBezTo>
                <a:cubicBezTo>
                  <a:pt x="19147" y="34314"/>
                  <a:pt x="20154" y="35324"/>
                  <a:pt x="21161" y="37342"/>
                </a:cubicBezTo>
                <a:cubicBezTo>
                  <a:pt x="23176" y="39361"/>
                  <a:pt x="25192" y="39361"/>
                  <a:pt x="29223" y="39361"/>
                </a:cubicBezTo>
                <a:cubicBezTo>
                  <a:pt x="32245" y="38351"/>
                  <a:pt x="31238" y="35324"/>
                  <a:pt x="31238" y="33306"/>
                </a:cubicBezTo>
                <a:cubicBezTo>
                  <a:pt x="31238" y="33306"/>
                  <a:pt x="31238" y="32296"/>
                  <a:pt x="31238" y="3229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4787900" y="850900"/>
            <a:ext cx="67178" cy="76135"/>
          </a:xfrm>
          <a:custGeom>
            <a:avLst/>
            <a:gdLst/>
            <a:ahLst/>
            <a:cxnLst/>
            <a:rect l="l" t="t" r="r" b="b"/>
            <a:pathLst>
              <a:path w="67178" h="76135">
                <a:moveTo>
                  <a:pt x="41492" y="6922"/>
                </a:moveTo>
                <a:cubicBezTo>
                  <a:pt x="44456" y="3955"/>
                  <a:pt x="56311" y="989"/>
                  <a:pt x="61251" y="0"/>
                </a:cubicBezTo>
                <a:cubicBezTo>
                  <a:pt x="60263" y="989"/>
                  <a:pt x="60263" y="1977"/>
                  <a:pt x="59275" y="2967"/>
                </a:cubicBezTo>
                <a:cubicBezTo>
                  <a:pt x="56311" y="4944"/>
                  <a:pt x="55322" y="7910"/>
                  <a:pt x="56311" y="11866"/>
                </a:cubicBezTo>
                <a:cubicBezTo>
                  <a:pt x="59275" y="20765"/>
                  <a:pt x="62239" y="30651"/>
                  <a:pt x="64214" y="39550"/>
                </a:cubicBezTo>
                <a:cubicBezTo>
                  <a:pt x="65202" y="44494"/>
                  <a:pt x="66190" y="49439"/>
                  <a:pt x="66190" y="54383"/>
                </a:cubicBezTo>
                <a:cubicBezTo>
                  <a:pt x="67178" y="60315"/>
                  <a:pt x="65202" y="64270"/>
                  <a:pt x="61251" y="67236"/>
                </a:cubicBezTo>
                <a:cubicBezTo>
                  <a:pt x="53348" y="73169"/>
                  <a:pt x="43468" y="76135"/>
                  <a:pt x="33589" y="75146"/>
                </a:cubicBezTo>
                <a:cubicBezTo>
                  <a:pt x="27662" y="74158"/>
                  <a:pt x="23710" y="71191"/>
                  <a:pt x="20747" y="65259"/>
                </a:cubicBezTo>
                <a:cubicBezTo>
                  <a:pt x="19759" y="63282"/>
                  <a:pt x="18771" y="61303"/>
                  <a:pt x="18771" y="59326"/>
                </a:cubicBezTo>
                <a:cubicBezTo>
                  <a:pt x="15806" y="48449"/>
                  <a:pt x="12842" y="37573"/>
                  <a:pt x="9879" y="26697"/>
                </a:cubicBezTo>
                <a:cubicBezTo>
                  <a:pt x="9879" y="26697"/>
                  <a:pt x="8891" y="25707"/>
                  <a:pt x="8891" y="24719"/>
                </a:cubicBezTo>
                <a:cubicBezTo>
                  <a:pt x="7903" y="21753"/>
                  <a:pt x="5927" y="19775"/>
                  <a:pt x="1976" y="19775"/>
                </a:cubicBezTo>
                <a:cubicBezTo>
                  <a:pt x="988" y="19775"/>
                  <a:pt x="988" y="19775"/>
                  <a:pt x="0" y="18787"/>
                </a:cubicBezTo>
                <a:cubicBezTo>
                  <a:pt x="7903" y="14831"/>
                  <a:pt x="17783" y="12854"/>
                  <a:pt x="26674" y="9888"/>
                </a:cubicBezTo>
                <a:cubicBezTo>
                  <a:pt x="27662" y="9888"/>
                  <a:pt x="28650" y="9888"/>
                  <a:pt x="29637" y="9888"/>
                </a:cubicBezTo>
                <a:cubicBezTo>
                  <a:pt x="29637" y="9888"/>
                  <a:pt x="29637" y="9888"/>
                  <a:pt x="29637" y="10876"/>
                </a:cubicBezTo>
                <a:cubicBezTo>
                  <a:pt x="28650" y="10876"/>
                  <a:pt x="27662" y="11866"/>
                  <a:pt x="26674" y="11866"/>
                </a:cubicBezTo>
                <a:cubicBezTo>
                  <a:pt x="23710" y="13843"/>
                  <a:pt x="22722" y="15820"/>
                  <a:pt x="23710" y="19775"/>
                </a:cubicBezTo>
                <a:cubicBezTo>
                  <a:pt x="26674" y="32629"/>
                  <a:pt x="30625" y="45484"/>
                  <a:pt x="33589" y="58337"/>
                </a:cubicBezTo>
                <a:cubicBezTo>
                  <a:pt x="34577" y="59326"/>
                  <a:pt x="34577" y="59326"/>
                  <a:pt x="34577" y="60315"/>
                </a:cubicBezTo>
                <a:cubicBezTo>
                  <a:pt x="37541" y="67236"/>
                  <a:pt x="42480" y="70202"/>
                  <a:pt x="49395" y="69214"/>
                </a:cubicBezTo>
                <a:cubicBezTo>
                  <a:pt x="58287" y="67236"/>
                  <a:pt x="63227" y="62292"/>
                  <a:pt x="63227" y="54383"/>
                </a:cubicBezTo>
                <a:cubicBezTo>
                  <a:pt x="63227" y="50427"/>
                  <a:pt x="62239" y="47461"/>
                  <a:pt x="62239" y="44494"/>
                </a:cubicBezTo>
                <a:cubicBezTo>
                  <a:pt x="59275" y="34606"/>
                  <a:pt x="56311" y="24719"/>
                  <a:pt x="53348" y="14831"/>
                </a:cubicBezTo>
                <a:cubicBezTo>
                  <a:pt x="51372" y="7910"/>
                  <a:pt x="50383" y="6922"/>
                  <a:pt x="43468" y="6922"/>
                </a:cubicBezTo>
                <a:cubicBezTo>
                  <a:pt x="42480" y="6922"/>
                  <a:pt x="42480" y="6922"/>
                  <a:pt x="41492" y="692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5295900" y="1104900"/>
            <a:ext cx="78376" cy="62700"/>
          </a:xfrm>
          <a:custGeom>
            <a:avLst/>
            <a:gdLst/>
            <a:ahLst/>
            <a:cxnLst/>
            <a:rect l="l" t="t" r="r" b="b"/>
            <a:pathLst>
              <a:path w="78376" h="62700">
                <a:moveTo>
                  <a:pt x="0" y="21895"/>
                </a:moveTo>
                <a:cubicBezTo>
                  <a:pt x="6944" y="18909"/>
                  <a:pt x="13889" y="15923"/>
                  <a:pt x="19841" y="12937"/>
                </a:cubicBezTo>
                <a:cubicBezTo>
                  <a:pt x="21826" y="14929"/>
                  <a:pt x="20834" y="15923"/>
                  <a:pt x="19841" y="16919"/>
                </a:cubicBezTo>
                <a:cubicBezTo>
                  <a:pt x="16866" y="19905"/>
                  <a:pt x="13889" y="22890"/>
                  <a:pt x="11905" y="25876"/>
                </a:cubicBezTo>
                <a:cubicBezTo>
                  <a:pt x="7936" y="32843"/>
                  <a:pt x="8929" y="38814"/>
                  <a:pt x="12897" y="45781"/>
                </a:cubicBezTo>
                <a:cubicBezTo>
                  <a:pt x="15874" y="49762"/>
                  <a:pt x="18849" y="50757"/>
                  <a:pt x="23810" y="49762"/>
                </a:cubicBezTo>
                <a:cubicBezTo>
                  <a:pt x="27779" y="48767"/>
                  <a:pt x="30754" y="45781"/>
                  <a:pt x="31747" y="41800"/>
                </a:cubicBezTo>
                <a:cubicBezTo>
                  <a:pt x="31747" y="39809"/>
                  <a:pt x="31747" y="36824"/>
                  <a:pt x="31747" y="34834"/>
                </a:cubicBezTo>
                <a:cubicBezTo>
                  <a:pt x="32739" y="27866"/>
                  <a:pt x="32739" y="20900"/>
                  <a:pt x="34723" y="13933"/>
                </a:cubicBezTo>
                <a:cubicBezTo>
                  <a:pt x="36707" y="5972"/>
                  <a:pt x="42659" y="1990"/>
                  <a:pt x="50597" y="996"/>
                </a:cubicBezTo>
                <a:cubicBezTo>
                  <a:pt x="56549" y="0"/>
                  <a:pt x="61510" y="2986"/>
                  <a:pt x="65477" y="6967"/>
                </a:cubicBezTo>
                <a:cubicBezTo>
                  <a:pt x="69446" y="11943"/>
                  <a:pt x="71430" y="17915"/>
                  <a:pt x="72423" y="23886"/>
                </a:cubicBezTo>
                <a:cubicBezTo>
                  <a:pt x="72423" y="25876"/>
                  <a:pt x="72423" y="26872"/>
                  <a:pt x="72423" y="27866"/>
                </a:cubicBezTo>
                <a:cubicBezTo>
                  <a:pt x="72423" y="29858"/>
                  <a:pt x="73415" y="31848"/>
                  <a:pt x="75399" y="31848"/>
                </a:cubicBezTo>
                <a:cubicBezTo>
                  <a:pt x="76390" y="31848"/>
                  <a:pt x="77382" y="32843"/>
                  <a:pt x="78376" y="33838"/>
                </a:cubicBezTo>
                <a:cubicBezTo>
                  <a:pt x="74407" y="36824"/>
                  <a:pt x="62502" y="41800"/>
                  <a:pt x="58533" y="41800"/>
                </a:cubicBezTo>
                <a:cubicBezTo>
                  <a:pt x="59525" y="39809"/>
                  <a:pt x="60518" y="38814"/>
                  <a:pt x="61510" y="37819"/>
                </a:cubicBezTo>
                <a:cubicBezTo>
                  <a:pt x="64486" y="33838"/>
                  <a:pt x="67462" y="30852"/>
                  <a:pt x="68454" y="25876"/>
                </a:cubicBezTo>
                <a:cubicBezTo>
                  <a:pt x="69446" y="20900"/>
                  <a:pt x="68454" y="15923"/>
                  <a:pt x="64486" y="11943"/>
                </a:cubicBezTo>
                <a:cubicBezTo>
                  <a:pt x="60518" y="6967"/>
                  <a:pt x="52581" y="7962"/>
                  <a:pt x="49605" y="13933"/>
                </a:cubicBezTo>
                <a:cubicBezTo>
                  <a:pt x="48612" y="15923"/>
                  <a:pt x="48612" y="18909"/>
                  <a:pt x="48612" y="20900"/>
                </a:cubicBezTo>
                <a:cubicBezTo>
                  <a:pt x="47620" y="26872"/>
                  <a:pt x="48612" y="32843"/>
                  <a:pt x="47620" y="38814"/>
                </a:cubicBezTo>
                <a:cubicBezTo>
                  <a:pt x="46628" y="41800"/>
                  <a:pt x="46628" y="45781"/>
                  <a:pt x="44644" y="49762"/>
                </a:cubicBezTo>
                <a:cubicBezTo>
                  <a:pt x="38692" y="59714"/>
                  <a:pt x="23810" y="62700"/>
                  <a:pt x="14882" y="52748"/>
                </a:cubicBezTo>
                <a:cubicBezTo>
                  <a:pt x="10913" y="46777"/>
                  <a:pt x="7936" y="40805"/>
                  <a:pt x="6944" y="33838"/>
                </a:cubicBezTo>
                <a:cubicBezTo>
                  <a:pt x="4961" y="26872"/>
                  <a:pt x="4961" y="26872"/>
                  <a:pt x="0" y="218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5295900" y="1397000"/>
            <a:ext cx="77255" cy="71657"/>
          </a:xfrm>
          <a:custGeom>
            <a:avLst/>
            <a:gdLst/>
            <a:ahLst/>
            <a:cxnLst/>
            <a:rect l="l" t="t" r="r" b="b"/>
            <a:pathLst>
              <a:path w="77255" h="71657">
                <a:moveTo>
                  <a:pt x="64212" y="39809"/>
                </a:moveTo>
                <a:cubicBezTo>
                  <a:pt x="65216" y="38814"/>
                  <a:pt x="65216" y="37819"/>
                  <a:pt x="65216" y="36824"/>
                </a:cubicBezTo>
                <a:cubicBezTo>
                  <a:pt x="67222" y="30852"/>
                  <a:pt x="66219" y="29858"/>
                  <a:pt x="59196" y="29858"/>
                </a:cubicBezTo>
                <a:cubicBezTo>
                  <a:pt x="54178" y="30852"/>
                  <a:pt x="50165" y="30852"/>
                  <a:pt x="45148" y="31848"/>
                </a:cubicBezTo>
                <a:cubicBezTo>
                  <a:pt x="42139" y="31848"/>
                  <a:pt x="40132" y="31848"/>
                  <a:pt x="37122" y="31848"/>
                </a:cubicBezTo>
                <a:cubicBezTo>
                  <a:pt x="36119" y="32842"/>
                  <a:pt x="35116" y="32842"/>
                  <a:pt x="33109" y="32842"/>
                </a:cubicBezTo>
                <a:cubicBezTo>
                  <a:pt x="35116" y="35828"/>
                  <a:pt x="37122" y="38814"/>
                  <a:pt x="39129" y="40805"/>
                </a:cubicBezTo>
                <a:cubicBezTo>
                  <a:pt x="41135" y="44785"/>
                  <a:pt x="44145" y="47771"/>
                  <a:pt x="47155" y="51752"/>
                </a:cubicBezTo>
                <a:cubicBezTo>
                  <a:pt x="48158" y="52747"/>
                  <a:pt x="49162" y="54738"/>
                  <a:pt x="50165" y="55733"/>
                </a:cubicBezTo>
                <a:cubicBezTo>
                  <a:pt x="53175" y="57724"/>
                  <a:pt x="55183" y="57724"/>
                  <a:pt x="57189" y="54738"/>
                </a:cubicBezTo>
                <a:cubicBezTo>
                  <a:pt x="58193" y="53743"/>
                  <a:pt x="59196" y="52747"/>
                  <a:pt x="60199" y="50757"/>
                </a:cubicBezTo>
                <a:cubicBezTo>
                  <a:pt x="60199" y="54738"/>
                  <a:pt x="56186" y="67676"/>
                  <a:pt x="53175" y="71657"/>
                </a:cubicBezTo>
                <a:cubicBezTo>
                  <a:pt x="53175" y="70662"/>
                  <a:pt x="52172" y="70662"/>
                  <a:pt x="52172" y="70662"/>
                </a:cubicBezTo>
                <a:cubicBezTo>
                  <a:pt x="52172" y="66681"/>
                  <a:pt x="50165" y="63696"/>
                  <a:pt x="48158" y="59714"/>
                </a:cubicBezTo>
                <a:cubicBezTo>
                  <a:pt x="42139" y="52747"/>
                  <a:pt x="37122" y="44785"/>
                  <a:pt x="31102" y="36824"/>
                </a:cubicBezTo>
                <a:cubicBezTo>
                  <a:pt x="30099" y="34834"/>
                  <a:pt x="29096" y="33838"/>
                  <a:pt x="26086" y="32842"/>
                </a:cubicBezTo>
                <a:cubicBezTo>
                  <a:pt x="22073" y="30852"/>
                  <a:pt x="17056" y="28862"/>
                  <a:pt x="13043" y="26872"/>
                </a:cubicBezTo>
                <a:cubicBezTo>
                  <a:pt x="7023" y="24881"/>
                  <a:pt x="6020" y="24881"/>
                  <a:pt x="2007" y="30852"/>
                </a:cubicBezTo>
                <a:cubicBezTo>
                  <a:pt x="2007" y="30852"/>
                  <a:pt x="1003" y="30852"/>
                  <a:pt x="1003" y="31848"/>
                </a:cubicBezTo>
                <a:cubicBezTo>
                  <a:pt x="1003" y="30852"/>
                  <a:pt x="0" y="30852"/>
                  <a:pt x="0" y="29858"/>
                </a:cubicBezTo>
                <a:cubicBezTo>
                  <a:pt x="4013" y="19905"/>
                  <a:pt x="8026" y="10947"/>
                  <a:pt x="12040" y="996"/>
                </a:cubicBezTo>
                <a:cubicBezTo>
                  <a:pt x="12040" y="996"/>
                  <a:pt x="12040" y="0"/>
                  <a:pt x="13043" y="0"/>
                </a:cubicBezTo>
                <a:cubicBezTo>
                  <a:pt x="13043" y="996"/>
                  <a:pt x="13043" y="1990"/>
                  <a:pt x="13043" y="2986"/>
                </a:cubicBezTo>
                <a:cubicBezTo>
                  <a:pt x="12040" y="7962"/>
                  <a:pt x="13043" y="9953"/>
                  <a:pt x="18059" y="11943"/>
                </a:cubicBezTo>
                <a:cubicBezTo>
                  <a:pt x="22073" y="13933"/>
                  <a:pt x="26086" y="15923"/>
                  <a:pt x="30099" y="16919"/>
                </a:cubicBezTo>
                <a:cubicBezTo>
                  <a:pt x="31102" y="17915"/>
                  <a:pt x="33109" y="17915"/>
                  <a:pt x="34112" y="17915"/>
                </a:cubicBezTo>
                <a:cubicBezTo>
                  <a:pt x="45148" y="16919"/>
                  <a:pt x="56186" y="14929"/>
                  <a:pt x="67222" y="13933"/>
                </a:cubicBezTo>
                <a:cubicBezTo>
                  <a:pt x="70232" y="12937"/>
                  <a:pt x="74245" y="11943"/>
                  <a:pt x="76252" y="7962"/>
                </a:cubicBezTo>
                <a:cubicBezTo>
                  <a:pt x="77255" y="8957"/>
                  <a:pt x="77255" y="9953"/>
                  <a:pt x="77255" y="9953"/>
                </a:cubicBezTo>
                <a:cubicBezTo>
                  <a:pt x="74245" y="19905"/>
                  <a:pt x="70232" y="28862"/>
                  <a:pt x="66219" y="38814"/>
                </a:cubicBezTo>
                <a:cubicBezTo>
                  <a:pt x="66219" y="38814"/>
                  <a:pt x="66219" y="38814"/>
                  <a:pt x="64212" y="3980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5321300" y="1295400"/>
            <a:ext cx="68298" cy="60460"/>
          </a:xfrm>
          <a:custGeom>
            <a:avLst/>
            <a:gdLst/>
            <a:ahLst/>
            <a:cxnLst/>
            <a:rect l="l" t="t" r="r" b="b"/>
            <a:pathLst>
              <a:path w="68298" h="60460">
                <a:moveTo>
                  <a:pt x="5022" y="9911"/>
                </a:moveTo>
                <a:cubicBezTo>
                  <a:pt x="5022" y="10903"/>
                  <a:pt x="5022" y="11894"/>
                  <a:pt x="5022" y="12885"/>
                </a:cubicBezTo>
                <a:cubicBezTo>
                  <a:pt x="6026" y="16849"/>
                  <a:pt x="8035" y="18832"/>
                  <a:pt x="12052" y="19823"/>
                </a:cubicBezTo>
                <a:cubicBezTo>
                  <a:pt x="20088" y="19823"/>
                  <a:pt x="29127" y="20814"/>
                  <a:pt x="37163" y="21805"/>
                </a:cubicBezTo>
                <a:cubicBezTo>
                  <a:pt x="45197" y="21805"/>
                  <a:pt x="53232" y="22796"/>
                  <a:pt x="61267" y="22796"/>
                </a:cubicBezTo>
                <a:cubicBezTo>
                  <a:pt x="62272" y="22796"/>
                  <a:pt x="63276" y="22796"/>
                  <a:pt x="64281" y="22796"/>
                </a:cubicBezTo>
                <a:cubicBezTo>
                  <a:pt x="65284" y="19823"/>
                  <a:pt x="64281" y="16849"/>
                  <a:pt x="63276" y="13876"/>
                </a:cubicBezTo>
                <a:cubicBezTo>
                  <a:pt x="62272" y="9911"/>
                  <a:pt x="61267" y="7929"/>
                  <a:pt x="58254" y="5947"/>
                </a:cubicBezTo>
                <a:cubicBezTo>
                  <a:pt x="55241" y="3965"/>
                  <a:pt x="52227" y="2973"/>
                  <a:pt x="50220" y="991"/>
                </a:cubicBezTo>
                <a:cubicBezTo>
                  <a:pt x="56246" y="0"/>
                  <a:pt x="62272" y="991"/>
                  <a:pt x="68298" y="1982"/>
                </a:cubicBezTo>
                <a:cubicBezTo>
                  <a:pt x="67293" y="20814"/>
                  <a:pt x="65284" y="40637"/>
                  <a:pt x="64281" y="60460"/>
                </a:cubicBezTo>
                <a:cubicBezTo>
                  <a:pt x="58254" y="60460"/>
                  <a:pt x="52227" y="60460"/>
                  <a:pt x="46201" y="59469"/>
                </a:cubicBezTo>
                <a:cubicBezTo>
                  <a:pt x="46201" y="58477"/>
                  <a:pt x="46201" y="57487"/>
                  <a:pt x="47206" y="56496"/>
                </a:cubicBezTo>
                <a:cubicBezTo>
                  <a:pt x="47206" y="56496"/>
                  <a:pt x="48210" y="56496"/>
                  <a:pt x="49215" y="56496"/>
                </a:cubicBezTo>
                <a:cubicBezTo>
                  <a:pt x="58254" y="54513"/>
                  <a:pt x="63276" y="49558"/>
                  <a:pt x="63276" y="39646"/>
                </a:cubicBezTo>
                <a:cubicBezTo>
                  <a:pt x="62272" y="38655"/>
                  <a:pt x="61267" y="38655"/>
                  <a:pt x="60263" y="38655"/>
                </a:cubicBezTo>
                <a:cubicBezTo>
                  <a:pt x="46201" y="37663"/>
                  <a:pt x="31135" y="36673"/>
                  <a:pt x="17074" y="35682"/>
                </a:cubicBezTo>
                <a:cubicBezTo>
                  <a:pt x="15066" y="35682"/>
                  <a:pt x="13057" y="34690"/>
                  <a:pt x="12052" y="34690"/>
                </a:cubicBezTo>
                <a:cubicBezTo>
                  <a:pt x="7031" y="34690"/>
                  <a:pt x="4017" y="35682"/>
                  <a:pt x="3014" y="40637"/>
                </a:cubicBezTo>
                <a:cubicBezTo>
                  <a:pt x="3014" y="41628"/>
                  <a:pt x="3014" y="42620"/>
                  <a:pt x="2009" y="44601"/>
                </a:cubicBezTo>
                <a:cubicBezTo>
                  <a:pt x="0" y="40637"/>
                  <a:pt x="2009" y="37663"/>
                  <a:pt x="2009" y="35682"/>
                </a:cubicBezTo>
                <a:cubicBezTo>
                  <a:pt x="2009" y="32708"/>
                  <a:pt x="2009" y="29735"/>
                  <a:pt x="2009" y="26761"/>
                </a:cubicBezTo>
                <a:cubicBezTo>
                  <a:pt x="2009" y="23787"/>
                  <a:pt x="2009" y="20814"/>
                  <a:pt x="3014" y="17841"/>
                </a:cubicBezTo>
                <a:cubicBezTo>
                  <a:pt x="3014" y="14867"/>
                  <a:pt x="2009" y="11894"/>
                  <a:pt x="4017" y="8920"/>
                </a:cubicBezTo>
                <a:cubicBezTo>
                  <a:pt x="4017" y="8920"/>
                  <a:pt x="4017" y="9911"/>
                  <a:pt x="5022" y="991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5092700" y="863600"/>
            <a:ext cx="61580" cy="77255"/>
          </a:xfrm>
          <a:custGeom>
            <a:avLst/>
            <a:gdLst/>
            <a:ahLst/>
            <a:cxnLst/>
            <a:rect l="l" t="t" r="r" b="b"/>
            <a:pathLst>
              <a:path w="61580" h="77255">
                <a:moveTo>
                  <a:pt x="6057" y="77255"/>
                </a:moveTo>
                <a:cubicBezTo>
                  <a:pt x="5047" y="74245"/>
                  <a:pt x="5047" y="73242"/>
                  <a:pt x="5047" y="71236"/>
                </a:cubicBezTo>
                <a:cubicBezTo>
                  <a:pt x="5047" y="52172"/>
                  <a:pt x="5047" y="33109"/>
                  <a:pt x="5047" y="14046"/>
                </a:cubicBezTo>
                <a:cubicBezTo>
                  <a:pt x="5047" y="9030"/>
                  <a:pt x="5047" y="4013"/>
                  <a:pt x="0" y="1003"/>
                </a:cubicBezTo>
                <a:cubicBezTo>
                  <a:pt x="4039" y="0"/>
                  <a:pt x="26247" y="10033"/>
                  <a:pt x="29276" y="14046"/>
                </a:cubicBezTo>
                <a:cubicBezTo>
                  <a:pt x="28266" y="13043"/>
                  <a:pt x="27257" y="13043"/>
                  <a:pt x="25237" y="13043"/>
                </a:cubicBezTo>
                <a:cubicBezTo>
                  <a:pt x="22210" y="12040"/>
                  <a:pt x="21200" y="13043"/>
                  <a:pt x="20190" y="16053"/>
                </a:cubicBezTo>
                <a:cubicBezTo>
                  <a:pt x="20190" y="17056"/>
                  <a:pt x="20190" y="18059"/>
                  <a:pt x="20190" y="19063"/>
                </a:cubicBezTo>
                <a:cubicBezTo>
                  <a:pt x="19181" y="31102"/>
                  <a:pt x="19181" y="43142"/>
                  <a:pt x="19181" y="55183"/>
                </a:cubicBezTo>
                <a:cubicBezTo>
                  <a:pt x="19181" y="55183"/>
                  <a:pt x="19181" y="56186"/>
                  <a:pt x="20190" y="57189"/>
                </a:cubicBezTo>
                <a:cubicBezTo>
                  <a:pt x="20190" y="57189"/>
                  <a:pt x="21200" y="57189"/>
                  <a:pt x="21200" y="57189"/>
                </a:cubicBezTo>
                <a:cubicBezTo>
                  <a:pt x="29276" y="48158"/>
                  <a:pt x="37352" y="40132"/>
                  <a:pt x="45428" y="31102"/>
                </a:cubicBezTo>
                <a:cubicBezTo>
                  <a:pt x="45428" y="31102"/>
                  <a:pt x="45428" y="31102"/>
                  <a:pt x="45428" y="31102"/>
                </a:cubicBezTo>
                <a:cubicBezTo>
                  <a:pt x="49466" y="26086"/>
                  <a:pt x="49466" y="24079"/>
                  <a:pt x="44418" y="21069"/>
                </a:cubicBezTo>
                <a:cubicBezTo>
                  <a:pt x="43409" y="20066"/>
                  <a:pt x="43409" y="20066"/>
                  <a:pt x="43409" y="19063"/>
                </a:cubicBezTo>
                <a:cubicBezTo>
                  <a:pt x="49466" y="20066"/>
                  <a:pt x="55523" y="23076"/>
                  <a:pt x="61580" y="26086"/>
                </a:cubicBezTo>
                <a:cubicBezTo>
                  <a:pt x="60570" y="27089"/>
                  <a:pt x="60570" y="27089"/>
                  <a:pt x="59560" y="27089"/>
                </a:cubicBezTo>
                <a:cubicBezTo>
                  <a:pt x="55523" y="27089"/>
                  <a:pt x="52494" y="29096"/>
                  <a:pt x="49466" y="32106"/>
                </a:cubicBezTo>
                <a:cubicBezTo>
                  <a:pt x="36342" y="46152"/>
                  <a:pt x="23218" y="60199"/>
                  <a:pt x="10095" y="73242"/>
                </a:cubicBezTo>
                <a:cubicBezTo>
                  <a:pt x="9086" y="74245"/>
                  <a:pt x="8076" y="75249"/>
                  <a:pt x="6057" y="7725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4533900" y="1092200"/>
            <a:ext cx="70537" cy="61580"/>
          </a:xfrm>
          <a:custGeom>
            <a:avLst/>
            <a:gdLst/>
            <a:ahLst/>
            <a:cxnLst/>
            <a:rect l="l" t="t" r="r" b="b"/>
            <a:pathLst>
              <a:path w="70537" h="61580">
                <a:moveTo>
                  <a:pt x="0" y="32304"/>
                </a:moveTo>
                <a:cubicBezTo>
                  <a:pt x="0" y="27257"/>
                  <a:pt x="10928" y="4039"/>
                  <a:pt x="14902" y="0"/>
                </a:cubicBezTo>
                <a:cubicBezTo>
                  <a:pt x="13909" y="1010"/>
                  <a:pt x="13909" y="2019"/>
                  <a:pt x="13909" y="3029"/>
                </a:cubicBezTo>
                <a:cubicBezTo>
                  <a:pt x="12915" y="9086"/>
                  <a:pt x="13909" y="11105"/>
                  <a:pt x="18876" y="13124"/>
                </a:cubicBezTo>
                <a:cubicBezTo>
                  <a:pt x="31792" y="20190"/>
                  <a:pt x="44707" y="27257"/>
                  <a:pt x="57621" y="33313"/>
                </a:cubicBezTo>
                <a:cubicBezTo>
                  <a:pt x="62589" y="36342"/>
                  <a:pt x="64576" y="35333"/>
                  <a:pt x="67556" y="31295"/>
                </a:cubicBezTo>
                <a:cubicBezTo>
                  <a:pt x="68550" y="30286"/>
                  <a:pt x="69544" y="29276"/>
                  <a:pt x="70537" y="28266"/>
                </a:cubicBezTo>
                <a:cubicBezTo>
                  <a:pt x="69544" y="32304"/>
                  <a:pt x="59609" y="56533"/>
                  <a:pt x="55635" y="61580"/>
                </a:cubicBezTo>
                <a:cubicBezTo>
                  <a:pt x="55635" y="59560"/>
                  <a:pt x="55635" y="58552"/>
                  <a:pt x="55635" y="57542"/>
                </a:cubicBezTo>
                <a:cubicBezTo>
                  <a:pt x="56628" y="52494"/>
                  <a:pt x="55635" y="50475"/>
                  <a:pt x="51661" y="47447"/>
                </a:cubicBezTo>
                <a:cubicBezTo>
                  <a:pt x="38745" y="41389"/>
                  <a:pt x="25831" y="34323"/>
                  <a:pt x="12915" y="28266"/>
                </a:cubicBezTo>
                <a:cubicBezTo>
                  <a:pt x="6955" y="25237"/>
                  <a:pt x="5961" y="25237"/>
                  <a:pt x="993" y="30286"/>
                </a:cubicBezTo>
                <a:cubicBezTo>
                  <a:pt x="993" y="31295"/>
                  <a:pt x="993" y="31295"/>
                  <a:pt x="0" y="323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5321300" y="1206500"/>
            <a:ext cx="68298" cy="44785"/>
          </a:xfrm>
          <a:custGeom>
            <a:avLst/>
            <a:gdLst/>
            <a:ahLst/>
            <a:cxnLst/>
            <a:rect l="l" t="t" r="r" b="b"/>
            <a:pathLst>
              <a:path w="68298" h="44785">
                <a:moveTo>
                  <a:pt x="4949" y="44785"/>
                </a:moveTo>
                <a:cubicBezTo>
                  <a:pt x="2969" y="34832"/>
                  <a:pt x="1980" y="23885"/>
                  <a:pt x="0" y="12937"/>
                </a:cubicBezTo>
                <a:cubicBezTo>
                  <a:pt x="0" y="12937"/>
                  <a:pt x="0" y="11943"/>
                  <a:pt x="989" y="10947"/>
                </a:cubicBezTo>
                <a:cubicBezTo>
                  <a:pt x="1980" y="12937"/>
                  <a:pt x="1980" y="13933"/>
                  <a:pt x="2969" y="14929"/>
                </a:cubicBezTo>
                <a:cubicBezTo>
                  <a:pt x="4949" y="18909"/>
                  <a:pt x="5939" y="19905"/>
                  <a:pt x="10888" y="18909"/>
                </a:cubicBezTo>
                <a:cubicBezTo>
                  <a:pt x="22766" y="16919"/>
                  <a:pt x="34644" y="14929"/>
                  <a:pt x="46521" y="12937"/>
                </a:cubicBezTo>
                <a:cubicBezTo>
                  <a:pt x="49492" y="12937"/>
                  <a:pt x="51471" y="11943"/>
                  <a:pt x="54440" y="11943"/>
                </a:cubicBezTo>
                <a:cubicBezTo>
                  <a:pt x="59389" y="10947"/>
                  <a:pt x="60380" y="8957"/>
                  <a:pt x="61369" y="4976"/>
                </a:cubicBezTo>
                <a:cubicBezTo>
                  <a:pt x="61369" y="3981"/>
                  <a:pt x="61369" y="2986"/>
                  <a:pt x="61369" y="0"/>
                </a:cubicBezTo>
                <a:cubicBezTo>
                  <a:pt x="62360" y="1990"/>
                  <a:pt x="63349" y="2986"/>
                  <a:pt x="63349" y="2986"/>
                </a:cubicBezTo>
                <a:cubicBezTo>
                  <a:pt x="64338" y="13933"/>
                  <a:pt x="66318" y="23885"/>
                  <a:pt x="68298" y="34832"/>
                </a:cubicBezTo>
                <a:cubicBezTo>
                  <a:pt x="67309" y="34832"/>
                  <a:pt x="67309" y="34832"/>
                  <a:pt x="66318" y="34832"/>
                </a:cubicBezTo>
                <a:cubicBezTo>
                  <a:pt x="66318" y="34832"/>
                  <a:pt x="65329" y="33838"/>
                  <a:pt x="65329" y="32842"/>
                </a:cubicBezTo>
                <a:cubicBezTo>
                  <a:pt x="63349" y="27866"/>
                  <a:pt x="61369" y="26871"/>
                  <a:pt x="56420" y="26871"/>
                </a:cubicBezTo>
                <a:cubicBezTo>
                  <a:pt x="42563" y="29856"/>
                  <a:pt x="27715" y="31847"/>
                  <a:pt x="13857" y="34832"/>
                </a:cubicBezTo>
                <a:cubicBezTo>
                  <a:pt x="8909" y="34832"/>
                  <a:pt x="6929" y="36824"/>
                  <a:pt x="6929" y="41800"/>
                </a:cubicBezTo>
                <a:cubicBezTo>
                  <a:pt x="6929" y="42795"/>
                  <a:pt x="5939" y="43790"/>
                  <a:pt x="5939" y="44785"/>
                </a:cubicBezTo>
                <a:cubicBezTo>
                  <a:pt x="5939" y="44785"/>
                  <a:pt x="4949" y="44785"/>
                  <a:pt x="4949" y="4478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5003800" y="838200"/>
            <a:ext cx="41427" cy="69417"/>
          </a:xfrm>
          <a:custGeom>
            <a:avLst/>
            <a:gdLst/>
            <a:ahLst/>
            <a:cxnLst/>
            <a:rect l="l" t="t" r="r" b="b"/>
            <a:pathLst>
              <a:path w="41427" h="69417">
                <a:moveTo>
                  <a:pt x="987" y="63467"/>
                </a:moveTo>
                <a:cubicBezTo>
                  <a:pt x="1972" y="63467"/>
                  <a:pt x="2959" y="63467"/>
                  <a:pt x="3946" y="63467"/>
                </a:cubicBezTo>
                <a:cubicBezTo>
                  <a:pt x="7891" y="62475"/>
                  <a:pt x="9864" y="61483"/>
                  <a:pt x="9864" y="56525"/>
                </a:cubicBezTo>
                <a:cubicBezTo>
                  <a:pt x="10850" y="51567"/>
                  <a:pt x="11836" y="46609"/>
                  <a:pt x="12823" y="40659"/>
                </a:cubicBezTo>
                <a:cubicBezTo>
                  <a:pt x="13809" y="31733"/>
                  <a:pt x="14796" y="22808"/>
                  <a:pt x="15782" y="13884"/>
                </a:cubicBezTo>
                <a:cubicBezTo>
                  <a:pt x="15782" y="12892"/>
                  <a:pt x="16768" y="11900"/>
                  <a:pt x="16768" y="9916"/>
                </a:cubicBezTo>
                <a:cubicBezTo>
                  <a:pt x="16768" y="4958"/>
                  <a:pt x="15782" y="3966"/>
                  <a:pt x="10850" y="1984"/>
                </a:cubicBezTo>
                <a:cubicBezTo>
                  <a:pt x="9864" y="992"/>
                  <a:pt x="9864" y="992"/>
                  <a:pt x="8877" y="0"/>
                </a:cubicBezTo>
                <a:cubicBezTo>
                  <a:pt x="19727" y="992"/>
                  <a:pt x="30577" y="1984"/>
                  <a:pt x="41427" y="3966"/>
                </a:cubicBezTo>
                <a:cubicBezTo>
                  <a:pt x="41427" y="4958"/>
                  <a:pt x="41427" y="4958"/>
                  <a:pt x="41427" y="4958"/>
                </a:cubicBezTo>
                <a:cubicBezTo>
                  <a:pt x="40441" y="4958"/>
                  <a:pt x="39454" y="5950"/>
                  <a:pt x="38468" y="5950"/>
                </a:cubicBezTo>
                <a:cubicBezTo>
                  <a:pt x="33536" y="5950"/>
                  <a:pt x="31563" y="6942"/>
                  <a:pt x="31563" y="12892"/>
                </a:cubicBezTo>
                <a:cubicBezTo>
                  <a:pt x="29591" y="23800"/>
                  <a:pt x="27617" y="35700"/>
                  <a:pt x="26632" y="46609"/>
                </a:cubicBezTo>
                <a:cubicBezTo>
                  <a:pt x="25645" y="50575"/>
                  <a:pt x="25645" y="54541"/>
                  <a:pt x="24658" y="57517"/>
                </a:cubicBezTo>
                <a:cubicBezTo>
                  <a:pt x="24658" y="63467"/>
                  <a:pt x="25645" y="65451"/>
                  <a:pt x="30577" y="67433"/>
                </a:cubicBezTo>
                <a:cubicBezTo>
                  <a:pt x="31563" y="67433"/>
                  <a:pt x="31563" y="68425"/>
                  <a:pt x="32550" y="68425"/>
                </a:cubicBezTo>
                <a:cubicBezTo>
                  <a:pt x="32550" y="68425"/>
                  <a:pt x="32550" y="68425"/>
                  <a:pt x="32550" y="69417"/>
                </a:cubicBezTo>
                <a:cubicBezTo>
                  <a:pt x="21700" y="68425"/>
                  <a:pt x="10850" y="67433"/>
                  <a:pt x="0" y="65451"/>
                </a:cubicBezTo>
                <a:cubicBezTo>
                  <a:pt x="987" y="64459"/>
                  <a:pt x="987" y="64459"/>
                  <a:pt x="987" y="6346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3" name="Freeform 53"/>
          <p:cNvSpPr/>
          <p:nvPr/>
        </p:nvSpPr>
        <p:spPr>
          <a:xfrm>
            <a:off x="4749800" y="1625600"/>
            <a:ext cx="51504" cy="67178"/>
          </a:xfrm>
          <a:custGeom>
            <a:avLst/>
            <a:gdLst/>
            <a:ahLst/>
            <a:cxnLst/>
            <a:rect l="l" t="t" r="r" b="b"/>
            <a:pathLst>
              <a:path w="51504" h="67178">
                <a:moveTo>
                  <a:pt x="991" y="51135"/>
                </a:moveTo>
                <a:cubicBezTo>
                  <a:pt x="1981" y="51135"/>
                  <a:pt x="3962" y="51135"/>
                  <a:pt x="4952" y="52139"/>
                </a:cubicBezTo>
                <a:cubicBezTo>
                  <a:pt x="9905" y="53141"/>
                  <a:pt x="12875" y="52139"/>
                  <a:pt x="15847" y="47125"/>
                </a:cubicBezTo>
                <a:cubicBezTo>
                  <a:pt x="20799" y="35093"/>
                  <a:pt x="26742" y="23061"/>
                  <a:pt x="31694" y="12032"/>
                </a:cubicBezTo>
                <a:cubicBezTo>
                  <a:pt x="32685" y="11029"/>
                  <a:pt x="32685" y="10027"/>
                  <a:pt x="32685" y="9023"/>
                </a:cubicBezTo>
                <a:cubicBezTo>
                  <a:pt x="33675" y="5013"/>
                  <a:pt x="32685" y="3007"/>
                  <a:pt x="28722" y="2005"/>
                </a:cubicBezTo>
                <a:cubicBezTo>
                  <a:pt x="27733" y="2005"/>
                  <a:pt x="25752" y="2005"/>
                  <a:pt x="22780" y="1002"/>
                </a:cubicBezTo>
                <a:cubicBezTo>
                  <a:pt x="26742" y="0"/>
                  <a:pt x="43580" y="0"/>
                  <a:pt x="51504" y="1002"/>
                </a:cubicBezTo>
                <a:cubicBezTo>
                  <a:pt x="51504" y="2005"/>
                  <a:pt x="51504" y="3007"/>
                  <a:pt x="50513" y="4011"/>
                </a:cubicBezTo>
                <a:cubicBezTo>
                  <a:pt x="43580" y="20053"/>
                  <a:pt x="36646" y="36096"/>
                  <a:pt x="28722" y="52139"/>
                </a:cubicBezTo>
                <a:cubicBezTo>
                  <a:pt x="25752" y="59157"/>
                  <a:pt x="25752" y="61162"/>
                  <a:pt x="32685" y="65173"/>
                </a:cubicBezTo>
                <a:cubicBezTo>
                  <a:pt x="32685" y="65173"/>
                  <a:pt x="33675" y="66176"/>
                  <a:pt x="33675" y="66176"/>
                </a:cubicBezTo>
                <a:cubicBezTo>
                  <a:pt x="33675" y="66176"/>
                  <a:pt x="33675" y="67178"/>
                  <a:pt x="33675" y="67178"/>
                </a:cubicBezTo>
                <a:cubicBezTo>
                  <a:pt x="33675" y="67178"/>
                  <a:pt x="32685" y="67178"/>
                  <a:pt x="32685" y="67178"/>
                </a:cubicBezTo>
                <a:cubicBezTo>
                  <a:pt x="22780" y="62165"/>
                  <a:pt x="12875" y="58155"/>
                  <a:pt x="1981" y="53141"/>
                </a:cubicBezTo>
                <a:cubicBezTo>
                  <a:pt x="991" y="53141"/>
                  <a:pt x="991" y="52139"/>
                  <a:pt x="0" y="52139"/>
                </a:cubicBezTo>
                <a:cubicBezTo>
                  <a:pt x="991" y="51135"/>
                  <a:pt x="991" y="51135"/>
                  <a:pt x="991" y="5113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4" name="Freeform 54"/>
          <p:cNvSpPr/>
          <p:nvPr/>
        </p:nvSpPr>
        <p:spPr>
          <a:xfrm>
            <a:off x="4622800" y="952500"/>
            <a:ext cx="649390" cy="648270"/>
          </a:xfrm>
          <a:custGeom>
            <a:avLst/>
            <a:gdLst/>
            <a:ahLst/>
            <a:cxnLst/>
            <a:rect l="l" t="t" r="r" b="b"/>
            <a:pathLst>
              <a:path w="649390" h="648270">
                <a:moveTo>
                  <a:pt x="649390" y="324134"/>
                </a:moveTo>
                <a:cubicBezTo>
                  <a:pt x="649390" y="502111"/>
                  <a:pt x="503974" y="648270"/>
                  <a:pt x="324695" y="648270"/>
                </a:cubicBezTo>
                <a:cubicBezTo>
                  <a:pt x="146412" y="648270"/>
                  <a:pt x="0" y="504100"/>
                  <a:pt x="0" y="324134"/>
                </a:cubicBezTo>
                <a:cubicBezTo>
                  <a:pt x="0" y="145165"/>
                  <a:pt x="145415" y="0"/>
                  <a:pt x="324695" y="0"/>
                </a:cubicBezTo>
                <a:cubicBezTo>
                  <a:pt x="503974" y="0"/>
                  <a:pt x="649390" y="146159"/>
                  <a:pt x="649390" y="324134"/>
                </a:cubicBezTo>
                <a:close/>
                <a:moveTo>
                  <a:pt x="298799" y="365895"/>
                </a:moveTo>
                <a:cubicBezTo>
                  <a:pt x="298799" y="367883"/>
                  <a:pt x="298799" y="368878"/>
                  <a:pt x="298799" y="370867"/>
                </a:cubicBezTo>
                <a:cubicBezTo>
                  <a:pt x="298799" y="382797"/>
                  <a:pt x="298799" y="393734"/>
                  <a:pt x="298799" y="405666"/>
                </a:cubicBezTo>
                <a:cubicBezTo>
                  <a:pt x="298799" y="406660"/>
                  <a:pt x="298799" y="407655"/>
                  <a:pt x="298799" y="408649"/>
                </a:cubicBezTo>
                <a:cubicBezTo>
                  <a:pt x="298799" y="414614"/>
                  <a:pt x="295811" y="419586"/>
                  <a:pt x="290831" y="422568"/>
                </a:cubicBezTo>
                <a:cubicBezTo>
                  <a:pt x="288839" y="423563"/>
                  <a:pt x="286847" y="425552"/>
                  <a:pt x="283859" y="426546"/>
                </a:cubicBezTo>
                <a:cubicBezTo>
                  <a:pt x="265932" y="438478"/>
                  <a:pt x="250991" y="454386"/>
                  <a:pt x="238044" y="472283"/>
                </a:cubicBezTo>
                <a:cubicBezTo>
                  <a:pt x="224099" y="493163"/>
                  <a:pt x="215135" y="517025"/>
                  <a:pt x="209159" y="540888"/>
                </a:cubicBezTo>
                <a:cubicBezTo>
                  <a:pt x="208163" y="545859"/>
                  <a:pt x="207167" y="549836"/>
                  <a:pt x="207167" y="554808"/>
                </a:cubicBezTo>
                <a:cubicBezTo>
                  <a:pt x="206172" y="567733"/>
                  <a:pt x="214140" y="577676"/>
                  <a:pt x="227087" y="579665"/>
                </a:cubicBezTo>
                <a:cubicBezTo>
                  <a:pt x="238044" y="581654"/>
                  <a:pt x="250991" y="577676"/>
                  <a:pt x="254975" y="562762"/>
                </a:cubicBezTo>
                <a:cubicBezTo>
                  <a:pt x="254975" y="561768"/>
                  <a:pt x="255971" y="559779"/>
                  <a:pt x="255971" y="558785"/>
                </a:cubicBezTo>
                <a:cubicBezTo>
                  <a:pt x="258959" y="551825"/>
                  <a:pt x="260951" y="543871"/>
                  <a:pt x="262943" y="536910"/>
                </a:cubicBezTo>
                <a:cubicBezTo>
                  <a:pt x="268919" y="520008"/>
                  <a:pt x="276887" y="505094"/>
                  <a:pt x="287843" y="490179"/>
                </a:cubicBezTo>
                <a:cubicBezTo>
                  <a:pt x="293820" y="482225"/>
                  <a:pt x="301788" y="475266"/>
                  <a:pt x="310751" y="470294"/>
                </a:cubicBezTo>
                <a:cubicBezTo>
                  <a:pt x="319715" y="465323"/>
                  <a:pt x="328679" y="465323"/>
                  <a:pt x="337643" y="470294"/>
                </a:cubicBezTo>
                <a:cubicBezTo>
                  <a:pt x="339635" y="471288"/>
                  <a:pt x="342623" y="472283"/>
                  <a:pt x="344614" y="474271"/>
                </a:cubicBezTo>
                <a:cubicBezTo>
                  <a:pt x="353579" y="480237"/>
                  <a:pt x="360550" y="488191"/>
                  <a:pt x="366527" y="497139"/>
                </a:cubicBezTo>
                <a:cubicBezTo>
                  <a:pt x="376486" y="513048"/>
                  <a:pt x="383459" y="529951"/>
                  <a:pt x="388438" y="546853"/>
                </a:cubicBezTo>
                <a:cubicBezTo>
                  <a:pt x="390431" y="552820"/>
                  <a:pt x="392422" y="559779"/>
                  <a:pt x="394415" y="565744"/>
                </a:cubicBezTo>
                <a:cubicBezTo>
                  <a:pt x="397403" y="572705"/>
                  <a:pt x="401387" y="576682"/>
                  <a:pt x="408358" y="578670"/>
                </a:cubicBezTo>
                <a:cubicBezTo>
                  <a:pt x="423299" y="584636"/>
                  <a:pt x="444214" y="573700"/>
                  <a:pt x="441227" y="551825"/>
                </a:cubicBezTo>
                <a:cubicBezTo>
                  <a:pt x="440230" y="544866"/>
                  <a:pt x="438239" y="538899"/>
                  <a:pt x="437243" y="532934"/>
                </a:cubicBezTo>
                <a:cubicBezTo>
                  <a:pt x="431267" y="512054"/>
                  <a:pt x="424294" y="493163"/>
                  <a:pt x="412342" y="475266"/>
                </a:cubicBezTo>
                <a:cubicBezTo>
                  <a:pt x="398399" y="453391"/>
                  <a:pt x="380470" y="436489"/>
                  <a:pt x="358559" y="422568"/>
                </a:cubicBezTo>
                <a:cubicBezTo>
                  <a:pt x="352582" y="419586"/>
                  <a:pt x="349595" y="414614"/>
                  <a:pt x="349595" y="407655"/>
                </a:cubicBezTo>
                <a:cubicBezTo>
                  <a:pt x="349595" y="394729"/>
                  <a:pt x="349595" y="382797"/>
                  <a:pt x="349595" y="369872"/>
                </a:cubicBezTo>
                <a:cubicBezTo>
                  <a:pt x="349595" y="368878"/>
                  <a:pt x="349595" y="367883"/>
                  <a:pt x="350591" y="365895"/>
                </a:cubicBezTo>
                <a:cubicBezTo>
                  <a:pt x="352582" y="365895"/>
                  <a:pt x="353579" y="366889"/>
                  <a:pt x="355571" y="366889"/>
                </a:cubicBezTo>
                <a:cubicBezTo>
                  <a:pt x="374495" y="373849"/>
                  <a:pt x="390431" y="383791"/>
                  <a:pt x="404374" y="397712"/>
                </a:cubicBezTo>
                <a:cubicBezTo>
                  <a:pt x="423299" y="414614"/>
                  <a:pt x="437243" y="434500"/>
                  <a:pt x="451187" y="456374"/>
                </a:cubicBezTo>
                <a:cubicBezTo>
                  <a:pt x="460150" y="472283"/>
                  <a:pt x="469115" y="489185"/>
                  <a:pt x="477083" y="506089"/>
                </a:cubicBezTo>
                <a:cubicBezTo>
                  <a:pt x="479074" y="511059"/>
                  <a:pt x="482063" y="515037"/>
                  <a:pt x="487042" y="519013"/>
                </a:cubicBezTo>
                <a:cubicBezTo>
                  <a:pt x="492022" y="522991"/>
                  <a:pt x="498994" y="525973"/>
                  <a:pt x="505967" y="523985"/>
                </a:cubicBezTo>
                <a:cubicBezTo>
                  <a:pt x="515926" y="521002"/>
                  <a:pt x="521903" y="515037"/>
                  <a:pt x="523894" y="505094"/>
                </a:cubicBezTo>
                <a:cubicBezTo>
                  <a:pt x="525887" y="497139"/>
                  <a:pt x="524891" y="490179"/>
                  <a:pt x="521903" y="483220"/>
                </a:cubicBezTo>
                <a:cubicBezTo>
                  <a:pt x="517919" y="474271"/>
                  <a:pt x="513935" y="466317"/>
                  <a:pt x="509951" y="457369"/>
                </a:cubicBezTo>
                <a:cubicBezTo>
                  <a:pt x="496006" y="426546"/>
                  <a:pt x="478079" y="397712"/>
                  <a:pt x="454175" y="372854"/>
                </a:cubicBezTo>
                <a:cubicBezTo>
                  <a:pt x="430271" y="348992"/>
                  <a:pt x="403379" y="331095"/>
                  <a:pt x="371507" y="320158"/>
                </a:cubicBezTo>
                <a:cubicBezTo>
                  <a:pt x="364534" y="318169"/>
                  <a:pt x="357563" y="316180"/>
                  <a:pt x="349595" y="314192"/>
                </a:cubicBezTo>
                <a:cubicBezTo>
                  <a:pt x="349595" y="310215"/>
                  <a:pt x="349595" y="306238"/>
                  <a:pt x="349595" y="302261"/>
                </a:cubicBezTo>
                <a:cubicBezTo>
                  <a:pt x="348598" y="296295"/>
                  <a:pt x="347603" y="289335"/>
                  <a:pt x="343619" y="284364"/>
                </a:cubicBezTo>
                <a:cubicBezTo>
                  <a:pt x="333659" y="269450"/>
                  <a:pt x="314735" y="269450"/>
                  <a:pt x="304775" y="284364"/>
                </a:cubicBezTo>
                <a:cubicBezTo>
                  <a:pt x="300791" y="290330"/>
                  <a:pt x="299795" y="297289"/>
                  <a:pt x="299795" y="303256"/>
                </a:cubicBezTo>
                <a:cubicBezTo>
                  <a:pt x="298799" y="307232"/>
                  <a:pt x="298799" y="310215"/>
                  <a:pt x="298799" y="314192"/>
                </a:cubicBezTo>
                <a:cubicBezTo>
                  <a:pt x="297804" y="315186"/>
                  <a:pt x="296807" y="315186"/>
                  <a:pt x="294815" y="315186"/>
                </a:cubicBezTo>
                <a:cubicBezTo>
                  <a:pt x="262943" y="323141"/>
                  <a:pt x="234060" y="337061"/>
                  <a:pt x="209159" y="358935"/>
                </a:cubicBezTo>
                <a:cubicBezTo>
                  <a:pt x="190236" y="375837"/>
                  <a:pt x="174300" y="395723"/>
                  <a:pt x="160355" y="417598"/>
                </a:cubicBezTo>
                <a:cubicBezTo>
                  <a:pt x="147408" y="437483"/>
                  <a:pt x="137447" y="459356"/>
                  <a:pt x="127488" y="480237"/>
                </a:cubicBezTo>
                <a:cubicBezTo>
                  <a:pt x="125495" y="487197"/>
                  <a:pt x="123504" y="494157"/>
                  <a:pt x="124499" y="501117"/>
                </a:cubicBezTo>
                <a:cubicBezTo>
                  <a:pt x="125495" y="512054"/>
                  <a:pt x="129479" y="519013"/>
                  <a:pt x="139440" y="522991"/>
                </a:cubicBezTo>
                <a:cubicBezTo>
                  <a:pt x="149399" y="526967"/>
                  <a:pt x="158364" y="522991"/>
                  <a:pt x="164339" y="516031"/>
                </a:cubicBezTo>
                <a:cubicBezTo>
                  <a:pt x="167328" y="513048"/>
                  <a:pt x="169319" y="509071"/>
                  <a:pt x="171312" y="506089"/>
                </a:cubicBezTo>
                <a:cubicBezTo>
                  <a:pt x="180275" y="490179"/>
                  <a:pt x="188243" y="473277"/>
                  <a:pt x="197207" y="458362"/>
                </a:cubicBezTo>
                <a:cubicBezTo>
                  <a:pt x="210156" y="435494"/>
                  <a:pt x="226092" y="414614"/>
                  <a:pt x="245015" y="396718"/>
                </a:cubicBezTo>
                <a:cubicBezTo>
                  <a:pt x="258959" y="383791"/>
                  <a:pt x="274895" y="373849"/>
                  <a:pt x="292823" y="367883"/>
                </a:cubicBezTo>
                <a:cubicBezTo>
                  <a:pt x="294815" y="366889"/>
                  <a:pt x="296807" y="365895"/>
                  <a:pt x="298799" y="365895"/>
                </a:cubicBezTo>
                <a:close/>
                <a:moveTo>
                  <a:pt x="251987" y="111359"/>
                </a:moveTo>
                <a:cubicBezTo>
                  <a:pt x="250991" y="112353"/>
                  <a:pt x="248999" y="112353"/>
                  <a:pt x="248003" y="113348"/>
                </a:cubicBezTo>
                <a:cubicBezTo>
                  <a:pt x="239039" y="116331"/>
                  <a:pt x="230076" y="118320"/>
                  <a:pt x="221111" y="121302"/>
                </a:cubicBezTo>
                <a:cubicBezTo>
                  <a:pt x="186252" y="133233"/>
                  <a:pt x="153383" y="148148"/>
                  <a:pt x="122508" y="168034"/>
                </a:cubicBezTo>
                <a:cubicBezTo>
                  <a:pt x="109559" y="176982"/>
                  <a:pt x="96611" y="186925"/>
                  <a:pt x="84659" y="198855"/>
                </a:cubicBezTo>
                <a:cubicBezTo>
                  <a:pt x="80675" y="202833"/>
                  <a:pt x="76691" y="206811"/>
                  <a:pt x="74700" y="212776"/>
                </a:cubicBezTo>
                <a:cubicBezTo>
                  <a:pt x="70716" y="223713"/>
                  <a:pt x="75696" y="235645"/>
                  <a:pt x="86652" y="239621"/>
                </a:cubicBezTo>
                <a:cubicBezTo>
                  <a:pt x="93623" y="242604"/>
                  <a:pt x="100595" y="242604"/>
                  <a:pt x="107568" y="240615"/>
                </a:cubicBezTo>
                <a:cubicBezTo>
                  <a:pt x="113543" y="238627"/>
                  <a:pt x="117527" y="235645"/>
                  <a:pt x="122508" y="232661"/>
                </a:cubicBezTo>
                <a:cubicBezTo>
                  <a:pt x="133463" y="224707"/>
                  <a:pt x="145415" y="215759"/>
                  <a:pt x="157367" y="208798"/>
                </a:cubicBezTo>
                <a:cubicBezTo>
                  <a:pt x="185255" y="189907"/>
                  <a:pt x="215135" y="174993"/>
                  <a:pt x="248003" y="164056"/>
                </a:cubicBezTo>
                <a:cubicBezTo>
                  <a:pt x="248999" y="164056"/>
                  <a:pt x="250991" y="163062"/>
                  <a:pt x="251987" y="163062"/>
                </a:cubicBezTo>
                <a:cubicBezTo>
                  <a:pt x="251987" y="181953"/>
                  <a:pt x="251987" y="200844"/>
                  <a:pt x="251987" y="218741"/>
                </a:cubicBezTo>
                <a:cubicBezTo>
                  <a:pt x="250991" y="219735"/>
                  <a:pt x="249996" y="219735"/>
                  <a:pt x="248999" y="220730"/>
                </a:cubicBezTo>
                <a:cubicBezTo>
                  <a:pt x="184259" y="245588"/>
                  <a:pt x="130476" y="286352"/>
                  <a:pt x="89639" y="343026"/>
                </a:cubicBezTo>
                <a:cubicBezTo>
                  <a:pt x="80675" y="354957"/>
                  <a:pt x="72708" y="367883"/>
                  <a:pt x="64740" y="380810"/>
                </a:cubicBezTo>
                <a:cubicBezTo>
                  <a:pt x="61751" y="384786"/>
                  <a:pt x="59760" y="388764"/>
                  <a:pt x="59760" y="392740"/>
                </a:cubicBezTo>
                <a:cubicBezTo>
                  <a:pt x="59760" y="405666"/>
                  <a:pt x="67728" y="416603"/>
                  <a:pt x="79680" y="419586"/>
                </a:cubicBezTo>
                <a:cubicBezTo>
                  <a:pt x="89639" y="422568"/>
                  <a:pt x="97607" y="419586"/>
                  <a:pt x="103584" y="410637"/>
                </a:cubicBezTo>
                <a:cubicBezTo>
                  <a:pt x="106572" y="406660"/>
                  <a:pt x="109559" y="401688"/>
                  <a:pt x="112547" y="397712"/>
                </a:cubicBezTo>
                <a:cubicBezTo>
                  <a:pt x="126492" y="377826"/>
                  <a:pt x="142428" y="358935"/>
                  <a:pt x="159360" y="341038"/>
                </a:cubicBezTo>
                <a:cubicBezTo>
                  <a:pt x="176291" y="323141"/>
                  <a:pt x="194220" y="307232"/>
                  <a:pt x="214140" y="294307"/>
                </a:cubicBezTo>
                <a:cubicBezTo>
                  <a:pt x="236051" y="280387"/>
                  <a:pt x="259955" y="269450"/>
                  <a:pt x="284855" y="262490"/>
                </a:cubicBezTo>
                <a:cubicBezTo>
                  <a:pt x="298799" y="258512"/>
                  <a:pt x="302783" y="251553"/>
                  <a:pt x="302783" y="238627"/>
                </a:cubicBezTo>
                <a:cubicBezTo>
                  <a:pt x="302783" y="187919"/>
                  <a:pt x="302783" y="137211"/>
                  <a:pt x="302783" y="87497"/>
                </a:cubicBezTo>
                <a:cubicBezTo>
                  <a:pt x="302783" y="83519"/>
                  <a:pt x="302783" y="80537"/>
                  <a:pt x="301788" y="77554"/>
                </a:cubicBezTo>
                <a:cubicBezTo>
                  <a:pt x="301788" y="73576"/>
                  <a:pt x="300791" y="68605"/>
                  <a:pt x="297804" y="64628"/>
                </a:cubicBezTo>
                <a:cubicBezTo>
                  <a:pt x="291827" y="54685"/>
                  <a:pt x="278879" y="50709"/>
                  <a:pt x="267923" y="55679"/>
                </a:cubicBezTo>
                <a:cubicBezTo>
                  <a:pt x="259955" y="60651"/>
                  <a:pt x="254975" y="67611"/>
                  <a:pt x="252983" y="76559"/>
                </a:cubicBezTo>
                <a:cubicBezTo>
                  <a:pt x="252983" y="80537"/>
                  <a:pt x="252983" y="84513"/>
                  <a:pt x="251987" y="89485"/>
                </a:cubicBezTo>
                <a:cubicBezTo>
                  <a:pt x="251987" y="96445"/>
                  <a:pt x="251987" y="104399"/>
                  <a:pt x="251987" y="111359"/>
                </a:cubicBezTo>
                <a:close/>
                <a:moveTo>
                  <a:pt x="396406" y="111359"/>
                </a:moveTo>
                <a:cubicBezTo>
                  <a:pt x="396406" y="109371"/>
                  <a:pt x="396406" y="107382"/>
                  <a:pt x="396406" y="105393"/>
                </a:cubicBezTo>
                <a:cubicBezTo>
                  <a:pt x="396406" y="97439"/>
                  <a:pt x="396406" y="89485"/>
                  <a:pt x="396406" y="81531"/>
                </a:cubicBezTo>
                <a:cubicBezTo>
                  <a:pt x="395411" y="75565"/>
                  <a:pt x="394415" y="69600"/>
                  <a:pt x="390431" y="64628"/>
                </a:cubicBezTo>
                <a:cubicBezTo>
                  <a:pt x="384454" y="56674"/>
                  <a:pt x="376486" y="52697"/>
                  <a:pt x="366527" y="53691"/>
                </a:cubicBezTo>
                <a:cubicBezTo>
                  <a:pt x="356566" y="55679"/>
                  <a:pt x="350591" y="61646"/>
                  <a:pt x="347603" y="70594"/>
                </a:cubicBezTo>
                <a:cubicBezTo>
                  <a:pt x="346607" y="74571"/>
                  <a:pt x="345611" y="79543"/>
                  <a:pt x="345611" y="84513"/>
                </a:cubicBezTo>
                <a:cubicBezTo>
                  <a:pt x="345611" y="136216"/>
                  <a:pt x="345611" y="187919"/>
                  <a:pt x="345611" y="240615"/>
                </a:cubicBezTo>
                <a:cubicBezTo>
                  <a:pt x="345611" y="240615"/>
                  <a:pt x="345611" y="241610"/>
                  <a:pt x="345611" y="241610"/>
                </a:cubicBezTo>
                <a:cubicBezTo>
                  <a:pt x="345611" y="249564"/>
                  <a:pt x="349595" y="255530"/>
                  <a:pt x="356566" y="258512"/>
                </a:cubicBezTo>
                <a:cubicBezTo>
                  <a:pt x="359555" y="260501"/>
                  <a:pt x="363539" y="261496"/>
                  <a:pt x="367523" y="262490"/>
                </a:cubicBezTo>
                <a:cubicBezTo>
                  <a:pt x="385451" y="268455"/>
                  <a:pt x="403379" y="275415"/>
                  <a:pt x="419315" y="284364"/>
                </a:cubicBezTo>
                <a:cubicBezTo>
                  <a:pt x="447203" y="299278"/>
                  <a:pt x="471106" y="319164"/>
                  <a:pt x="491026" y="342033"/>
                </a:cubicBezTo>
                <a:cubicBezTo>
                  <a:pt x="510946" y="362911"/>
                  <a:pt x="527878" y="385780"/>
                  <a:pt x="543814" y="409644"/>
                </a:cubicBezTo>
                <a:cubicBezTo>
                  <a:pt x="544811" y="410637"/>
                  <a:pt x="545807" y="412626"/>
                  <a:pt x="546802" y="413620"/>
                </a:cubicBezTo>
                <a:cubicBezTo>
                  <a:pt x="550786" y="418592"/>
                  <a:pt x="555766" y="420580"/>
                  <a:pt x="561743" y="420580"/>
                </a:cubicBezTo>
                <a:cubicBezTo>
                  <a:pt x="581663" y="420580"/>
                  <a:pt x="595606" y="399701"/>
                  <a:pt x="584650" y="381803"/>
                </a:cubicBezTo>
                <a:cubicBezTo>
                  <a:pt x="578674" y="371860"/>
                  <a:pt x="573695" y="362911"/>
                  <a:pt x="566722" y="352969"/>
                </a:cubicBezTo>
                <a:cubicBezTo>
                  <a:pt x="525887" y="294307"/>
                  <a:pt x="472102" y="249564"/>
                  <a:pt x="405371" y="222719"/>
                </a:cubicBezTo>
                <a:cubicBezTo>
                  <a:pt x="402383" y="221724"/>
                  <a:pt x="399395" y="220730"/>
                  <a:pt x="396406" y="218741"/>
                </a:cubicBezTo>
                <a:cubicBezTo>
                  <a:pt x="396406" y="199850"/>
                  <a:pt x="396406" y="181953"/>
                  <a:pt x="396406" y="163062"/>
                </a:cubicBezTo>
                <a:cubicBezTo>
                  <a:pt x="397403" y="163062"/>
                  <a:pt x="397403" y="163062"/>
                  <a:pt x="397403" y="163062"/>
                </a:cubicBezTo>
                <a:cubicBezTo>
                  <a:pt x="399395" y="164056"/>
                  <a:pt x="400390" y="164056"/>
                  <a:pt x="401387" y="164056"/>
                </a:cubicBezTo>
                <a:cubicBezTo>
                  <a:pt x="437243" y="175988"/>
                  <a:pt x="471106" y="193885"/>
                  <a:pt x="501983" y="215759"/>
                </a:cubicBezTo>
                <a:cubicBezTo>
                  <a:pt x="510946" y="221724"/>
                  <a:pt x="519910" y="228684"/>
                  <a:pt x="529871" y="234650"/>
                </a:cubicBezTo>
                <a:cubicBezTo>
                  <a:pt x="536843" y="240615"/>
                  <a:pt x="544811" y="242604"/>
                  <a:pt x="553775" y="241610"/>
                </a:cubicBezTo>
                <a:cubicBezTo>
                  <a:pt x="570706" y="240615"/>
                  <a:pt x="579670" y="224707"/>
                  <a:pt x="572698" y="209793"/>
                </a:cubicBezTo>
                <a:cubicBezTo>
                  <a:pt x="569711" y="204822"/>
                  <a:pt x="566722" y="200844"/>
                  <a:pt x="563734" y="197861"/>
                </a:cubicBezTo>
                <a:cubicBezTo>
                  <a:pt x="546802" y="180958"/>
                  <a:pt x="526882" y="168034"/>
                  <a:pt x="506962" y="156102"/>
                </a:cubicBezTo>
                <a:cubicBezTo>
                  <a:pt x="478079" y="140193"/>
                  <a:pt x="448198" y="128262"/>
                  <a:pt x="416326" y="118320"/>
                </a:cubicBezTo>
                <a:cubicBezTo>
                  <a:pt x="410351" y="115336"/>
                  <a:pt x="403379" y="113348"/>
                  <a:pt x="396406" y="11135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5" name="AutoShape 55"/>
          <p:cNvSpPr/>
          <p:nvPr/>
        </p:nvSpPr>
        <p:spPr>
          <a:xfrm>
            <a:off x="1524000" y="5588000"/>
            <a:ext cx="2794000" cy="4445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0000"/>
              </a:lnSpc>
              <a:defRPr/>
            </a:pPr>
            <a:r>
              <a:rPr lang="en-US" sz="1600" b="1"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答辩人：</a:t>
            </a:r>
            <a:endParaRPr lang="en-US" sz="1100"/>
          </a:p>
        </p:txBody>
      </p:sp>
      <p:sp>
        <p:nvSpPr>
          <p:cNvPr id="56" name="AutoShape 56"/>
          <p:cNvSpPr/>
          <p:nvPr/>
        </p:nvSpPr>
        <p:spPr>
          <a:xfrm>
            <a:off x="4191000" y="5588000"/>
            <a:ext cx="3048000" cy="4445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defRPr/>
            </a:pPr>
            <a:r>
              <a:rPr lang="en-US" sz="1600" b="1"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指导教师：</a:t>
            </a:r>
            <a:endParaRPr lang="en-US" sz="1100"/>
          </a:p>
        </p:txBody>
      </p:sp>
      <p:sp>
        <p:nvSpPr>
          <p:cNvPr id="57" name="AutoShape 57"/>
          <p:cNvSpPr/>
          <p:nvPr/>
        </p:nvSpPr>
        <p:spPr>
          <a:xfrm>
            <a:off x="7493000" y="5588000"/>
            <a:ext cx="2794000" cy="444500"/>
          </a:xfrm>
          <a:prstGeom prst="rect">
            <a:avLst/>
          </a:prstGeom>
          <a:noFill/>
          <a:ln w="12700" cap="flat" cmpd="sng">
            <a:noFill/>
            <a:prstDash val="solid"/>
            <a:round/>
          </a:ln>
        </p:spPr>
        <p:txBody>
          <a:bodyPr vert="horz" wrap="square" lIns="88900" tIns="50800" rIns="88900" bIns="50800" rtlCol="0" anchor="ctr" anchorCtr="0"/>
          <a:lstStyle/>
          <a:p>
            <a:pPr indent="0" algn="r">
              <a:lnSpc>
                <a:spcPct val="100000"/>
              </a:lnSpc>
              <a:defRPr/>
            </a:pPr>
            <a:r>
              <a:rPr lang="zh-CN" altLang="en-US" sz="1600" b="0"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软件与微电子学院</a:t>
            </a:r>
            <a:endParaRPr lang="en-US" sz="1100"/>
          </a:p>
        </p:txBody>
      </p:sp>
      <p:sp>
        <p:nvSpPr>
          <p:cNvPr id="58" name="AutoShape 58"/>
          <p:cNvSpPr/>
          <p:nvPr/>
        </p:nvSpPr>
        <p:spPr>
          <a:xfrm>
            <a:off x="5765800" y="4864100"/>
            <a:ext cx="660400" cy="50800"/>
          </a:xfrm>
          <a:prstGeom prst="roundRect">
            <a:avLst>
              <a:gd name="adj" fmla="val 0"/>
            </a:avLst>
          </a:prstGeom>
          <a:solidFill>
            <a:srgbClr val="9A0001">
              <a:alpha val="100000"/>
            </a:srgbClr>
          </a:solidFill>
          <a:ln w="12700" cap="flat" cmpd="sng">
            <a:solidFill>
              <a:srgbClr val="9A0001">
                <a:alpha val="100000"/>
              </a:srgbClr>
            </a:solidFill>
            <a:prstDash val="solid"/>
            <a:miter lim="10000000"/>
          </a:ln>
        </p:spPr>
        <p:txBody>
          <a:bodyPr vert="horz" wrap="square" lIns="63500" tIns="63500" rIns="63500" bIns="63500" rtlCol="0" anchor="ctr"/>
          <a:lstStyle/>
          <a:p>
            <a:pPr algn="ctr">
              <a:defRPr/>
            </a:pPr>
          </a:p>
        </p:txBody>
      </p:sp>
      <p:sp>
        <p:nvSpPr>
          <p:cNvPr id="59" name="AutoShape 59"/>
          <p:cNvSpPr/>
          <p:nvPr/>
        </p:nvSpPr>
        <p:spPr>
          <a:xfrm>
            <a:off x="1447800" y="2667000"/>
            <a:ext cx="9347200" cy="889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ctr">
              <a:lnSpc>
                <a:spcPct val="100000"/>
              </a:lnSpc>
              <a:defRPr/>
            </a:pPr>
            <a:r>
              <a:rPr lang="en-US" sz="3200" b="1" i="0" u="none" strike="noStrike" spc="200">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感谢各位老师批评与指导</a:t>
            </a:r>
            <a:endParaRPr lang="en-US" sz="1100"/>
          </a:p>
        </p:txBody>
      </p:sp>
      <p:sp>
        <p:nvSpPr>
          <p:cNvPr id="60" name="AutoShape 60"/>
          <p:cNvSpPr/>
          <p:nvPr/>
        </p:nvSpPr>
        <p:spPr>
          <a:xfrm flipV="1">
            <a:off x="0" y="6807200"/>
            <a:ext cx="12192000" cy="63500"/>
          </a:xfrm>
          <a:prstGeom prst="roundRect">
            <a:avLst>
              <a:gd name="adj" fmla="val 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6029</Words>
  <Application>WPS 演示</Application>
  <PresentationFormat/>
  <Paragraphs>346</Paragraphs>
  <Slides>18</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18</vt:i4>
      </vt:variant>
    </vt:vector>
  </HeadingPairs>
  <TitlesOfParts>
    <vt:vector size="28" baseType="lpstr">
      <vt:lpstr>Arial</vt:lpstr>
      <vt:lpstr>宋体</vt:lpstr>
      <vt:lpstr>Wingdings</vt:lpstr>
      <vt:lpstr>Arial</vt:lpstr>
      <vt:lpstr>Noto Sans SC</vt:lpstr>
      <vt:lpstr>微软雅黑</vt:lpstr>
      <vt:lpstr>等线</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青槐</cp:lastModifiedBy>
  <cp:revision>2</cp:revision>
  <dcterms:created xsi:type="dcterms:W3CDTF">2026-05-11T15:10:36Z</dcterms:created>
  <dcterms:modified xsi:type="dcterms:W3CDTF">2026-05-11T15:13:22Z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A086FD9ED4EA437F9A1442424374C555_12</vt:lpwstr>
  </property>
  <property fmtid="{D5CDD505-2E9C-101B-9397-08002B2CF9AE}" pid="3" name="KSOProductBuildVer">
    <vt:lpwstr>2052-12.1.0.25865</vt:lpwstr>
  </property>
</Properties>
</file>